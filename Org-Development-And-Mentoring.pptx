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جمله شروع: «امروز دو کار می‌کنیم. اول می‌فهمیم سازمان ما کجای تاریخ</a:t>
            </a:r>
          </a:p>
          <a:p>
            <a:pPr rtl="1" algn="r"/>
            <a:r>
              <a:rPr sz="1300">
                <a:latin typeface="IRANSans"/>
              </a:rPr>
              <a:t>ایستاده، بعد یک ابزار مشخص برای حرکت به جلو تمرین می‌کنیم.»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تأکید کنید که بخش دوم عملی است، نه سخنرانی.</a:t>
            </a:r>
          </a:p>
          <a:p>
            <a:pPr rtl="1" algn="r"/>
            <a:r>
              <a:rPr sz="1300">
                <a:latin typeface="IRANSans"/>
              </a:rPr>
              <a:t>درخواست «یک چالش واقعی در ذهن نگه دارید» را همین‌جا مطرح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سه ثانیه سکوت، بعد اسلاید بعد.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جمله از «ریوانز» است: وقتی نرخ یادگیری از نرخ تغییر کمتر شود، سازمان</a:t>
            </a:r>
          </a:p>
          <a:p>
            <a:pPr rtl="1" algn="r"/>
            <a:r>
              <a:rPr sz="1300">
                <a:latin typeface="IRANSans"/>
              </a:rPr>
              <a:t>رو به زوال می‌رود. یک مثال واقعی از صنعت خودمان بزنید.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تافلر در کتاب «موج سوم» (۱۹۸۰) این چارچوب را معرفی کرد.</a:t>
            </a:r>
          </a:p>
          <a:p>
            <a:pPr rtl="1" algn="r"/>
            <a:r>
              <a:rPr sz="1300">
                <a:latin typeface="IRANSans"/>
              </a:rPr>
              <a:t>تأکید: موج دوم بد نیست — برای زمان خودش درست بود. مسئله، ماندن در آن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ستون فقرات بخش اول است — روی آن وقت بگذارید.</a:t>
            </a:r>
          </a:p>
          <a:p>
            <a:pPr rtl="1" algn="r"/>
            <a:r>
              <a:rPr sz="1300">
                <a:latin typeface="IRANSans"/>
              </a:rPr>
              <a:t>پیام: ستون آبی (موج دوم) هنوز شیوه غالب مدیریت در سازمان‌های ماست،</a:t>
            </a:r>
          </a:p>
          <a:p>
            <a:pPr rtl="1" algn="r"/>
            <a:r>
              <a:rPr sz="1300">
                <a:latin typeface="IRANSans"/>
              </a:rPr>
              <a:t>در حالی که محیط کسب‌وکار وارد ستون نارنجی شده است.</a:t>
            </a:r>
          </a:p>
          <a:p>
            <a:pPr rtl="1" algn="r"/>
            <a:r>
              <a:rPr sz="1300">
                <a:latin typeface="IRANSans"/>
              </a:rPr>
              <a:t>از مخاطب بپرسید: «کدام ردیف‌ها را در سازمان خودمان می‌بینید؟»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موج چهارم همان «انقلاب صنعتی چهارم» یا Industry 4.0 است (از ۲۰۱۱).</a:t>
            </a:r>
          </a:p>
          <a:p>
            <a:pPr rtl="1" algn="r"/>
            <a:r>
              <a:rPr sz="1300">
                <a:latin typeface="IRANSans"/>
              </a:rPr>
              <a:t>نکته کلیدی برای مدیران: خرید نرم‌افزار و سنسور، به‌تنهایی گذار نیست.</a:t>
            </a:r>
          </a:p>
          <a:p>
            <a:pPr rtl="1" algn="r"/>
            <a:r>
              <a:rPr sz="1300">
                <a:latin typeface="IRANSans"/>
              </a:rPr>
              <a:t>اگر تصمیم‌گیری همچنان متمرکز و سلسله‌مراتبی بماند، داده فقط انبار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موج پنجم (Industry 5.0) را کمیسیون اروپا در ۲۰۲۱ رسمی کرد:</a:t>
            </a:r>
          </a:p>
          <a:p>
            <a:pPr rtl="1" algn="r"/>
            <a:r>
              <a:rPr sz="1300">
                <a:latin typeface="IRANSans"/>
              </a:rPr>
              <a:t>صنعتِ انسان‌محور، تاب‌آور و پایدار.</a:t>
            </a:r>
          </a:p>
          <a:p>
            <a:pPr rtl="1" algn="r"/>
            <a:r>
              <a:rPr sz="1300">
                <a:latin typeface="IRANSans"/>
              </a:rPr>
              <a:t>پیام کلیدی: موج پنجم جایگزین چهارم نیست؛ لایه ارزشی روی آن است.</a:t>
            </a:r>
          </a:p>
          <a:p>
            <a:pPr rtl="1" algn="r"/>
            <a:r>
              <a:rPr sz="1300">
                <a:latin typeface="IRANSans"/>
              </a:rPr>
              <a:t>برای سازمان ما این خبر خوبی است — چون نقطه ورودش فرهنگ است، نه سرمایه.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را با احتیاط و بدون سرزنش ارائه کنید.</a:t>
            </a:r>
          </a:p>
          <a:p>
            <a:pPr rtl="1" algn="r"/>
            <a:r>
              <a:rPr sz="1300">
                <a:latin typeface="IRANSans"/>
              </a:rPr>
              <a:t>پیام: ما ضعیف نیستیم؛ ما در حال گذاریم و گذار، مدیریت می‌خواهد.</a:t>
            </a:r>
          </a:p>
          <a:p>
            <a:pPr rtl="1" algn="r"/>
            <a:r>
              <a:rPr sz="1300">
                <a:latin typeface="IRANSans"/>
              </a:rPr>
              <a:t>اگر داده واقعی از سازمان دارید، نوارها را با آن تنظیم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مخاطب بپرسید کدام مورد را بیشتر می‌بینند و رأی‌گیری دستی کنید.</a:t>
            </a:r>
          </a:p>
          <a:p>
            <a:pPr rtl="1" algn="r"/>
            <a:r>
              <a:rPr sz="1300">
                <a:latin typeface="IRANSans"/>
              </a:rPr>
              <a:t>این مشارکت، مقاومت را کم می‌کند چون خودشان تشخیص را تأیید کرده‌اند.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ترتیب گام‌ها مهم است. اگر مدیری پرسید چرا از ساختار شروع نمی‌کنیم،</a:t>
            </a:r>
          </a:p>
          <a:p>
            <a:pPr rtl="1" algn="r"/>
            <a:r>
              <a:rPr sz="1300">
                <a:latin typeface="IRANSans"/>
              </a:rPr>
              <a:t>بگویید: ساختار جدید با رفتار قدیمی، همان سازمان قبلی است با نمودار نو.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پل بخش اول به بخش دوم است.</a:t>
            </a:r>
          </a:p>
          <a:p>
            <a:pPr rtl="1" algn="r"/>
            <a:r>
              <a:rPr sz="1300">
                <a:latin typeface="IRANSans"/>
              </a:rPr>
              <a:t>جمله انتقال: «حالا برویم سراغ ابزاری که این حلقه اول را می‌سازد.»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یک استراحت کوتاه بدهید و بعد بخش دوم را شروع کنید.</a:t>
            </a:r>
          </a:p>
          <a:p>
            <a:pPr rtl="1" algn="r"/>
            <a:r>
              <a:rPr sz="1300">
                <a:latin typeface="IRANSans"/>
              </a:rPr>
              <a:t>اگر جلسه فشرده است، مستقیم رد شوید ولی لحن را عوض کنید:</a:t>
            </a:r>
          </a:p>
          <a:p>
            <a:pPr rtl="1" algn="r"/>
            <a:r>
              <a:rPr sz="1300">
                <a:latin typeface="IRANSans"/>
              </a:rPr>
              <a:t>از تحلیل به عمل.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روی بخش ۵ مکث کنید: مخاطب باید بداند این سخنرانی نیست.</a:t>
            </a:r>
          </a:p>
          <a:p>
            <a:pPr rtl="1" algn="r"/>
            <a:r>
              <a:rPr sz="1300">
                <a:latin typeface="IRANSans"/>
              </a:rPr>
              <a:t>درخواست «یک چالش واقعی در ذهن نگه دارید» را آرام و جدی بگویید.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را سریع رد نکنید. سه ثانیه سکوت، بعد بروید به اسلاید بعد.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واقعاً ۶۰ ثانیه سکوت بدهید و از سه چهار نفر بپرسید.</a:t>
            </a:r>
          </a:p>
          <a:p>
            <a:pPr rtl="1" algn="r"/>
            <a:r>
              <a:rPr sz="1300">
                <a:latin typeface="IRANSans"/>
              </a:rPr>
              <a:t>وقتی همه یک اسم گفتند: «توجه کردید؟ هیچ‌کس اسم یک دوره را نبرد.»</a:t>
            </a:r>
          </a:p>
          <a:p>
            <a:pPr rtl="1" algn="r"/>
            <a:r>
              <a:rPr sz="1300">
                <a:latin typeface="IRANSans"/>
              </a:rPr>
              <a:t>این جواب، کل استدلال ارائه را می‌سازد.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حتماً یک مثال واقعی از سازمان خودتان بزنید، بدون بردن نام کسی.</a:t>
            </a:r>
          </a:p>
          <a:p>
            <a:pPr rtl="1" algn="r"/>
            <a:r>
              <a:rPr sz="1300">
                <a:latin typeface="IRANSans"/>
              </a:rPr>
              <a:t>یک مثال واقعی از هر چهار مورد این فهرست مؤثرتر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اسلاید پشتوانه علمی طرح است، مخصوصاً برای مدیران.</a:t>
            </a:r>
          </a:p>
          <a:p>
            <a:pPr rtl="1" algn="r"/>
            <a:r>
              <a:rPr sz="1300">
                <a:latin typeface="IRANSans"/>
              </a:rPr>
              <a:t>اگر عدد واقعی بودجه سازمان را دارید، جایگزین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اینجا لحن عوض می‌شود: از مسئله به راه‌حل.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«پرسش، نه نسخه‌پیچی» را دو بار تکرار کنید — کل تفاوت روش همین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ستون «نیست» مهم‌تر از «هست» است. بیشترین مقاومت از همین سوءتفاهم‌ها می‌آید.</a:t>
            </a:r>
          </a:p>
          <a:p>
            <a:pPr rtl="1" algn="r"/>
            <a:r>
              <a:rPr sz="1300">
                <a:latin typeface="IRANSans"/>
              </a:rPr>
              <a:t>روی «هیچ صورت‌جلسه‌ای به بالا نمی‌رود» مکث کنید و در چشم افراد نگاه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تسهیل‌گری چرخشی است — این طرح مالِ یک نفر نیست، مالِ گروه است.</a:t>
            </a:r>
          </a:p>
          <a:p>
            <a:pPr rtl="1" algn="r"/>
            <a:r>
              <a:rPr sz="1300">
                <a:latin typeface="IRANSans"/>
              </a:rPr>
              <a:t>اگر پرسیدند «مدیر هم هست؟» بگویید بله، ولی به‌عنوان عضو گروه همتا.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از اینجا وارد جزئیات عملی می‌شویم.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بخش «فقط سؤال» بیشترین مقاومت را دارد.</a:t>
            </a:r>
          </a:p>
          <a:p>
            <a:pPr rtl="1" algn="r"/>
            <a:r>
              <a:rPr sz="1300">
                <a:latin typeface="IRANSans"/>
              </a:rPr>
              <a:t>بگویید: «می‌دانم سخت است. اسلاید بعد نشان می‌دهم چرا ارزشش را دارد.»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مهم‌ترین اسلاید ارائه. آرام بخوانید، بعد از هر جفت مکث کوتاه کنید.</a:t>
            </a:r>
          </a:p>
          <a:p>
            <a:pPr rtl="1" algn="r"/>
            <a:r>
              <a:rPr sz="1300">
                <a:latin typeface="IRANSans"/>
              </a:rPr>
              <a:t>از گروه بخواهید یک نمونه دیگر بسازند — اگر توانستند، روش را گرفته‌اند.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 قواعد را نخوانید — از گروه بخواهید بلند بخوانند و تأیید کنند.</a:t>
            </a:r>
          </a:p>
          <a:p>
            <a:pPr rtl="1" algn="r"/>
            <a:r>
              <a:rPr sz="1300">
                <a:latin typeface="IRANSans"/>
              </a:rPr>
              <a:t>روی یک برگه بزرگ بنویسید و هر جلسه روی دیوار بزنید.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جمله «بدون توضیح می‌توانید کنار بکشید» را حتماً بگویید.</a:t>
            </a:r>
          </a:p>
          <a:p>
            <a:pPr rtl="1" algn="r"/>
            <a:r>
              <a:rPr sz="1300">
                <a:latin typeface="IRANSans"/>
              </a:rPr>
              <a:t>داوطلبانه بودن شرط کارکردن این روش است، نه یک تعارف.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لحن اینجا امیدوارانه می‌شود. سرعت را کمی بالا ببرید.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اگر مخاطب بیشتر کارشناس است، ستون راست را کامل بخوانید و چپ را سریع رد شوید.</a:t>
            </a:r>
          </a:p>
          <a:p>
            <a:pPr rtl="1" algn="r"/>
            <a:r>
              <a:rPr sz="1300">
                <a:latin typeface="IRANSans"/>
              </a:rPr>
              <a:t>اگر مدیران حاضرند، برعکس.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اینجا انرژی جلسه باید بالا برود. بلند شوید و راه بروید.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مهم‌ترین ۳۰ دقیقه امروز. تایمر بگذارید و سفت نگه دارید.</a:t>
            </a:r>
          </a:p>
          <a:p>
            <a:pPr rtl="1" algn="r"/>
            <a:r>
              <a:rPr sz="1300">
                <a:latin typeface="IRANSans"/>
              </a:rPr>
              <a:t>اگر کسی در «فقط سؤال» راه‌حل داد، با لبخند وسط حرفش بروید:</a:t>
            </a:r>
          </a:p>
          <a:p>
            <a:pPr rtl="1" algn="r"/>
            <a:r>
              <a:rPr sz="1300">
                <a:latin typeface="IRANSans"/>
              </a:rPr>
              <a:t>«این را نگه دار برای ده دقیقه بعد.»</a:t>
            </a:r>
          </a:p>
          <a:p>
            <a:pPr rtl="1" algn="r"/>
            <a:r>
              <a:rPr sz="1300">
                <a:latin typeface="IRANSans"/>
              </a:rPr>
              <a:t>اگر داوطلب پیدا نشد، خودتان یک چالش واقعی بیاورید.</a:t>
            </a:r>
          </a:p>
          <a:p>
            <a:pPr rtl="1" algn="r"/>
            <a:r>
              <a:rPr sz="1300">
                <a:latin typeface="IRANSans"/>
              </a:rPr>
              <a:t>در پایان از صاحب چالش بپرسید: «الان چیزی می‌دانی که نیم‌ساعت پیش نمی‌دانستی؟»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300">
                <a:latin typeface="IRANSans"/>
              </a:rPr>
              <a:t>نگویید «سؤالی نیست؟». بگویید «چه کسی می‌خواهد نفر اول باشد؟» و</a:t>
            </a:r>
          </a:p>
          <a:p>
            <a:pPr rtl="1" algn="r"/>
            <a:r>
              <a:rPr sz="1300">
                <a:latin typeface="IRANSans"/>
              </a:rPr>
              <a:t>خودتان دستتان را بالا ببرید تا اولین داوطلب راحت‌تر بلند شود.</a:t>
            </a:r>
          </a:p>
          <a:p>
            <a:pPr rtl="1" algn="r"/>
            <a:r>
              <a:rPr sz="1300">
                <a:latin typeface="IRANSans"/>
              </a:rPr>
              <a:t>برگه ثبت‌نام را همان لحظه دست به دست کنید — نه ایمیل، نه فردا.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1.jp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wave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6000"/>
                </a:srgbClr>
              </a:gs>
              <a:gs pos="100000">
                <a:srgbClr val="0E2C40">
                  <a:alpha val="95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44607" y="1481328"/>
            <a:ext cx="1280160" cy="635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15407" y="1755648"/>
            <a:ext cx="6309360" cy="3200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جلسه توسعه فردی و سازمانی</a:t>
            </a:r>
          </a:p>
          <a:p>
            <a:pPr rtl="1" algn="r">
              <a:lnSpc>
                <a:spcPct val="122000"/>
              </a:lnSpc>
              <a:spcBef>
                <a:spcPts val="140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بعدی را</a:t>
            </a:r>
          </a:p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کسی </a:t>
            </a:r>
            <a:r>
              <a:rPr sz="4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می‌سازد؟</a:t>
            </a:r>
          </a:p>
          <a:p>
            <a:pPr rtl="1" algn="r">
              <a:lnSpc>
                <a:spcPct val="130000"/>
              </a:lnSpc>
              <a:spcBef>
                <a:spcPts val="18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از موج دوم تا سازمان یادگیرنده — و نقطه شروع ما</a:t>
            </a:r>
          </a:p>
        </p:txBody>
      </p:sp>
      <p:sp>
        <p:nvSpPr>
          <p:cNvPr id="7" name="Rectangle 6"/>
          <p:cNvSpPr/>
          <p:nvPr/>
        </p:nvSpPr>
        <p:spPr>
          <a:xfrm>
            <a:off x="8698687" y="5047488"/>
            <a:ext cx="2926080" cy="15875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15407" y="5230368"/>
            <a:ext cx="630936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تهیه و تنظیم:  </a:t>
            </a: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وحید مجیدی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15407" y="5760720"/>
            <a:ext cx="6309360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تاریخ:  </a:t>
            </a: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        </a:t>
            </a:r>
            <a:r>
              <a:rPr sz="1400" b="0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[نام واحد / سازمان]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29039" y="6181344"/>
            <a:ext cx="2395728" cy="420624"/>
          </a:xfrm>
          <a:prstGeom prst="roundRect">
            <a:avLst>
              <a:gd name="adj" fmla="val 22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9039" y="6181344"/>
            <a:ext cx="2395728" cy="4206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www.coachroom.ir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دو بخش، یک هدف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مسیر امروز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7871" y="1572768"/>
            <a:ext cx="5336895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1" y="1572768"/>
            <a:ext cx="5336895" cy="786384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7871" y="2212848"/>
            <a:ext cx="5336895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2191" y="1627632"/>
            <a:ext cx="4788255" cy="6766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بخش اول  ·  </a:t>
            </a: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 باید تغییر کنیم؟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2578608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سه موج تمدنی و مکاتب مدیریتی هر موج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191" y="318211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ما دقیقاً کجای این نقشه است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3785616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مسیر گذار به موج بالاتر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2191" y="3977640"/>
            <a:ext cx="1371600" cy="402336"/>
          </a:xfrm>
          <a:prstGeom prst="roundRect">
            <a:avLst>
              <a:gd name="adj" fmla="val 2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۳۰ دقیقه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572768"/>
            <a:ext cx="5336895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1572768"/>
            <a:ext cx="5336895" cy="786384"/>
          </a:xfrm>
          <a:prstGeom prst="roundRect">
            <a:avLst>
              <a:gd name="adj" fmla="val 10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212848"/>
            <a:ext cx="5336895" cy="146304"/>
          </a:xfrm>
          <a:prstGeom prst="rect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1627632"/>
            <a:ext cx="4788255" cy="6766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بخش دوم  ·  </a:t>
            </a: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کجا شروع کنیم؟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578608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منتورینگ گروهی: چیستی، چرایی، نحوه اجرا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82112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قواعد فضای امن و مهارت پرسیدن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785616"/>
            <a:ext cx="4788255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دور تمرین واقعی، همین امروز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977640"/>
            <a:ext cx="1371600" cy="402336"/>
          </a:xfrm>
          <a:prstGeom prst="roundRect">
            <a:avLst>
              <a:gd name="adj" fmla="val 24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 دقیقه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901184"/>
            <a:ext cx="11057839" cy="786384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42471" y="4901184"/>
            <a:ext cx="82296" cy="78638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901184"/>
            <a:ext cx="10436047" cy="78638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پیوند دو بخش:  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سازمان وقتی به موج بالاتر می‌رود که آدم‌هایش یاد بگیرند از هم یاد بگیرند.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815584"/>
            <a:ext cx="11057839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چالش کاری واقعی و حل‌نشده را از همین حالا در ذهنتان نگه دارید — در بخش دوم به آن برمی‌گردیم.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 / ۳۲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sonal-growth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اول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 باید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تغییر کنیم؟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سرعت تغییر بیرون، از سرعت یادگیری ما بیشتر شده است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1B496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38404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قانون ساده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98448"/>
            <a:ext cx="10362895" cy="15544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هر سازمانی که سرعت یادگیری‌اش</a:t>
            </a:r>
          </a:p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کمتر از سرعت تغییر محیط</a:t>
            </a: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باشد،</a:t>
            </a:r>
          </a:p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دیر یا زود حذف می‌شود.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87871" y="3145536"/>
            <a:ext cx="5336895" cy="2212848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43903" y="3291840"/>
            <a:ext cx="4824831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تغییر محیط</a:t>
            </a: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    سریع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191" y="385876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فناوری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191" y="422452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انتظار ذی‌نفعان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191" y="459028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قواعد بازار انرژی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191" y="495604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نسل جدید نیروی کار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45536"/>
            <a:ext cx="5336895" cy="2212848"/>
          </a:xfrm>
          <a:prstGeom prst="roundRect">
            <a:avLst>
              <a:gd name="adj" fmla="val 10000"/>
            </a:avLst>
          </a:prstGeom>
          <a:solidFill>
            <a:srgbClr val="FFFFFF">
              <a:alpha val="10000"/>
            </a:srgbClr>
          </a:solidFill>
          <a:ln w="1905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824831" cy="4572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یادگیری ما</a:t>
            </a: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    کند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5876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دوره‌های پراکنده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22452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تجربه‌های ثبت‌نشده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59028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دانش در سیلوها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956048"/>
            <a:ext cx="4788255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آموزش به‌جای انتقال تجربه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596128"/>
            <a:ext cx="11057839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این فاصله،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همان شکاف توسعه</a:t>
            </a: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 است — و بستنش از توسعه فردی شروع می‌شود.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تافلر تا امروز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پنج موجی که تمدن را ساخته‌اند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59503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59503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59503" y="2359152"/>
            <a:ext cx="2065263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0943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۱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کشاورزی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۸۰۰۰ ق.م ـ ۱۷۵۰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05807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زمین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8375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عضله انسان و دام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8375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خانواده و روستا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8375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سینه‌به‌سینه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1359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1359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1359" y="2359152"/>
            <a:ext cx="2065263" cy="14630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2799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۲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صنعتی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۱۷۵۰ ـ ۱۹۵۰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7663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ماشین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0231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کارگر متخصص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0231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کارخانه و سلسله‌مراتب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0231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در دستورالعمل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3215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63215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63215" y="2359152"/>
            <a:ext cx="2065263" cy="14630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4655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۳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دانش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۱۹۵۰ ـ ۲۰۱۰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9519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مغز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2087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کارکن دانشی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2087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تیم و شبکه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2087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دانش، سرمایه اصلی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5071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815071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15071" y="2359152"/>
            <a:ext cx="2065263" cy="146304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06511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۴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دیجیتال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۲۰۱۱ ـ ۲۰۲۰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61375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داده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3943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هوش مصنوعی و اینترنت اشیا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3943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سیستم‌های خودتنظیم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3943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تصمیم مبتنی بر داده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1499616"/>
            <a:ext cx="2065263" cy="316382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1499616"/>
            <a:ext cx="2065263" cy="100584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2359152"/>
            <a:ext cx="2065263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1572768"/>
            <a:ext cx="1882383" cy="87782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۵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انسان‌محور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۲۰۲۱ ـ آینده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2670048"/>
            <a:ext cx="1772655" cy="420624"/>
          </a:xfrm>
          <a:prstGeom prst="roundRect">
            <a:avLst>
              <a:gd name="adj" fmla="val 2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معنا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2552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همکاری انسان و ماشین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37124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تاب‌آوری و پایداری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169664"/>
            <a:ext cx="1827519" cy="43891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خِرد جمعی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846320"/>
            <a:ext cx="11057839" cy="768096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542471" y="4846320"/>
            <a:ext cx="82296" cy="7680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" y="4846320"/>
            <a:ext cx="10436047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نکته کلیدی:  </a:t>
            </a: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هر موج، </a:t>
            </a:r>
            <a:r>
              <a:rPr sz="19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شیوه مدیریت</a:t>
            </a: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هم عوض شد — چون منبع اصلی ارزش عوض شده بود.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60720"/>
            <a:ext cx="11057839" cy="42062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امواج حذف نمی‌شوند؛ روی هم می‌افتند. سازمان ما هم‌زمان تکه‌هایی از چند موج را دارد.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۵ / ۳۲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نقشه تاریخی مکاتب مدیریت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هر موج، مکتب مدیریتی خودش را ساخت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66091" y="1481328"/>
            <a:ext cx="1631243" cy="31089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091" y="1481328"/>
            <a:ext cx="1658675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اول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6425" y="1481328"/>
            <a:ext cx="3732233" cy="31089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6425" y="1481328"/>
            <a:ext cx="3759665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دوم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9652" y="1481328"/>
            <a:ext cx="3179341" cy="3108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652" y="1481328"/>
            <a:ext cx="3206773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سوم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2133" y="1481328"/>
            <a:ext cx="1410087" cy="310896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62133" y="1481328"/>
            <a:ext cx="1437519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چهارم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481328"/>
            <a:ext cx="967773" cy="3108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481328"/>
            <a:ext cx="995205" cy="3108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پنجم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41687" y="1975104"/>
            <a:ext cx="1783080" cy="371246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41687" y="1975104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41687" y="2286000"/>
            <a:ext cx="1783080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1687" y="1975104"/>
            <a:ext cx="1783080" cy="4572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تا ۱۷۵۰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33127" y="2542032"/>
            <a:ext cx="1600200" cy="480060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2855" y="2542032"/>
            <a:ext cx="138074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سنتی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استادـشاگردی، تجربه‌محور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067812"/>
            <a:ext cx="138074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نظام صنفی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انتقال مهارت در کارگاه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2687" y="1975104"/>
            <a:ext cx="3246120" cy="371246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12687" y="1975104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12687" y="2286000"/>
            <a:ext cx="3246120" cy="14630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2687" y="1975104"/>
            <a:ext cx="3246120" cy="4572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۱۹۱۱ تا ۱۹۷۰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04127" y="2542032"/>
            <a:ext cx="3063240" cy="480060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3855" y="2542032"/>
            <a:ext cx="28437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علمی — تیلور ۱۹۱۱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بهترین راه انجام کار، زمان‌سنجی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3855" y="3067812"/>
            <a:ext cx="28437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اداری — فایول ۱۹۱۶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برنامه‌ریزی، سازمان‌دهی، کنترل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04127" y="3593592"/>
            <a:ext cx="3063240" cy="480060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3855" y="3593592"/>
            <a:ext cx="28437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بوروکراسی — وبر ۱۹۲۲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سلسله‌مراتب، قاعده، غیرشخصی بودن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3855" y="4119372"/>
            <a:ext cx="28437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روابط انسانی — مِیو ۱۹۳۲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انسان فقط ماشین نیست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04127" y="4645152"/>
            <a:ext cx="3063240" cy="480060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3855" y="4645152"/>
            <a:ext cx="28437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نظریه X و Y — مک‌گرگور ۱۹۶۰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 نگاه به انگیزه کارکنان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3855" y="5170932"/>
            <a:ext cx="28437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نگرش سیستمی و اقتضایی ۱۹۷۰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نسخه برای همه وجود ندارد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12287" y="1975104"/>
            <a:ext cx="3017520" cy="371246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12287" y="1975104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12287" y="2286000"/>
            <a:ext cx="3017520" cy="14630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12287" y="1975104"/>
            <a:ext cx="3017520" cy="4572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۱۹۸۰ تا ۲۰۱۰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03727" y="2542032"/>
            <a:ext cx="2834640" cy="480060"/>
          </a:xfrm>
          <a:prstGeom prst="roundRect">
            <a:avLst>
              <a:gd name="adj" fmla="val 14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13455" y="254203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کیفیت جامع ۱۹۸۰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بهبود مستمر، مشارکت همه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13455" y="306781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یادگیرنده — سنگه ۱۹۹۰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یادگیری، مزیت رقابتی پایدار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03727" y="3593592"/>
            <a:ext cx="2834640" cy="480060"/>
          </a:xfrm>
          <a:prstGeom prst="roundRect">
            <a:avLst>
              <a:gd name="adj" fmla="val 14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13455" y="359359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دانش — نوناکا ۱۹۹۵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ضمنی، دانش سازمانی می‌شود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13455" y="411937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چابک ۲۰۰۱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تیم‌های کوچک، چرخه کوتاه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03727" y="4645152"/>
            <a:ext cx="2834640" cy="480060"/>
          </a:xfrm>
          <a:prstGeom prst="roundRect">
            <a:avLst>
              <a:gd name="adj" fmla="val 14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3455" y="464515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رهبری مربی‌گرا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مدیر به‌جای دستور، سؤال می‌پرسد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87" y="1975104"/>
            <a:ext cx="3017520" cy="3712463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887" y="1975104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887" y="2286000"/>
            <a:ext cx="3017520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" y="1975104"/>
            <a:ext cx="3017520" cy="4572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۲۰۱۱ تا امروز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327" y="2542032"/>
            <a:ext cx="2834640" cy="480060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13055" y="254203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سازمان داده‌محور ۲۰۱۱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تصمیم بر پایه داده، نه حدس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" y="306781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هولاکراسی و تیم خودگردان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اختیار توزیع‌شده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327" y="3593592"/>
            <a:ext cx="2834640" cy="480060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3055" y="359359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رهبری تاب‌آور ۲۰۲۰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مدیریت در بحران و عدم‌قطعیت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3055" y="411937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مدیریت انسان‌محور ۲۰۲۱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رفاه کارکنان، هم‌تراز با بهره‌وری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3327" y="4645152"/>
            <a:ext cx="2834640" cy="480060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3055" y="4645152"/>
            <a:ext cx="2615184" cy="4800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پایداری و مسئولیت</a:t>
            </a:r>
          </a:p>
          <a:p>
            <a:pPr rtl="1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سود، در کنار محیط زیست و جامعه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۶ / ۳۲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4-digital.jpg"/>
          <p:cNvPicPr>
            <a:picLocks noChangeAspect="1"/>
          </p:cNvPicPr>
          <p:nvPr/>
        </p:nvPicPr>
        <p:blipFill>
          <a:blip r:embed="rId2"/>
          <a:srcRect l="2580" r="258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8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57200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موج چهارم  ·  از ۲۰۱۱ تا امروز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صنعت دیجیتال: وقتی ماشین‌ها حرف می‌زنند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499616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75327" y="1847088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51615" y="1847088"/>
            <a:ext cx="73152" cy="71323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75927" y="1847088"/>
            <a:ext cx="19202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موتور محرک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1359" y="1847088"/>
            <a:ext cx="44348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داده و اتصال — اینترنت اشیا، هوش مصنوعی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5327" y="2633472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51615" y="2633472"/>
            <a:ext cx="73152" cy="71323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75927" y="2633472"/>
            <a:ext cx="19202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در نفت و گاز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1359" y="2633472"/>
            <a:ext cx="44348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دوقلوی دیجیتال، نگهداشت پیش‌بین، پایش برخط چاه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5327" y="3419856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51615" y="3419856"/>
            <a:ext cx="73152" cy="71323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75927" y="3419856"/>
            <a:ext cx="19202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منطق تصمیم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1359" y="3419856"/>
            <a:ext cx="44348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«تجربه می‌گوید» به «داده نشان می‌دهد»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5327" y="4206240"/>
            <a:ext cx="694944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51615" y="4206240"/>
            <a:ext cx="73152" cy="71323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5927" y="4206240"/>
            <a:ext cx="19202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نقش انسان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1359" y="4206240"/>
            <a:ext cx="4434840" cy="7132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کمتر اپراتور، بیشتر تحلیل‌گر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75327" y="5175504"/>
            <a:ext cx="6949440" cy="1005840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42471" y="5175504"/>
            <a:ext cx="82296" cy="100584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9647" y="5175504"/>
            <a:ext cx="6400800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هشدار مهم:  </a:t>
            </a:r>
            <a:r>
              <a:rPr sz="18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دیجیتالی‌کردن یک سازمانِ موج دومی، فقط کاغذبازی را سریع‌تر می‌کند — نه هوشمندتر.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موج پنجم  ·  از ۲۰۲۱ — کمیسیون اروپا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موج پنجم: بازگشت انسان به مرکز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5-human.jpg"/>
          <p:cNvPicPr>
            <a:picLocks noChangeAspect="1"/>
          </p:cNvPicPr>
          <p:nvPr/>
        </p:nvPicPr>
        <p:blipFill>
          <a:blip r:embed="rId2"/>
          <a:srcRect t="2558" b="2558"/>
          <a:stretch>
            <a:fillRect/>
          </a:stretch>
        </p:blipFill>
        <p:spPr>
          <a:xfrm>
            <a:off x="566928" y="1517904"/>
            <a:ext cx="3931920" cy="2487168"/>
          </a:xfrm>
          <a:prstGeom prst="round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3438144"/>
            <a:ext cx="3931920" cy="566928"/>
          </a:xfrm>
          <a:prstGeom prst="rect">
            <a:avLst/>
          </a:prstGeom>
          <a:solidFill>
            <a:srgbClr val="0E2C4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438144"/>
            <a:ext cx="356616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انسان و ماشین، در کنار هم — نه به‌جای هم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151376"/>
            <a:ext cx="3931920" cy="2048256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552" y="4151376"/>
            <a:ext cx="82296" cy="204825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352544"/>
            <a:ext cx="3429000" cy="16916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تفاوت با موج چهارم</a:t>
            </a:r>
          </a:p>
          <a:p>
            <a:pPr rtl="1" algn="r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موج چهارم می‌پرسد: چطور کارخانه را کارآمدتر کنیم؟</a:t>
            </a:r>
          </a:p>
          <a:p>
            <a:pPr rtl="1" algn="r">
              <a:lnSpc>
                <a:spcPct val="126000"/>
              </a:lnSpc>
              <a:spcBef>
                <a:spcPts val="60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پنجم می‌پرسد: چطور کار را انسانی‌تر، تاب‌آورتر و پایدارتر کنیم؟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1517904"/>
            <a:ext cx="6741871" cy="969264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42471" y="1517904"/>
            <a:ext cx="82296" cy="9692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20095" y="1783080"/>
            <a:ext cx="420624" cy="42062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517904"/>
            <a:ext cx="5589727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انسان‌محوری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فناوری در خدمت آدم‌ها، نه جایگزین آن‌ها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2896" y="2578608"/>
            <a:ext cx="6741871" cy="969264"/>
          </a:xfrm>
          <a:prstGeom prst="roundRect">
            <a:avLst>
              <a:gd name="adj" fmla="val 11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42471" y="2578608"/>
            <a:ext cx="82296" cy="969264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20095" y="2843784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2578608"/>
            <a:ext cx="5589727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تاب‌آوری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توان بازگشت سریع پس از بحران و تحریم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82896" y="3639312"/>
            <a:ext cx="6741871" cy="969264"/>
          </a:xfrm>
          <a:prstGeom prst="roundRect">
            <a:avLst>
              <a:gd name="adj" fmla="val 11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42471" y="3639312"/>
            <a:ext cx="82296" cy="96926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20095" y="3904488"/>
            <a:ext cx="420624" cy="42062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639312"/>
            <a:ext cx="5589727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پایداری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مسئولیت زیست‌محیطی و کاهش انتشار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82896" y="4754880"/>
            <a:ext cx="6741871" cy="144475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4901184"/>
            <a:ext cx="6229807" cy="11521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خبر خوب برای ما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موج پنجم بیش از آنکه به فناوری گران نیاز داشته باشد، به فرهنگ یادگیری و اعتماد نیاز دارد.</a:t>
            </a:r>
          </a:p>
          <a:p>
            <a:pPr rtl="1" algn="r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یعنی می‌شود از همین امروز شروع کرد — بدون بودجه ارزی.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۸ / ۳۲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1-refinery.jpg"/>
          <p:cNvPicPr>
            <a:picLocks noChangeAspect="1"/>
          </p:cNvPicPr>
          <p:nvPr/>
        </p:nvPicPr>
        <p:blipFill>
          <a:blip r:embed="rId2"/>
          <a:srcRect t="7839" b="783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4000"/>
                </a:srgbClr>
              </a:gs>
              <a:gs pos="100000">
                <a:srgbClr val="0E2C40">
                  <a:alpha val="95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تشخیص وضعیت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41248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صنعت نفت و گاز ایران کجای این نقشه است؟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27487" y="151790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6807" y="1828800"/>
            <a:ext cx="65379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3047" y="1828800"/>
            <a:ext cx="214884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زیرساخت فنی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7007" y="1828800"/>
            <a:ext cx="26517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موج دوم، با جزیره‌هایی از موج سوم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3111" y="2103120"/>
            <a:ext cx="1417320" cy="201168"/>
          </a:xfrm>
          <a:prstGeom prst="roundRect">
            <a:avLst>
              <a:gd name="adj" fmla="val 3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71692" y="2103120"/>
            <a:ext cx="878738" cy="201168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86807" y="2670048"/>
            <a:ext cx="65379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3047" y="2670048"/>
            <a:ext cx="214884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ساختار سازمانی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7007" y="2670048"/>
            <a:ext cx="26517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سلسله‌مراتبی، تصمیم متمرکز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33111" y="2944368"/>
            <a:ext cx="1417320" cy="201168"/>
          </a:xfrm>
          <a:prstGeom prst="roundRect">
            <a:avLst>
              <a:gd name="adj" fmla="val 3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5235" y="2944368"/>
            <a:ext cx="425196" cy="201168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6807" y="3511296"/>
            <a:ext cx="65379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3047" y="3511296"/>
            <a:ext cx="214884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شیوه انتقال دانش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7007" y="3511296"/>
            <a:ext cx="26517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شفاهی، وابسته به افراد کلیدی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33111" y="3785616"/>
            <a:ext cx="1417320" cy="201168"/>
          </a:xfrm>
          <a:prstGeom prst="roundRect">
            <a:avLst>
              <a:gd name="adj" fmla="val 3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96101" y="3785616"/>
            <a:ext cx="354330" cy="201168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6807" y="4352544"/>
            <a:ext cx="6537960" cy="749808"/>
          </a:xfrm>
          <a:prstGeom prst="roundRect">
            <a:avLst>
              <a:gd name="adj" fmla="val 10000"/>
            </a:avLst>
          </a:prstGeom>
          <a:solidFill>
            <a:srgbClr val="FFFF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3047" y="4352544"/>
            <a:ext cx="214884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سرمایه انسانی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7007" y="4352544"/>
            <a:ext cx="26517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باتجربه، ولی تجربه‌اش ثبت‌نشده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3111" y="4626864"/>
            <a:ext cx="1417320" cy="201168"/>
          </a:xfrm>
          <a:prstGeom prst="roundRect">
            <a:avLst>
              <a:gd name="adj" fmla="val 30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83503" y="4626864"/>
            <a:ext cx="566928" cy="201168"/>
          </a:xfrm>
          <a:prstGeom prst="roundRect">
            <a:avLst>
              <a:gd name="adj" fmla="val 3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86807" y="5266944"/>
            <a:ext cx="6537960" cy="969264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61127" y="5266944"/>
            <a:ext cx="5989320" cy="9692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جمع‌بندی صادقانه:  </a:t>
            </a:r>
            <a:r>
              <a:rPr sz="17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بدنه سازمان در موج دوم است، با جزیره‌هایی از موج سوم و چهارم — و این ناهم‌ترازی، پرهزینه‌ترین وضعیت است.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این‌ها را می‌شناسید؟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نشانه‌های ماندن در موج دوم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23863" y="1517904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51615" y="1517904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93247" y="1746504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3319" y="1517904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تصمیم فقط بالا گرفته می‌شود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کارشناس منتظر دستور می‌ماند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17904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4679" y="1517904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36311" y="1746504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1517904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دانش با بازنشستگی می‌رود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سی سال تجربه، بدون جانشین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2505456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51615" y="2505456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93247" y="2734056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19" y="2505456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آموزش یعنی کلاس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دوره برگزار می‌شود، رفتار عوض نمی‌شود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505456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94679" y="2505456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36311" y="2734056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2505456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واحدها با هم حرف نمی‌زنند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واحد، جزیره‌ای مستقل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863" y="3493008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51615" y="3493008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93247" y="3721608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319" y="3493008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خطا پنهان می‌شود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چون به‌جای درس، دنبال مقصر می‌گردیم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493008"/>
            <a:ext cx="5400903" cy="85953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94679" y="3493008"/>
            <a:ext cx="73152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36311" y="3721608"/>
            <a:ext cx="384048" cy="384048"/>
          </a:xfrm>
          <a:prstGeom prst="ellipse">
            <a:avLst/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3493008"/>
            <a:ext cx="4340199" cy="85953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جلسه یعنی گزارش‌دهی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حل مسئله مشترک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626864"/>
            <a:ext cx="11057839" cy="731520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42471" y="4626864"/>
            <a:ext cx="82296" cy="7315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626864"/>
            <a:ext cx="10436047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هیچ‌کدام از این‌ها نشانه بی‌کفایتی نیست — </a:t>
            </a:r>
            <a:r>
              <a:rPr sz="19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نشانه یک سیستم قدیمی است.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522976"/>
            <a:ext cx="11057839" cy="65836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 سیستم را نمی‌شود با بخشنامه عوض کرد؛ با تغییر رفتار روزمره آدم‌ها عوض می‌شود.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۱۰ / ۳۲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چهار گام، به ترتیب — از موج دوم به سوم، و آماده‌سازی برای چهارم و پنجم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مسیر گذار به موج بالاتر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2-control.jpg"/>
          <p:cNvPicPr>
            <a:picLocks noChangeAspect="1"/>
          </p:cNvPicPr>
          <p:nvPr/>
        </p:nvPicPr>
        <p:blipFill>
          <a:blip r:embed="rId2"/>
          <a:srcRect t="6813" b="6813"/>
          <a:stretch>
            <a:fillRect/>
          </a:stretch>
        </p:blipFill>
        <p:spPr>
          <a:xfrm>
            <a:off x="566928" y="1517904"/>
            <a:ext cx="4160520" cy="2395728"/>
          </a:xfrm>
          <a:prstGeom prst="round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3346704"/>
            <a:ext cx="4160520" cy="566928"/>
          </a:xfrm>
          <a:prstGeom prst="rect">
            <a:avLst/>
          </a:prstGeom>
          <a:solidFill>
            <a:srgbClr val="0E2C4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346704"/>
            <a:ext cx="379476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موج سوم یعنی تصمیم، نزدیک به محل کار گرفته شود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59936"/>
            <a:ext cx="4160520" cy="2139696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45152" y="4059936"/>
            <a:ext cx="82296" cy="21396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61104"/>
            <a:ext cx="3657600" cy="1783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از گام ۱ شروع می‌کنیم؟</a:t>
            </a:r>
          </a:p>
          <a:p>
            <a:pPr rtl="1" algn="r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چون سه گام بعدی بدون تغییر رفتار روزمره، فقط سند و نمودار می‌ماند.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5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ارزان‌ترین و سریع‌ترین گام هم همین اولی است.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1496" y="1517904"/>
            <a:ext cx="6513271" cy="1024128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51615" y="1517904"/>
            <a:ext cx="73152" cy="10241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8383" y="1810512"/>
            <a:ext cx="420624" cy="42062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572768"/>
            <a:ext cx="537941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تغییر رفتار یادگیری</a:t>
            </a:r>
            <a:r>
              <a:rPr sz="13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← از اینجا شروع می‌کنیم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از «کلاس رفتن» به «از هم یاد گرفتن»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ابزار: منتورینگ گروهی، بازخورد همتا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1496" y="2633472"/>
            <a:ext cx="6513271" cy="102412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51615" y="2633472"/>
            <a:ext cx="73152" cy="102412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38383" y="2926080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88336"/>
            <a:ext cx="537941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ثبت و گردش دانش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ضمنی افراد، دارایی سازمان 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ابزار: مستندسازی درس‌آموخته‌ها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11496" y="3749040"/>
            <a:ext cx="6513271" cy="102412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51615" y="3749040"/>
            <a:ext cx="73152" cy="102412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38383" y="4041648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803904"/>
            <a:ext cx="537941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توزیع اختیار تصمیم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تصمیم نزدیک به محل کار گرفته 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ابزار: تیم‌های حل مسئله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11496" y="4864608"/>
            <a:ext cx="6513271" cy="1024128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51615" y="4864608"/>
            <a:ext cx="73152" cy="102412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838383" y="5157216"/>
            <a:ext cx="420624" cy="420624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919472"/>
            <a:ext cx="5379415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ساختار چابک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چرخه‌های کوتاه، بازنگری منظم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ابزار: بازطراحی فرایندها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۱۱ / ۳۲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سه حلقه به‌هم‌پیوسته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چرا توسعه فردی، مقدمه توسعه سازمانی است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21700" y="1536192"/>
            <a:ext cx="3503066" cy="2487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1700" y="1536192"/>
            <a:ext cx="3503066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52609" y="1810512"/>
            <a:ext cx="841248" cy="841248"/>
          </a:xfrm>
          <a:prstGeom prst="ellipse">
            <a:avLst/>
          </a:prstGeom>
          <a:solidFill>
            <a:srgbClr val="FFF3EC"/>
          </a:solidFill>
          <a:ln w="317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8004" y="2761488"/>
            <a:ext cx="3210458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فرد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292" y="320040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مهارت پرسیدن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292" y="347472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تأمل بر تجربه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292" y="374904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پذیرش بازخورد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1536192"/>
            <a:ext cx="3503066" cy="2487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4314" y="1536192"/>
            <a:ext cx="3503066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75223" y="1810512"/>
            <a:ext cx="841248" cy="841248"/>
          </a:xfrm>
          <a:prstGeom prst="ellipse">
            <a:avLst/>
          </a:prstGeom>
          <a:solidFill>
            <a:srgbClr val="ECF3F7"/>
          </a:solidFill>
          <a:ln w="3175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ما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761488"/>
            <a:ext cx="3210458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تیم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906" y="320040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اعتماد و فضای امن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906" y="347472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حل مسئله مشترک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906" y="374904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خطا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1536192"/>
            <a:ext cx="3503066" cy="24871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7" y="1536192"/>
            <a:ext cx="3503066" cy="640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97837" y="1810512"/>
            <a:ext cx="841248" cy="841248"/>
          </a:xfrm>
          <a:prstGeom prst="ellipse">
            <a:avLst/>
          </a:prstGeom>
          <a:solidFill>
            <a:srgbClr val="E8F6EF"/>
          </a:solidFill>
          <a:ln w="3175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همه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1" y="2761488"/>
            <a:ext cx="3210458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سازمان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" y="320040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گردش دانش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347472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تصمیم توزیع‌شده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749040"/>
            <a:ext cx="3173882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حافظه سازمانی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7746796" y="4169663"/>
            <a:ext cx="201168" cy="182880"/>
          </a:xfrm>
          <a:prstGeom prst="lef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ft Arrow 27"/>
          <p:cNvSpPr/>
          <p:nvPr/>
        </p:nvSpPr>
        <p:spPr>
          <a:xfrm>
            <a:off x="3969410" y="4169663"/>
            <a:ext cx="201168" cy="182880"/>
          </a:xfrm>
          <a:prstGeom prst="lef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4590288"/>
            <a:ext cx="11057839" cy="804672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542471" y="4590288"/>
            <a:ext cx="82296" cy="8046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4590288"/>
            <a:ext cx="10436047" cy="8046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سازمان یادگیرنده از بالا ابلاغ نمی‌شود —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یک گفتگوی درست بین دو نفر شروع می‌شود.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1295" y="5541264"/>
            <a:ext cx="5373471" cy="65836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2463" y="5541264"/>
            <a:ext cx="4971135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اگر فقط فرد رشد کند:  </a:t>
            </a:r>
            <a:r>
              <a:rPr sz="16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دانش با رفتنش می‌رود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41264"/>
            <a:ext cx="5373471" cy="65836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9050">
            <a:solidFill>
              <a:srgbClr val="1E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" y="5541264"/>
            <a:ext cx="4971135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اگر فرد در گروه رشد کند:  </a:t>
            </a: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دانش در سازمان می‌ماند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توسعه سازمانی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۱۲ / ۳۲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hands-together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93000"/>
                </a:srgbClr>
              </a:gs>
              <a:gs pos="100000">
                <a:srgbClr val="1B4965">
                  <a:alpha val="8800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94E1F">
                  <a:alpha val="30000"/>
                </a:srgbClr>
              </a:gs>
              <a:gs pos="100000">
                <a:srgbClr val="0E2C40">
                  <a:alpha val="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9264"/>
            <a:ext cx="11057839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پایان بخش اول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10180015" cy="19202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تشخیص روشن است.</a:t>
            </a:r>
          </a:p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حالا </a:t>
            </a:r>
            <a:r>
              <a:rPr sz="3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اولین گام</a:t>
            </a:r>
            <a:r>
              <a:rPr sz="3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را با هم برمی‌داریم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3892" y="3712463"/>
            <a:ext cx="3490874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80196" y="3712463"/>
            <a:ext cx="3198266" cy="11887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چیستی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این روش دقیقاً چیست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0410" y="3712463"/>
            <a:ext cx="3490874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6714" y="3712463"/>
            <a:ext cx="3198266" cy="11887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چرایی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 جواب می‌دهد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7" y="3712463"/>
            <a:ext cx="3490874" cy="1188720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1" y="3712463"/>
            <a:ext cx="3198266" cy="11887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نحوه اجرا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جلسه واقعی، دقیقه به دقیقه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1367" y="5285232"/>
            <a:ext cx="3108960" cy="317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486400"/>
            <a:ext cx="11057839" cy="8229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جایی که با هم بلد می‌شویم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۹۰ دقیقه پیشِ رو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نقشه امروز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88764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88764" y="1536192"/>
            <a:ext cx="2036003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59877" y="1810512"/>
            <a:ext cx="493776" cy="49377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5068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چرا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مسئله‌ای که داریم و کسی درباره‌اش حرف نمی‌زند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305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33305" y="1536192"/>
            <a:ext cx="2036003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04418" y="1810512"/>
            <a:ext cx="493776" cy="493776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609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چیست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این روش دقیقاً چیست و چه چیزی نیست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7846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1536192"/>
            <a:ext cx="2036003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48959" y="1810512"/>
            <a:ext cx="493776" cy="49377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4150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چطور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جلسه واقعی، دقیقه به دقیقه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2387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22387" y="1536192"/>
            <a:ext cx="2036003" cy="640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93500" y="1810512"/>
            <a:ext cx="493776" cy="493776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8691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چیزی عاید شما و سازمان می‌شود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536192"/>
            <a:ext cx="2036003" cy="22128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1536192"/>
            <a:ext cx="2036003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38041" y="1810512"/>
            <a:ext cx="493776" cy="49377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468880"/>
            <a:ext cx="1743395" cy="10972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شروع</a:t>
            </a:r>
          </a:p>
          <a:p>
            <a:pPr rt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sz="13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دور واقعی، همین امروز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0439" y="4041648"/>
            <a:ext cx="5364327" cy="1298448"/>
          </a:xfrm>
          <a:prstGeom prst="roundRect">
            <a:avLst>
              <a:gd name="adj" fmla="val 9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42471" y="4041648"/>
            <a:ext cx="82296" cy="12984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6471" y="4206240"/>
            <a:ext cx="4852263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قولِ امروز</a:t>
            </a:r>
          </a:p>
          <a:p>
            <a:pPr rtl="1" algn="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7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یک‌سوم این جلسه، خودِ تجربه است — نه توضیحِ تجربه.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041648"/>
            <a:ext cx="5364327" cy="1298448"/>
          </a:xfrm>
          <a:prstGeom prst="roundRect">
            <a:avLst>
              <a:gd name="adj" fmla="val 9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206240"/>
            <a:ext cx="4852263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شما یک چیز می‌خواهم</a:t>
            </a:r>
          </a:p>
          <a:p>
            <a:pPr rtl="1" algn="r">
              <a:lnSpc>
                <a:spcPct val="128000"/>
              </a:lnSpc>
              <a:spcBef>
                <a:spcPts val="800"/>
              </a:spcBef>
              <a:spcAft>
                <a:spcPts val="0"/>
              </a:spcAft>
            </a:pPr>
            <a:r>
              <a:rPr sz="17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چالش کاری واقعی و حل‌نشده را همین حالا در ذهنتان نگه دارید.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41264"/>
            <a:ext cx="11057839" cy="65836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42471" y="5541264"/>
            <a:ext cx="82296" cy="65836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541264"/>
            <a:ext cx="10436047" cy="65836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پایان جلسه، به همان چالش برمی‌گردیم.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۱۴ / ۳۲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hinking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۱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 این کار را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می‌کنیم؟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مسئله‌ای که همه می‌بینند و کسی درباره‌اش حرف نمی‌زند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silo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94000"/>
                </a:srgbClr>
              </a:gs>
              <a:gs pos="100000">
                <a:srgbClr val="1B4965">
                  <a:alpha val="86000"/>
                </a:srgbClr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1057839" cy="40233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۶۰ ثانیه فکر کنید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89888"/>
            <a:ext cx="9997135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آخرین چیزی که در کارتان یاد گرفتید،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کجا</a:t>
            </a:r>
            <a:r>
              <a:rPr sz="3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یاد گرفتید؟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3892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98484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یک کلاس یا کتاب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0410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5002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از انجام دادن و اشتباه کردن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" y="3401568"/>
            <a:ext cx="3490874" cy="1042415"/>
          </a:xfrm>
          <a:prstGeom prst="roundRect">
            <a:avLst>
              <a:gd name="adj" fmla="val 11000"/>
            </a:avLst>
          </a:prstGeom>
          <a:solidFill>
            <a:srgbClr val="FFFFFF">
              <a:alpha val="20000"/>
            </a:srgbClr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3401568"/>
            <a:ext cx="3161690" cy="1042415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از یک آدم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9997135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تقریباً همیشه، جواب یک آدم است.</a:t>
            </a:r>
          </a:p>
          <a:p>
            <a:pPr rtl="1" algn="ctr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نه یک دوره، نه یک کتاب. یک آدم.</a:t>
            </a:r>
          </a:p>
          <a:p>
            <a:pPr rtl="1"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منتورینگ گروهی یعنی این اتفاق را از «شانسی» به «برنامه‌ریزی‌شده» تبدیل کنیم.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تشخیص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مسئله ما کمبود دانش نیست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silo.jpg"/>
          <p:cNvPicPr>
            <a:picLocks noChangeAspect="1"/>
          </p:cNvPicPr>
          <p:nvPr/>
        </p:nvPicPr>
        <p:blipFill>
          <a:blip r:embed="rId2"/>
          <a:srcRect t="6602" b="6602"/>
          <a:stretch>
            <a:fillRect/>
          </a:stretch>
        </p:blipFill>
        <p:spPr>
          <a:xfrm>
            <a:off x="566928" y="1517904"/>
            <a:ext cx="4709160" cy="2724912"/>
          </a:xfrm>
          <a:prstGeom prst="round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66928" y="3675888"/>
            <a:ext cx="4709160" cy="566928"/>
          </a:xfrm>
          <a:prstGeom prst="rect">
            <a:avLst/>
          </a:prstGeom>
          <a:solidFill>
            <a:srgbClr val="0E2C4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675888"/>
            <a:ext cx="4343400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هرکس تکه‌ای می‌داند، کسی همه را نمی‌داند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89120"/>
            <a:ext cx="4709160" cy="1810512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3792" y="4389120"/>
            <a:ext cx="82296" cy="18105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590288"/>
            <a:ext cx="4206240" cy="14630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مسئله، گردش دانش است</a:t>
            </a:r>
          </a:p>
          <a:p>
            <a:pPr rtl="1" algn="r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6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همه‌چیز را بلدیم — ولی هرکس تکه‌ای از آن را می‌داند و کسی نمی‌داند چه کسی چه می‌داند.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96712" y="151790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551615" y="151790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56671" y="180136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2744" y="151790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اشتباه، چند بار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همان خطا در واحد دیگر دوباره تکرار می‌شود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6712" y="261518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51615" y="261518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56671" y="289864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261518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راه‌حل‌های موازی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دو نفر جدا از هم، ماه‌ها روی یک مسئله کار می‌کنند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96712" y="371246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51615" y="371246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856671" y="399592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371246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دانش با آدم‌ها می‌رود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با هر خداحافظی، سال‌ها تجربه از در بیرون می‌رود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6712" y="4809744"/>
            <a:ext cx="5928055" cy="1005840"/>
          </a:xfrm>
          <a:prstGeom prst="roundRect">
            <a:avLst>
              <a:gd name="adj" fmla="val 11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51615" y="4809744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56671" y="5093208"/>
            <a:ext cx="402336" cy="40233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2744" y="4809744"/>
            <a:ext cx="4812487" cy="10058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تازه‌واردهای سرگردان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شش ماه طول می‌کشد تا بفهمند از چه کسی بپرسند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۱۷ / ۳۲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آنچه پژوهش می‌گوید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بودجه آموزش، جای اشتباهی خرج می‌شود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633787" y="1903030"/>
            <a:ext cx="2836090" cy="2923700"/>
          </a:xfrm>
          <a:custGeom>
            <a:avLst/>
            <a:gdLst/>
            <a:ahLst/>
            <a:cxnLst/>
            <a:rect l="l" t="t" r="r" b="b"/>
            <a:pathLst>
              <a:path w="2836090" h="2923700">
                <a:moveTo>
                  <a:pt x="1429215" y="0"/>
                </a:moveTo>
                <a:lnTo>
                  <a:pt x="1560430" y="10970"/>
                </a:lnTo>
                <a:lnTo>
                  <a:pt x="1690128" y="33694"/>
                </a:lnTo>
                <a:lnTo>
                  <a:pt x="1817257" y="67986"/>
                </a:lnTo>
                <a:lnTo>
                  <a:pt x="1940788" y="113569"/>
                </a:lnTo>
                <a:lnTo>
                  <a:pt x="2059720" y="170074"/>
                </a:lnTo>
                <a:lnTo>
                  <a:pt x="2173091" y="237043"/>
                </a:lnTo>
                <a:lnTo>
                  <a:pt x="2279981" y="313934"/>
                </a:lnTo>
                <a:lnTo>
                  <a:pt x="2379525" y="400124"/>
                </a:lnTo>
                <a:lnTo>
                  <a:pt x="2470917" y="494915"/>
                </a:lnTo>
                <a:lnTo>
                  <a:pt x="2553416" y="597538"/>
                </a:lnTo>
                <a:lnTo>
                  <a:pt x="2626355" y="707164"/>
                </a:lnTo>
                <a:lnTo>
                  <a:pt x="2689142" y="822903"/>
                </a:lnTo>
                <a:lnTo>
                  <a:pt x="2741268" y="943819"/>
                </a:lnTo>
                <a:lnTo>
                  <a:pt x="2782312" y="1068931"/>
                </a:lnTo>
                <a:lnTo>
                  <a:pt x="2811942" y="1197227"/>
                </a:lnTo>
                <a:lnTo>
                  <a:pt x="2829916" y="1327667"/>
                </a:lnTo>
                <a:lnTo>
                  <a:pt x="2836090" y="1459195"/>
                </a:lnTo>
                <a:lnTo>
                  <a:pt x="2830413" y="1590746"/>
                </a:lnTo>
                <a:lnTo>
                  <a:pt x="2812932" y="1721253"/>
                </a:lnTo>
                <a:lnTo>
                  <a:pt x="2783788" y="1849660"/>
                </a:lnTo>
                <a:lnTo>
                  <a:pt x="2743218" y="1974927"/>
                </a:lnTo>
                <a:lnTo>
                  <a:pt x="2691549" y="2096039"/>
                </a:lnTo>
                <a:lnTo>
                  <a:pt x="2629200" y="2212014"/>
                </a:lnTo>
                <a:lnTo>
                  <a:pt x="2556677" y="2321915"/>
                </a:lnTo>
                <a:lnTo>
                  <a:pt x="2474566" y="2424850"/>
                </a:lnTo>
                <a:lnTo>
                  <a:pt x="2383533" y="2519985"/>
                </a:lnTo>
                <a:lnTo>
                  <a:pt x="2284316" y="2606551"/>
                </a:lnTo>
                <a:lnTo>
                  <a:pt x="2177717" y="2683846"/>
                </a:lnTo>
                <a:lnTo>
                  <a:pt x="2064601" y="2751243"/>
                </a:lnTo>
                <a:lnTo>
                  <a:pt x="1945883" y="2808198"/>
                </a:lnTo>
                <a:lnTo>
                  <a:pt x="1822525" y="2854248"/>
                </a:lnTo>
                <a:lnTo>
                  <a:pt x="1695527" y="2889020"/>
                </a:lnTo>
                <a:lnTo>
                  <a:pt x="1565916" y="2912234"/>
                </a:lnTo>
                <a:lnTo>
                  <a:pt x="1434743" y="2923700"/>
                </a:lnTo>
                <a:lnTo>
                  <a:pt x="1303071" y="2923327"/>
                </a:lnTo>
                <a:lnTo>
                  <a:pt x="1171966" y="2911116"/>
                </a:lnTo>
                <a:lnTo>
                  <a:pt x="1042489" y="2887168"/>
                </a:lnTo>
                <a:lnTo>
                  <a:pt x="915690" y="2851676"/>
                </a:lnTo>
                <a:lnTo>
                  <a:pt x="792595" y="2804927"/>
                </a:lnTo>
                <a:lnTo>
                  <a:pt x="674202" y="2747300"/>
                </a:lnTo>
                <a:lnTo>
                  <a:pt x="561470" y="2679262"/>
                </a:lnTo>
                <a:lnTo>
                  <a:pt x="455311" y="2601364"/>
                </a:lnTo>
                <a:lnTo>
                  <a:pt x="356586" y="2514237"/>
                </a:lnTo>
                <a:lnTo>
                  <a:pt x="266095" y="2418586"/>
                </a:lnTo>
                <a:lnTo>
                  <a:pt x="184569" y="2315187"/>
                </a:lnTo>
                <a:lnTo>
                  <a:pt x="112671" y="2204877"/>
                </a:lnTo>
                <a:lnTo>
                  <a:pt x="50981" y="2088549"/>
                </a:lnTo>
                <a:lnTo>
                  <a:pt x="0" y="1967147"/>
                </a:lnTo>
                <a:lnTo>
                  <a:pt x="549221" y="1765073"/>
                </a:lnTo>
                <a:lnTo>
                  <a:pt x="579809" y="1837914"/>
                </a:lnTo>
                <a:lnTo>
                  <a:pt x="616823" y="1907711"/>
                </a:lnTo>
                <a:lnTo>
                  <a:pt x="659963" y="1973897"/>
                </a:lnTo>
                <a:lnTo>
                  <a:pt x="708878" y="2035936"/>
                </a:lnTo>
                <a:lnTo>
                  <a:pt x="763173" y="2093327"/>
                </a:lnTo>
                <a:lnTo>
                  <a:pt x="822408" y="2145603"/>
                </a:lnTo>
                <a:lnTo>
                  <a:pt x="886103" y="2192342"/>
                </a:lnTo>
                <a:lnTo>
                  <a:pt x="953742" y="2233164"/>
                </a:lnTo>
                <a:lnTo>
                  <a:pt x="1024778" y="2267741"/>
                </a:lnTo>
                <a:lnTo>
                  <a:pt x="1098635" y="2295790"/>
                </a:lnTo>
                <a:lnTo>
                  <a:pt x="1174714" y="2317085"/>
                </a:lnTo>
                <a:lnTo>
                  <a:pt x="1252400" y="2331454"/>
                </a:lnTo>
                <a:lnTo>
                  <a:pt x="1331064" y="2338781"/>
                </a:lnTo>
                <a:lnTo>
                  <a:pt x="1410067" y="2339005"/>
                </a:lnTo>
                <a:lnTo>
                  <a:pt x="1488771" y="2332125"/>
                </a:lnTo>
                <a:lnTo>
                  <a:pt x="1566537" y="2318197"/>
                </a:lnTo>
                <a:lnTo>
                  <a:pt x="1642736" y="2297333"/>
                </a:lnTo>
                <a:lnTo>
                  <a:pt x="1716751" y="2269703"/>
                </a:lnTo>
                <a:lnTo>
                  <a:pt x="1787981" y="2235530"/>
                </a:lnTo>
                <a:lnTo>
                  <a:pt x="1855851" y="2195092"/>
                </a:lnTo>
                <a:lnTo>
                  <a:pt x="1919810" y="2148715"/>
                </a:lnTo>
                <a:lnTo>
                  <a:pt x="1979341" y="2096776"/>
                </a:lnTo>
                <a:lnTo>
                  <a:pt x="2033961" y="2039694"/>
                </a:lnTo>
                <a:lnTo>
                  <a:pt x="2083227" y="1977934"/>
                </a:lnTo>
                <a:lnTo>
                  <a:pt x="2126741" y="1911993"/>
                </a:lnTo>
                <a:lnTo>
                  <a:pt x="2164150" y="1842408"/>
                </a:lnTo>
                <a:lnTo>
                  <a:pt x="2195152" y="1769741"/>
                </a:lnTo>
                <a:lnTo>
                  <a:pt x="2219494" y="1694581"/>
                </a:lnTo>
                <a:lnTo>
                  <a:pt x="2236980" y="1617536"/>
                </a:lnTo>
                <a:lnTo>
                  <a:pt x="2247469" y="1539232"/>
                </a:lnTo>
                <a:lnTo>
                  <a:pt x="2250875" y="1460302"/>
                </a:lnTo>
                <a:lnTo>
                  <a:pt x="2247171" y="1381385"/>
                </a:lnTo>
                <a:lnTo>
                  <a:pt x="2236386" y="1303121"/>
                </a:lnTo>
                <a:lnTo>
                  <a:pt x="2218608" y="1226143"/>
                </a:lnTo>
                <a:lnTo>
                  <a:pt x="2193982" y="1151076"/>
                </a:lnTo>
                <a:lnTo>
                  <a:pt x="2162706" y="1078526"/>
                </a:lnTo>
                <a:lnTo>
                  <a:pt x="2125034" y="1009083"/>
                </a:lnTo>
                <a:lnTo>
                  <a:pt x="2081271" y="943308"/>
                </a:lnTo>
                <a:lnTo>
                  <a:pt x="2031771" y="881733"/>
                </a:lnTo>
                <a:lnTo>
                  <a:pt x="1976936" y="824859"/>
                </a:lnTo>
                <a:lnTo>
                  <a:pt x="1917210" y="773145"/>
                </a:lnTo>
                <a:lnTo>
                  <a:pt x="1853075" y="727011"/>
                </a:lnTo>
                <a:lnTo>
                  <a:pt x="1785053" y="686829"/>
                </a:lnTo>
                <a:lnTo>
                  <a:pt x="1713694" y="652926"/>
                </a:lnTo>
                <a:lnTo>
                  <a:pt x="1639575" y="625576"/>
                </a:lnTo>
                <a:lnTo>
                  <a:pt x="1563298" y="605001"/>
                </a:lnTo>
                <a:lnTo>
                  <a:pt x="1485479" y="591367"/>
                </a:lnTo>
                <a:lnTo>
                  <a:pt x="1406750" y="584785"/>
                </a:lnTo>
                <a:close/>
              </a:path>
            </a:pathLst>
          </a:cu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415807" y="2114649"/>
            <a:ext cx="1008596" cy="1683556"/>
          </a:xfrm>
          <a:custGeom>
            <a:avLst/>
            <a:gdLst/>
            <a:ahLst/>
            <a:cxnLst/>
            <a:rect l="l" t="t" r="r" b="b"/>
            <a:pathLst>
              <a:path w="1008596" h="1683556">
                <a:moveTo>
                  <a:pt x="60090" y="1683556"/>
                </a:moveTo>
                <a:lnTo>
                  <a:pt x="49905" y="1645798"/>
                </a:lnTo>
                <a:lnTo>
                  <a:pt x="40651" y="1607801"/>
                </a:lnTo>
                <a:lnTo>
                  <a:pt x="32334" y="1569589"/>
                </a:lnTo>
                <a:lnTo>
                  <a:pt x="24959" y="1531183"/>
                </a:lnTo>
                <a:lnTo>
                  <a:pt x="18529" y="1492608"/>
                </a:lnTo>
                <a:lnTo>
                  <a:pt x="13050" y="1453887"/>
                </a:lnTo>
                <a:lnTo>
                  <a:pt x="8524" y="1415042"/>
                </a:lnTo>
                <a:lnTo>
                  <a:pt x="4954" y="1376098"/>
                </a:lnTo>
                <a:lnTo>
                  <a:pt x="2342" y="1337078"/>
                </a:lnTo>
                <a:lnTo>
                  <a:pt x="691" y="1298006"/>
                </a:lnTo>
                <a:lnTo>
                  <a:pt x="0" y="1258905"/>
                </a:lnTo>
                <a:lnTo>
                  <a:pt x="270" y="1219798"/>
                </a:lnTo>
                <a:lnTo>
                  <a:pt x="1501" y="1180710"/>
                </a:lnTo>
                <a:lnTo>
                  <a:pt x="3692" y="1141665"/>
                </a:lnTo>
                <a:lnTo>
                  <a:pt x="6843" y="1102684"/>
                </a:lnTo>
                <a:lnTo>
                  <a:pt x="10951" y="1063794"/>
                </a:lnTo>
                <a:lnTo>
                  <a:pt x="16013" y="1025015"/>
                </a:lnTo>
                <a:lnTo>
                  <a:pt x="22027" y="986373"/>
                </a:lnTo>
                <a:lnTo>
                  <a:pt x="28988" y="947891"/>
                </a:lnTo>
                <a:lnTo>
                  <a:pt x="36894" y="909591"/>
                </a:lnTo>
                <a:lnTo>
                  <a:pt x="45738" y="871497"/>
                </a:lnTo>
                <a:lnTo>
                  <a:pt x="55516" y="833631"/>
                </a:lnTo>
                <a:lnTo>
                  <a:pt x="66222" y="796018"/>
                </a:lnTo>
                <a:lnTo>
                  <a:pt x="77848" y="758679"/>
                </a:lnTo>
                <a:lnTo>
                  <a:pt x="90389" y="721637"/>
                </a:lnTo>
                <a:lnTo>
                  <a:pt x="103837" y="684915"/>
                </a:lnTo>
                <a:lnTo>
                  <a:pt x="118183" y="648534"/>
                </a:lnTo>
                <a:lnTo>
                  <a:pt x="133419" y="612517"/>
                </a:lnTo>
                <a:lnTo>
                  <a:pt x="149535" y="576885"/>
                </a:lnTo>
                <a:lnTo>
                  <a:pt x="166523" y="541660"/>
                </a:lnTo>
                <a:lnTo>
                  <a:pt x="184371" y="506863"/>
                </a:lnTo>
                <a:lnTo>
                  <a:pt x="203069" y="472515"/>
                </a:lnTo>
                <a:lnTo>
                  <a:pt x="222605" y="438637"/>
                </a:lnTo>
                <a:lnTo>
                  <a:pt x="242968" y="405250"/>
                </a:lnTo>
                <a:lnTo>
                  <a:pt x="264146" y="372373"/>
                </a:lnTo>
                <a:lnTo>
                  <a:pt x="286125" y="340026"/>
                </a:lnTo>
                <a:lnTo>
                  <a:pt x="308892" y="308230"/>
                </a:lnTo>
                <a:lnTo>
                  <a:pt x="332435" y="277003"/>
                </a:lnTo>
                <a:lnTo>
                  <a:pt x="356737" y="246363"/>
                </a:lnTo>
                <a:lnTo>
                  <a:pt x="381785" y="216331"/>
                </a:lnTo>
                <a:lnTo>
                  <a:pt x="407564" y="186923"/>
                </a:lnTo>
                <a:lnTo>
                  <a:pt x="434058" y="158157"/>
                </a:lnTo>
                <a:lnTo>
                  <a:pt x="461251" y="130051"/>
                </a:lnTo>
                <a:lnTo>
                  <a:pt x="489126" y="102622"/>
                </a:lnTo>
                <a:lnTo>
                  <a:pt x="517667" y="75887"/>
                </a:lnTo>
                <a:lnTo>
                  <a:pt x="546857" y="49861"/>
                </a:lnTo>
                <a:lnTo>
                  <a:pt x="576677" y="24560"/>
                </a:lnTo>
                <a:lnTo>
                  <a:pt x="607110" y="0"/>
                </a:lnTo>
                <a:lnTo>
                  <a:pt x="1008596" y="510197"/>
                </a:lnTo>
                <a:lnTo>
                  <a:pt x="990581" y="524736"/>
                </a:lnTo>
                <a:lnTo>
                  <a:pt x="972928" y="539713"/>
                </a:lnTo>
                <a:lnTo>
                  <a:pt x="955650" y="555119"/>
                </a:lnTo>
                <a:lnTo>
                  <a:pt x="938755" y="570945"/>
                </a:lnTo>
                <a:lnTo>
                  <a:pt x="922254" y="587182"/>
                </a:lnTo>
                <a:lnTo>
                  <a:pt x="906157" y="603819"/>
                </a:lnTo>
                <a:lnTo>
                  <a:pt x="890474" y="620847"/>
                </a:lnTo>
                <a:lnTo>
                  <a:pt x="875214" y="638255"/>
                </a:lnTo>
                <a:lnTo>
                  <a:pt x="860386" y="656033"/>
                </a:lnTo>
                <a:lnTo>
                  <a:pt x="846000" y="674170"/>
                </a:lnTo>
                <a:lnTo>
                  <a:pt x="832065" y="692655"/>
                </a:lnTo>
                <a:lnTo>
                  <a:pt x="818587" y="711477"/>
                </a:lnTo>
                <a:lnTo>
                  <a:pt x="805577" y="730625"/>
                </a:lnTo>
                <a:lnTo>
                  <a:pt x="793040" y="750086"/>
                </a:lnTo>
                <a:lnTo>
                  <a:pt x="780986" y="769850"/>
                </a:lnTo>
                <a:lnTo>
                  <a:pt x="769422" y="789904"/>
                </a:lnTo>
                <a:lnTo>
                  <a:pt x="758353" y="810237"/>
                </a:lnTo>
                <a:lnTo>
                  <a:pt x="747788" y="830835"/>
                </a:lnTo>
                <a:lnTo>
                  <a:pt x="737733" y="851686"/>
                </a:lnTo>
                <a:lnTo>
                  <a:pt x="728192" y="872779"/>
                </a:lnTo>
                <a:lnTo>
                  <a:pt x="719173" y="894100"/>
                </a:lnTo>
                <a:lnTo>
                  <a:pt x="710681" y="915635"/>
                </a:lnTo>
                <a:lnTo>
                  <a:pt x="702721" y="937373"/>
                </a:lnTo>
                <a:lnTo>
                  <a:pt x="695297" y="959300"/>
                </a:lnTo>
                <a:lnTo>
                  <a:pt x="688415" y="981403"/>
                </a:lnTo>
                <a:lnTo>
                  <a:pt x="682077" y="1003669"/>
                </a:lnTo>
                <a:lnTo>
                  <a:pt x="676289" y="1026083"/>
                </a:lnTo>
                <a:lnTo>
                  <a:pt x="671054" y="1048633"/>
                </a:lnTo>
                <a:lnTo>
                  <a:pt x="666374" y="1071305"/>
                </a:lnTo>
                <a:lnTo>
                  <a:pt x="662253" y="1094085"/>
                </a:lnTo>
                <a:lnTo>
                  <a:pt x="658693" y="1116959"/>
                </a:lnTo>
                <a:lnTo>
                  <a:pt x="655697" y="1139914"/>
                </a:lnTo>
                <a:lnTo>
                  <a:pt x="653265" y="1162936"/>
                </a:lnTo>
                <a:lnTo>
                  <a:pt x="651400" y="1186010"/>
                </a:lnTo>
                <a:lnTo>
                  <a:pt x="650103" y="1209124"/>
                </a:lnTo>
                <a:lnTo>
                  <a:pt x="649374" y="1232262"/>
                </a:lnTo>
                <a:lnTo>
                  <a:pt x="649214" y="1255411"/>
                </a:lnTo>
                <a:lnTo>
                  <a:pt x="649623" y="1278557"/>
                </a:lnTo>
                <a:lnTo>
                  <a:pt x="650601" y="1301686"/>
                </a:lnTo>
                <a:lnTo>
                  <a:pt x="652147" y="1324784"/>
                </a:lnTo>
                <a:lnTo>
                  <a:pt x="654260" y="1347837"/>
                </a:lnTo>
                <a:lnTo>
                  <a:pt x="656939" y="1370831"/>
                </a:lnTo>
                <a:lnTo>
                  <a:pt x="660183" y="1393753"/>
                </a:lnTo>
                <a:lnTo>
                  <a:pt x="663989" y="1416587"/>
                </a:lnTo>
                <a:lnTo>
                  <a:pt x="668355" y="1439322"/>
                </a:lnTo>
                <a:lnTo>
                  <a:pt x="673278" y="1461942"/>
                </a:lnTo>
                <a:lnTo>
                  <a:pt x="678756" y="1484434"/>
                </a:lnTo>
                <a:lnTo>
                  <a:pt x="684785" y="1506785"/>
                </a:lnTo>
                <a:close/>
              </a:path>
            </a:pathLst>
          </a:cu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192957" y="1903030"/>
            <a:ext cx="780185" cy="732503"/>
          </a:xfrm>
          <a:custGeom>
            <a:avLst/>
            <a:gdLst/>
            <a:ahLst/>
            <a:cxnLst/>
            <a:rect l="l" t="t" r="r" b="b"/>
            <a:pathLst>
              <a:path w="780185" h="732503">
                <a:moveTo>
                  <a:pt x="0" y="246198"/>
                </a:moveTo>
                <a:lnTo>
                  <a:pt x="14022" y="236927"/>
                </a:lnTo>
                <a:lnTo>
                  <a:pt x="28151" y="227817"/>
                </a:lnTo>
                <a:lnTo>
                  <a:pt x="42383" y="218871"/>
                </a:lnTo>
                <a:lnTo>
                  <a:pt x="56716" y="210089"/>
                </a:lnTo>
                <a:lnTo>
                  <a:pt x="71150" y="201472"/>
                </a:lnTo>
                <a:lnTo>
                  <a:pt x="85682" y="193021"/>
                </a:lnTo>
                <a:lnTo>
                  <a:pt x="100310" y="184738"/>
                </a:lnTo>
                <a:lnTo>
                  <a:pt x="115032" y="176623"/>
                </a:lnTo>
                <a:lnTo>
                  <a:pt x="129847" y="168678"/>
                </a:lnTo>
                <a:lnTo>
                  <a:pt x="144751" y="160904"/>
                </a:lnTo>
                <a:lnTo>
                  <a:pt x="159745" y="153302"/>
                </a:lnTo>
                <a:lnTo>
                  <a:pt x="174824" y="145872"/>
                </a:lnTo>
                <a:lnTo>
                  <a:pt x="189988" y="138617"/>
                </a:lnTo>
                <a:lnTo>
                  <a:pt x="205234" y="131536"/>
                </a:lnTo>
                <a:lnTo>
                  <a:pt x="220561" y="124630"/>
                </a:lnTo>
                <a:lnTo>
                  <a:pt x="235965" y="117901"/>
                </a:lnTo>
                <a:lnTo>
                  <a:pt x="251447" y="111350"/>
                </a:lnTo>
                <a:lnTo>
                  <a:pt x="267002" y="104977"/>
                </a:lnTo>
                <a:lnTo>
                  <a:pt x="282630" y="98783"/>
                </a:lnTo>
                <a:lnTo>
                  <a:pt x="298327" y="92769"/>
                </a:lnTo>
                <a:lnTo>
                  <a:pt x="314093" y="86935"/>
                </a:lnTo>
                <a:lnTo>
                  <a:pt x="329925" y="81284"/>
                </a:lnTo>
                <a:lnTo>
                  <a:pt x="345821" y="75814"/>
                </a:lnTo>
                <a:lnTo>
                  <a:pt x="361778" y="70528"/>
                </a:lnTo>
                <a:lnTo>
                  <a:pt x="377795" y="65425"/>
                </a:lnTo>
                <a:lnTo>
                  <a:pt x="393870" y="60507"/>
                </a:lnTo>
                <a:lnTo>
                  <a:pt x="410000" y="55773"/>
                </a:lnTo>
                <a:lnTo>
                  <a:pt x="426184" y="51226"/>
                </a:lnTo>
                <a:lnTo>
                  <a:pt x="442419" y="46864"/>
                </a:lnTo>
                <a:lnTo>
                  <a:pt x="458702" y="42689"/>
                </a:lnTo>
                <a:lnTo>
                  <a:pt x="475033" y="38702"/>
                </a:lnTo>
                <a:lnTo>
                  <a:pt x="491408" y="34903"/>
                </a:lnTo>
                <a:lnTo>
                  <a:pt x="507826" y="31292"/>
                </a:lnTo>
                <a:lnTo>
                  <a:pt x="524285" y="27870"/>
                </a:lnTo>
                <a:lnTo>
                  <a:pt x="540781" y="24637"/>
                </a:lnTo>
                <a:lnTo>
                  <a:pt x="557314" y="21594"/>
                </a:lnTo>
                <a:lnTo>
                  <a:pt x="573880" y="18741"/>
                </a:lnTo>
                <a:lnTo>
                  <a:pt x="590479" y="16079"/>
                </a:lnTo>
                <a:lnTo>
                  <a:pt x="607106" y="13607"/>
                </a:lnTo>
                <a:lnTo>
                  <a:pt x="623761" y="11327"/>
                </a:lnTo>
                <a:lnTo>
                  <a:pt x="640441" y="9238"/>
                </a:lnTo>
                <a:lnTo>
                  <a:pt x="657144" y="7342"/>
                </a:lnTo>
                <a:lnTo>
                  <a:pt x="673868" y="5637"/>
                </a:lnTo>
                <a:lnTo>
                  <a:pt x="690610" y="4124"/>
                </a:lnTo>
                <a:lnTo>
                  <a:pt x="707369" y="2804"/>
                </a:lnTo>
                <a:lnTo>
                  <a:pt x="724141" y="1676"/>
                </a:lnTo>
                <a:lnTo>
                  <a:pt x="740926" y="742"/>
                </a:lnTo>
                <a:lnTo>
                  <a:pt x="757720" y="0"/>
                </a:lnTo>
                <a:lnTo>
                  <a:pt x="780185" y="584785"/>
                </a:lnTo>
                <a:lnTo>
                  <a:pt x="770108" y="585230"/>
                </a:lnTo>
                <a:lnTo>
                  <a:pt x="760038" y="585790"/>
                </a:lnTo>
                <a:lnTo>
                  <a:pt x="749974" y="586467"/>
                </a:lnTo>
                <a:lnTo>
                  <a:pt x="739919" y="587259"/>
                </a:lnTo>
                <a:lnTo>
                  <a:pt x="729874" y="588167"/>
                </a:lnTo>
                <a:lnTo>
                  <a:pt x="719840" y="589190"/>
                </a:lnTo>
                <a:lnTo>
                  <a:pt x="709818" y="590328"/>
                </a:lnTo>
                <a:lnTo>
                  <a:pt x="699810" y="591581"/>
                </a:lnTo>
                <a:lnTo>
                  <a:pt x="689817" y="592949"/>
                </a:lnTo>
                <a:lnTo>
                  <a:pt x="679840" y="594432"/>
                </a:lnTo>
                <a:lnTo>
                  <a:pt x="669881" y="596029"/>
                </a:lnTo>
                <a:lnTo>
                  <a:pt x="659941" y="597741"/>
                </a:lnTo>
                <a:lnTo>
                  <a:pt x="650022" y="599567"/>
                </a:lnTo>
                <a:lnTo>
                  <a:pt x="640124" y="601506"/>
                </a:lnTo>
                <a:lnTo>
                  <a:pt x="630249" y="603560"/>
                </a:lnTo>
                <a:lnTo>
                  <a:pt x="620398" y="605726"/>
                </a:lnTo>
                <a:lnTo>
                  <a:pt x="610573" y="608006"/>
                </a:lnTo>
                <a:lnTo>
                  <a:pt x="600774" y="610398"/>
                </a:lnTo>
                <a:lnTo>
                  <a:pt x="591004" y="612903"/>
                </a:lnTo>
                <a:lnTo>
                  <a:pt x="581263" y="615520"/>
                </a:lnTo>
                <a:lnTo>
                  <a:pt x="571553" y="618249"/>
                </a:lnTo>
                <a:lnTo>
                  <a:pt x="561875" y="621089"/>
                </a:lnTo>
                <a:lnTo>
                  <a:pt x="552230" y="624040"/>
                </a:lnTo>
                <a:lnTo>
                  <a:pt x="542620" y="627101"/>
                </a:lnTo>
                <a:lnTo>
                  <a:pt x="533045" y="630273"/>
                </a:lnTo>
                <a:lnTo>
                  <a:pt x="523508" y="633555"/>
                </a:lnTo>
                <a:lnTo>
                  <a:pt x="514009" y="636946"/>
                </a:lnTo>
                <a:lnTo>
                  <a:pt x="504549" y="640446"/>
                </a:lnTo>
                <a:lnTo>
                  <a:pt x="495131" y="644054"/>
                </a:lnTo>
                <a:lnTo>
                  <a:pt x="485754" y="647771"/>
                </a:lnTo>
                <a:lnTo>
                  <a:pt x="476421" y="651594"/>
                </a:lnTo>
                <a:lnTo>
                  <a:pt x="467132" y="655525"/>
                </a:lnTo>
                <a:lnTo>
                  <a:pt x="457889" y="659563"/>
                </a:lnTo>
                <a:lnTo>
                  <a:pt x="448693" y="663706"/>
                </a:lnTo>
                <a:lnTo>
                  <a:pt x="439546" y="667955"/>
                </a:lnTo>
                <a:lnTo>
                  <a:pt x="430447" y="672308"/>
                </a:lnTo>
                <a:lnTo>
                  <a:pt x="421400" y="676766"/>
                </a:lnTo>
                <a:lnTo>
                  <a:pt x="412404" y="681327"/>
                </a:lnTo>
                <a:lnTo>
                  <a:pt x="403461" y="685992"/>
                </a:lnTo>
                <a:lnTo>
                  <a:pt x="394572" y="690759"/>
                </a:lnTo>
                <a:lnTo>
                  <a:pt x="385739" y="695627"/>
                </a:lnTo>
                <a:lnTo>
                  <a:pt x="376962" y="700597"/>
                </a:lnTo>
                <a:lnTo>
                  <a:pt x="368243" y="705668"/>
                </a:lnTo>
                <a:lnTo>
                  <a:pt x="359583" y="710838"/>
                </a:lnTo>
                <a:lnTo>
                  <a:pt x="350983" y="716107"/>
                </a:lnTo>
                <a:lnTo>
                  <a:pt x="342443" y="721475"/>
                </a:lnTo>
                <a:lnTo>
                  <a:pt x="333966" y="726941"/>
                </a:lnTo>
                <a:lnTo>
                  <a:pt x="325553" y="732503"/>
                </a:lnTo>
                <a:close/>
              </a:path>
            </a:pathLst>
          </a:cu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907792"/>
            <a:ext cx="1828800" cy="91440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۷۰-۲۰-۱۰</a:t>
            </a:r>
          </a:p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مدل یادگیری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193792"/>
            <a:ext cx="3657600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مرجع: مؤسسه CCL آمریکا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536192"/>
            <a:ext cx="6812280" cy="749808"/>
          </a:xfrm>
          <a:prstGeom prst="roundRect">
            <a:avLst>
              <a:gd name="adj" fmla="val 12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6912" y="1536192"/>
            <a:ext cx="82296" cy="74980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16168" y="1536192"/>
            <a:ext cx="12801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۷۰٪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536192"/>
            <a:ext cx="4965192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انجام کار واقعی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2414016"/>
            <a:ext cx="6812280" cy="896112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414016"/>
            <a:ext cx="82296" cy="89611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16168" y="2414016"/>
            <a:ext cx="1280160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۲۰٪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414016"/>
            <a:ext cx="4965192" cy="89611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از تعامل با آدم‌های دیگر</a:t>
            </a: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← اینجا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438144"/>
            <a:ext cx="6812280" cy="749808"/>
          </a:xfrm>
          <a:prstGeom prst="roundRect">
            <a:avLst>
              <a:gd name="adj" fmla="val 12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6912" y="3438144"/>
            <a:ext cx="82296" cy="7498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16168" y="3438144"/>
            <a:ext cx="1280160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۱۰٪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38144"/>
            <a:ext cx="4965192" cy="7498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از کلاس و کتاب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443984"/>
            <a:ext cx="6812280" cy="15727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90288"/>
            <a:ext cx="6300216" cy="3474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و بودجه آموزشی ما کجا خرج می‌شود؟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029200"/>
            <a:ext cx="6300216" cy="365760"/>
          </a:xfrm>
          <a:prstGeom prst="roundRect">
            <a:avLst>
              <a:gd name="adj" fmla="val 30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52981" y="5029200"/>
            <a:ext cx="5670194" cy="365760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52981" y="5029200"/>
            <a:ext cx="5670194" cy="3657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۹۰٪ روی کلاس و دوره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04688"/>
            <a:ext cx="6300216" cy="38404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یعنی </a:t>
            </a:r>
            <a:r>
              <a:rPr sz="15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۹۰٪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بودجه، روی </a:t>
            </a:r>
            <a:r>
              <a:rPr sz="15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۱۰٪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یادگیری. منتورینگ گروهی سراغ آن </a:t>
            </a:r>
            <a:r>
              <a:rPr sz="15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۲۰٪ رهاشده</a:t>
            </a: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 می‌رود.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۱۸ / ۳۲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ircle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۲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روش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تعریف، مرزها، و نقش‌هایی که در اتاق وجود دارد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تعریف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منتورینگ گروهی، در یک جمله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1499616"/>
            <a:ext cx="11057839" cy="142646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1499616"/>
            <a:ext cx="91440" cy="14264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1499616"/>
            <a:ext cx="10399471" cy="142646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گروهی کوچک از همکاران که </a:t>
            </a:r>
            <a:r>
              <a:rPr sz="2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مرتب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دور هم جمع می‌شوند تا روی </a:t>
            </a:r>
            <a:r>
              <a:rPr sz="25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چالش‌های واقعی کاری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 یکدیگر فکر کنند — با </a:t>
            </a:r>
            <a:r>
              <a:rPr sz="250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پرسش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با </a:t>
            </a:r>
            <a:r>
              <a:rPr sz="250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نسخه‌پیچی</a:t>
            </a:r>
            <a:r>
              <a:rPr sz="250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604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6047" y="3200400"/>
            <a:ext cx="2558719" cy="64008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406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۸ تا ۱۲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نفر در هر گروه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3007" y="3200400"/>
            <a:ext cx="2558719" cy="64008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102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۹۰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دقیقه در هر جلسه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99967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99967" y="3200400"/>
            <a:ext cx="2558719" cy="64008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7983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2B6CB"/>
                </a:solidFill>
                <a:latin typeface="IRANSans"/>
                <a:cs typeface="IRANSans"/>
                <a:ea typeface="IRANSans"/>
              </a:rPr>
              <a:t>هر ۲ هفته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یک بار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200400"/>
            <a:ext cx="2558719" cy="1170432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200400"/>
            <a:ext cx="2558719" cy="6400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200400"/>
            <a:ext cx="2302687" cy="117043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۶ ماه</a:t>
            </a:r>
          </a:p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طول یک دوره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51295" y="4626864"/>
            <a:ext cx="5373471" cy="1133856"/>
          </a:xfrm>
          <a:prstGeom prst="roundRect">
            <a:avLst>
              <a:gd name="adj" fmla="val 11000"/>
            </a:avLst>
          </a:prstGeom>
          <a:solidFill>
            <a:srgbClr val="EC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143439" y="4892040"/>
            <a:ext cx="1280160" cy="585216"/>
          </a:xfrm>
          <a:prstGeom prst="roundRect">
            <a:avLst>
              <a:gd name="adj" fmla="val 26000"/>
            </a:avLst>
          </a:prstGeom>
          <a:solidFill>
            <a:srgbClr val="5A6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 ← 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7327" y="4626864"/>
            <a:ext cx="3526383" cy="11338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کلاسیک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نفر می‌داند، یک نفر یاد می‌گیرد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626864"/>
            <a:ext cx="5373471" cy="1133856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59071" y="4892040"/>
            <a:ext cx="1280160" cy="585216"/>
          </a:xfrm>
          <a:prstGeom prst="roundRect">
            <a:avLst>
              <a:gd name="adj" fmla="val 26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همه ⇄ همه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626864"/>
            <a:ext cx="3526383" cy="113385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همه می‌دانند، همه یاد می‌گیرند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۲۰ / ۳۲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مرزبندی — تا انتظار اشتباه شکل نگیرد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هست، چه چیزی نیست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499616"/>
            <a:ext cx="5346039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8727" y="1499616"/>
            <a:ext cx="5346039" cy="548640"/>
          </a:xfrm>
          <a:prstGeom prst="roundRect">
            <a:avLst>
              <a:gd name="adj" fmla="val 12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1901952"/>
            <a:ext cx="5346039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727" y="1499616"/>
            <a:ext cx="53460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✓   </a:t>
            </a: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97599" y="2139696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139696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فضای فکر کردن با هم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مسئله‌ای که واقعاً درگیرش هستید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2816352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یادگیری از تجربه همکار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که مسیر شما را رفته است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97599" y="3493008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3493008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تمرین پرسیدن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مهارتی که در جلسات کاری هم به کار می‌آید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4169664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تعهد به یک اقدام کوچک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جلسه، یک قدم مشخص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97599" y="4846320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4846320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محرمانه و داوطلبانه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هیچ‌کس اجباری نیست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1499616"/>
            <a:ext cx="5346039" cy="4114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1499616"/>
            <a:ext cx="5346039" cy="54864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1901952"/>
            <a:ext cx="5346039" cy="14630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1499616"/>
            <a:ext cx="5346039" cy="54864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✕   </a:t>
            </a:r>
            <a:r>
              <a:rPr sz="22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نیست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2139696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2139696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کلاس آموزشی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کسی قرار نیست تدریس کند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2816352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گزارش‌دهی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هیچ صورت‌جلسه‌ای به بالا نمی‌رود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493008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3493008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ارزیابی عملکرد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روی پرونده پرسنلی شما اثری ندارد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169664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جلسه شکایت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درباره مسئله حرف می‌زنیم، نه درباره آدم‌ها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846320"/>
            <a:ext cx="5108295" cy="621792"/>
          </a:xfrm>
          <a:prstGeom prst="roundRect">
            <a:avLst>
              <a:gd name="adj" fmla="val 14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846320"/>
            <a:ext cx="4797399" cy="62179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✕  </a:t>
            </a:r>
            <a:r>
              <a:rPr sz="18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جای نصیحت کردن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قدیمی‌ترها هم اینجا فقط می‌پرسند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۲۱ / ۳۲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نقش‌ها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در اتاق، سه نقش وجود دارد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3892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3892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3892" y="2304288"/>
            <a:ext cx="3490874" cy="14630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84687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صاحب چالش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نفر، داوطلب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348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 واقعی‌اش را روایت می‌کند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فقط گوش می‌دهد و یادداشت برمی‌دارد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348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در پایان تصمیم می‌گیرد چه کند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50410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50410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50410" y="2304288"/>
            <a:ext cx="3490874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01204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1578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گروه همتا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۷ تا ۱۱ نفر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9866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سؤال می‌پرسند، راه‌حل نمی‌دهند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9866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تجربه مشابه خود را روایت می‌کنند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9866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قضاوت نمی‌کنند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7" y="1499616"/>
            <a:ext cx="3490874" cy="31821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7" y="1499616"/>
            <a:ext cx="3490874" cy="950976"/>
          </a:xfrm>
          <a:prstGeom prst="roundRect">
            <a:avLst>
              <a:gd name="adj" fmla="val 1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7" y="2304288"/>
            <a:ext cx="3490874" cy="146304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417722" y="1764792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5" y="1609344"/>
            <a:ext cx="2558186" cy="73152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تسهیل‌گر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چرخشی، هر جلسه یک نفر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3" y="2615184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زمان را نگه می‌دارد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3" y="3273552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قواعد را یادآوری می‌کند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3" y="3931920"/>
            <a:ext cx="3051962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5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خودش کمترین حرف را می‌زند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956048"/>
            <a:ext cx="11057839" cy="93268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42471" y="4956048"/>
            <a:ext cx="82296" cy="93268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956048"/>
            <a:ext cx="10436047" cy="9326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نکته‌ای که همه‌چیز را عوض می‌کند:   </a:t>
            </a:r>
            <a:r>
              <a:rPr sz="19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هفته بعد، صاحب چالش یک نفر دیگر است. امروز کمک می‌گیرید، دفعه بعد کمک می‌کنید.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۲۲ / ۳۲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kickoff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 اجرا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می‌شود؟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جلسه واقعی، دقیقه به دقیقه — و مهارتی که باید یاد بگیریم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آناتومی ۹۰ دقیقه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یک جلسه واقعی چطور پیش می‌رود؟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6118" y="1499616"/>
            <a:ext cx="1196644" cy="34747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96118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67469" y="1499616"/>
            <a:ext cx="1196644" cy="347472"/>
          </a:xfrm>
          <a:prstGeom prst="rect">
            <a:avLst/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7469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8820" y="1499616"/>
            <a:ext cx="1196644" cy="347472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8820" y="1499616"/>
            <a:ext cx="1228648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1523" y="1499616"/>
            <a:ext cx="2425293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1523" y="1499616"/>
            <a:ext cx="2457297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24225" y="1499616"/>
            <a:ext cx="2425293" cy="34747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4225" y="1499616"/>
            <a:ext cx="2457297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1252" y="1499616"/>
            <a:ext cx="1810969" cy="34747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1252" y="1499616"/>
            <a:ext cx="1842973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7" y="1499616"/>
            <a:ext cx="582320" cy="347472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7" y="1499616"/>
            <a:ext cx="614324" cy="3474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029968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90911" y="207568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8487" y="202996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باز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202996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جمله: این هفته چطور بود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90911" y="256489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62B6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8487" y="251917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مرور تعهدها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251917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جلسه قبل چه قول دادیم و چه شد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008376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490911" y="3054096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8487" y="3008376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روایت چالش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3008376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داوطلب مسئله‌اش را می‌گوید، بدون قطع شدن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90911" y="3543300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8487" y="3497580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فقط سؤال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3497580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فقط می‌پرسد — هیچ راه‌حلی ممنوع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3986784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490911" y="4032504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۲۰′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8487" y="3986784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تجربه‌های مشابه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8" y="3986784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«من هم یک بار…» — روایت، نه دستور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90911" y="4521708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۱۵′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8487" y="4475988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انتخاب و تعهد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4475988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صاحب چالش می‌گوید چه می‌کند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965192"/>
            <a:ext cx="11057839" cy="452628"/>
          </a:xfrm>
          <a:prstGeom prst="roundRect">
            <a:avLst>
              <a:gd name="adj" fmla="val 20000"/>
            </a:avLst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490911" y="5010912"/>
            <a:ext cx="987552" cy="3611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8487" y="4965192"/>
            <a:ext cx="320040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دایره بسته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4965192"/>
            <a:ext cx="6949440" cy="4526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هر نفر یک کلمه: چه چیزی با خود می‌برد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541264"/>
            <a:ext cx="11057839" cy="603504"/>
          </a:xfrm>
          <a:prstGeom prst="roundRect">
            <a:avLst>
              <a:gd name="adj" fmla="val 13000"/>
            </a:avLst>
          </a:prstGeom>
          <a:solidFill>
            <a:srgbClr val="FFF3EC"/>
          </a:solidFill>
          <a:ln w="22225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5541264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۴۰ دقیقه از ۹۰ دقیقه — یعنی نیمی از جلسه — </a:t>
            </a:r>
            <a:r>
              <a:rPr sz="18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فقط سؤال و روایت است</a:t>
            </a:r>
            <a:r>
              <a:rPr sz="17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، نه راه‌حل.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۲۴ / ۳۲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مهارت کلیدی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قلب روش: به‌جای نصیحت، بپرس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2-listen.jpg"/>
          <p:cNvPicPr>
            <a:picLocks noChangeAspect="1"/>
          </p:cNvPicPr>
          <p:nvPr/>
        </p:nvPicPr>
        <p:blipFill>
          <a:blip r:embed="rId2"/>
          <a:srcRect l="1058" r="1058"/>
          <a:stretch>
            <a:fillRect/>
          </a:stretch>
        </p:blipFill>
        <p:spPr>
          <a:xfrm>
            <a:off x="566928" y="1499616"/>
            <a:ext cx="3383280" cy="2304288"/>
          </a:xfrm>
          <a:prstGeom prst="round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66928" y="3950208"/>
            <a:ext cx="3383280" cy="2249424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67912" y="3950208"/>
            <a:ext cx="82296" cy="224942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151376"/>
            <a:ext cx="2907792" cy="1874519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نصیحت جواب نمی‌دهد؟</a:t>
            </a:r>
          </a:p>
          <a:p>
            <a:pPr rtl="1" algn="r">
              <a:lnSpc>
                <a:spcPct val="128000"/>
              </a:lnSpc>
              <a:spcBef>
                <a:spcPts val="9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چون شما تمام جزئیات مسئله او را نمی‌دانید.</a:t>
            </a:r>
          </a:p>
          <a:p>
            <a:pPr rtl="1" algn="r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</a:pPr>
            <a:r>
              <a:rPr sz="16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ولی یک سؤال خوب، خودِ او را به جوابی می‌رساند که خودش اجرایش می‌کند.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5815" y="1499616"/>
            <a:ext cx="3498951" cy="475488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5815" y="1499616"/>
            <a:ext cx="3498951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به‌جای این…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1499616"/>
            <a:ext cx="3498951" cy="475488"/>
          </a:xfrm>
          <a:prstGeom prst="roundRect">
            <a:avLst>
              <a:gd name="adj" fmla="val 18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52544" y="1499616"/>
            <a:ext cx="3498951" cy="47548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این را بگویید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5815" y="212140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0407" y="212140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«جای تو بودم فلان کار را می‌کردم.»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212140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212140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«خودت چه گزینه‌هایی را سنجیدی؟»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5815" y="316382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0407" y="316382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«این روش اشتباه است.»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316382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316382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«اگر جواب ندهد، بدترین اتفاق چیست؟»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5815" y="420623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0407" y="420623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«ما همیشه اینجوری کردیم.»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2544" y="4206238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206238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«چه چیزی این مسئله را برایت سخت کرده؟»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5815" y="524865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0407" y="524865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«نگران نباش، درست می‌شود.»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5248653"/>
            <a:ext cx="3498951" cy="914399"/>
          </a:xfrm>
          <a:prstGeom prst="roundRect">
            <a:avLst>
              <a:gd name="adj" fmla="val 13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5248653"/>
            <a:ext cx="3169767" cy="914399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«موفقیت در این مسئله برایت یعنی چه؟»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۲۵ / ۳۲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پیمان گروه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پنج قاعده‌ای که فضا را امن می‌کند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63847" y="1499616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33327" y="1499616"/>
            <a:ext cx="91440" cy="8229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3519" y="1700784"/>
            <a:ext cx="420624" cy="42062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9879" y="1499616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اینجا سِمَت نداریم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این ۹۰ دقیقه هیچ‌کس رئیس کسی نیست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3847" y="2404872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533327" y="2404872"/>
            <a:ext cx="91440" cy="82296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83519" y="2606040"/>
            <a:ext cx="420624" cy="420624"/>
          </a:xfrm>
          <a:prstGeom prst="ellipse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9879" y="2404872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هرچه گفته شد، همین‌جا می‌ماند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بدون استثنا، بدون صورت‌جلسه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3847" y="3310128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E8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33327" y="3310128"/>
            <a:ext cx="91440" cy="82296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83519" y="3511296"/>
            <a:ext cx="420624" cy="420624"/>
          </a:xfrm>
          <a:prstGeom prst="ellipse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9879" y="3310128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سؤال بپرس، نسخه نپیچ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کنجکاوی به‌جای نصیحت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3847" y="4215384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6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33327" y="4215384"/>
            <a:ext cx="91440" cy="82296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83519" y="4416552"/>
            <a:ext cx="420624" cy="420624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9879" y="4215384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8E44AD"/>
                </a:solidFill>
                <a:latin typeface="IRANSans"/>
                <a:cs typeface="IRANSans"/>
                <a:ea typeface="IRANSans"/>
              </a:rPr>
              <a:t>هیچ سؤالی احمقانه نیست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و هیچ تجربه‌ای بی‌ارزش نیست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3847" y="5120640"/>
            <a:ext cx="7360920" cy="822960"/>
          </a:xfrm>
          <a:prstGeom prst="roundRect">
            <a:avLst>
              <a:gd name="adj" fmla="val 11000"/>
            </a:avLst>
          </a:prstGeom>
          <a:solidFill>
            <a:srgbClr val="F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33327" y="5120640"/>
            <a:ext cx="9144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83519" y="5321808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9879" y="5120640"/>
            <a:ext cx="6172200" cy="82296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C0392B"/>
                </a:solidFill>
                <a:latin typeface="IRANSans"/>
                <a:cs typeface="IRANSans"/>
                <a:ea typeface="IRANSans"/>
              </a:rPr>
              <a:t>گوش بده تا بفهمی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نه اینکه منتظر نوبت حرف زدنت باشی</a:t>
            </a:r>
          </a:p>
        </p:txBody>
      </p:sp>
      <p:pic>
        <p:nvPicPr>
          <p:cNvPr id="36" name="Picture 35" descr="13-safe.jpg"/>
          <p:cNvPicPr>
            <a:picLocks noChangeAspect="1"/>
          </p:cNvPicPr>
          <p:nvPr/>
        </p:nvPicPr>
        <p:blipFill>
          <a:blip r:embed="rId2"/>
          <a:srcRect l="10316" r="10316"/>
          <a:stretch>
            <a:fillRect/>
          </a:stretch>
        </p:blipFill>
        <p:spPr>
          <a:xfrm>
            <a:off x="566928" y="1499616"/>
            <a:ext cx="3331159" cy="2798064"/>
          </a:xfrm>
          <a:prstGeom prst="round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566928" y="4443984"/>
            <a:ext cx="3331159" cy="1755648"/>
          </a:xfrm>
          <a:prstGeom prst="roundRect">
            <a:avLst>
              <a:gd name="adj" fmla="val 45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5791" y="4443984"/>
            <a:ext cx="82296" cy="17556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626864"/>
            <a:ext cx="2855671" cy="1417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چرا این پنج تا؟</a:t>
            </a:r>
          </a:p>
          <a:p>
            <a:pPr rtl="1" algn="r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تا وقتی کسی نترسد از گفتنِ «بلد نیستم»، هیچ یادگیری‌ای شروع نمی‌شود.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۲۶ / ۳۲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مسیر پیشِ رو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شش ماه، دوازده جلسه، یک گروه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6727" y="1499616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42471" y="1499616"/>
            <a:ext cx="82296" cy="95097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69119" y="1737360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2759" y="1499616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شکل‌گیری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آشنایی، بستن پیمان گروه، انتخاب اولین داوطلب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545775" y="2459736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46727" y="2606040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42471" y="2606040"/>
            <a:ext cx="82296" cy="950976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69119" y="2843784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۲ تا 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2759" y="2606040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2A6F97"/>
                </a:solidFill>
                <a:latin typeface="IRANSans"/>
                <a:cs typeface="IRANSans"/>
                <a:ea typeface="IRANSans"/>
              </a:rPr>
              <a:t>تمرین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قواعد هنوز سخت است؛ تسهیل‌گر بیشتر دخالت می‌کند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0545775" y="3566160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46727" y="3712464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42471" y="3712464"/>
            <a:ext cx="82296" cy="950976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869119" y="3950208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۵ تا ۱۰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2759" y="3712464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اوج‌گیری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گروه روان می‌شود؛ تسهیل‌گری چرخشی آغاز می‌شود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0545775" y="4672584"/>
            <a:ext cx="201168" cy="137160"/>
          </a:xfrm>
          <a:prstGeom prst="downArrow">
            <a:avLst/>
          </a:prstGeom>
          <a:solidFill>
            <a:srgbClr val="D8E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46727" y="4818888"/>
            <a:ext cx="7178040" cy="950976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42471" y="4818888"/>
            <a:ext cx="82296" cy="950976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69119" y="5056632"/>
            <a:ext cx="1499616" cy="475488"/>
          </a:xfrm>
          <a:prstGeom prst="roundRect">
            <a:avLst>
              <a:gd name="adj" fmla="val 26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جلسه ۱۱ و ۱۲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2759" y="4818888"/>
            <a:ext cx="5074920" cy="9509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E8E5A"/>
                </a:solidFill>
                <a:latin typeface="IRANSans"/>
                <a:cs typeface="IRANSans"/>
                <a:ea typeface="IRANSans"/>
              </a:rPr>
              <a:t>جمع‌بندی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مرور دستاوردها و تصمیم برای دوره بعد</a:t>
            </a:r>
          </a:p>
        </p:txBody>
      </p:sp>
      <p:pic>
        <p:nvPicPr>
          <p:cNvPr id="35" name="Picture 34" descr="04-climb.jpg"/>
          <p:cNvPicPr>
            <a:picLocks noChangeAspect="1"/>
          </p:cNvPicPr>
          <p:nvPr/>
        </p:nvPicPr>
        <p:blipFill>
          <a:blip r:embed="rId2"/>
          <a:srcRect t="9992" b="9992"/>
          <a:stretch>
            <a:fillRect/>
          </a:stretch>
        </p:blipFill>
        <p:spPr>
          <a:xfrm>
            <a:off x="566928" y="1499616"/>
            <a:ext cx="3514039" cy="1874519"/>
          </a:xfrm>
          <a:prstGeom prst="round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66928" y="3493008"/>
            <a:ext cx="3514039" cy="14630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3493008"/>
            <a:ext cx="3514039" cy="493776"/>
          </a:xfrm>
          <a:prstGeom prst="roundRect">
            <a:avLst>
              <a:gd name="adj" fmla="val 1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3858768"/>
            <a:ext cx="3514039" cy="128016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493008"/>
            <a:ext cx="3514039" cy="49377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شما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0782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حضور منظم در ۱۲ جلسه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3068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آوردن یک چالش واقعی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5354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رعایت محرمانگی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764024"/>
            <a:ext cx="3148279" cy="21945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◂  </a:t>
            </a:r>
            <a:r>
              <a:rPr sz="1350" b="0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یک اقدام کوچک بین دو جلسه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102352"/>
            <a:ext cx="3514039" cy="1097280"/>
          </a:xfrm>
          <a:prstGeom prst="roundRect">
            <a:avLst>
              <a:gd name="adj" fmla="val 4500"/>
            </a:avLst>
          </a:prstGeom>
          <a:solidFill>
            <a:srgbClr val="FFF3EC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5102352"/>
            <a:ext cx="3111703" cy="1097280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و اگر نشد؟</a:t>
            </a:r>
          </a:p>
          <a:p>
            <a:pPr rtl="1" algn="r">
              <a:lnSpc>
                <a:spcPct val="124000"/>
              </a:lnSpc>
              <a:spcBef>
                <a:spcPts val="600"/>
              </a:spcBef>
              <a:spcAft>
                <a:spcPts val="0"/>
              </a:spcAft>
            </a:pPr>
            <a:r>
              <a:rPr sz="1450" b="0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بعد از جلسه سوم، هر کس خواست می‌تواند کنار بکشد — بدون توضیح.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۲۷ / ۳۲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growth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۴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چیزی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عوض می‌شود؟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برای شما، برای تیم، و برای سازمان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50592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2424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420624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E4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420624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0896"/>
            <a:ext cx="11057839" cy="310896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دستاورد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"/>
            <a:ext cx="11057839" cy="64008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چه چیزی عاید چه کسی می‌شود؟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27487" y="1243584"/>
            <a:ext cx="109728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9583" y="1499616"/>
            <a:ext cx="5355183" cy="3236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9583" y="1499616"/>
            <a:ext cx="5355183" cy="566928"/>
          </a:xfrm>
          <a:prstGeom prst="roundRect">
            <a:avLst>
              <a:gd name="adj" fmla="val 11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9583" y="1920240"/>
            <a:ext cx="5355183" cy="146304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9583" y="1499616"/>
            <a:ext cx="5355183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شما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8455" y="2157984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3903" y="2157984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مسئله‌تان زودتر حل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به‌جای هفته‌ها کلنجار، ۹۰ دقیقه با ۱۰ ذهن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903" y="2779776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مهارت پرسیدن یاد می‌گیرید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در جلسات و مذاکرات کاری هم به کارتان می‌آید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8455" y="3401568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EC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43903" y="3401568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شبکه‌تان گسترده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می‌دانید برای هر مسئله سراغ چه کسی بروید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3903" y="4023360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B4965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کمتر احساس تنهایی می‌کنید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می‌فهمید دیگران هم همین را تجربه کرده‌اند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499616"/>
            <a:ext cx="5355183" cy="323697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1499616"/>
            <a:ext cx="5355183" cy="566928"/>
          </a:xfrm>
          <a:prstGeom prst="roundRect">
            <a:avLst>
              <a:gd name="adj" fmla="val 11000"/>
            </a:avLst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1920240"/>
            <a:ext cx="5355183" cy="146304"/>
          </a:xfrm>
          <a:prstGeom prst="rect">
            <a:avLst/>
          </a:prstGeom>
          <a:solidFill>
            <a:srgbClr val="D94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499616"/>
            <a:ext cx="5355183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برای سازمان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157984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2157984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تکرار اشتباهات کم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شکست یک واحد، درسِ واحد دیگر می‌شود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2779776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دانش ماندگار می‌شود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تجربه از سرِ افراد به حافظه جمعی منتقل می‌شود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401568"/>
            <a:ext cx="5117439" cy="576072"/>
          </a:xfrm>
          <a:prstGeom prst="roundRect">
            <a:avLst>
              <a:gd name="adj" fmla="val 14000"/>
            </a:avLst>
          </a:prstGeom>
          <a:solidFill>
            <a:srgbClr val="FF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3401568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تازه‌واردها زودتر جا می‌افتند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مسیر شش‌ماهه، چندهفته‌ای طی می‌شود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4023360"/>
            <a:ext cx="4806543" cy="576072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94E1F"/>
                </a:solidFill>
                <a:latin typeface="IRANSans"/>
                <a:cs typeface="IRANSans"/>
                <a:ea typeface="IRANSans"/>
              </a:rPr>
              <a:t>✓  </a:t>
            </a:r>
            <a:r>
              <a:rPr sz="1750" b="1">
                <a:solidFill>
                  <a:srgbClr val="1F2D38"/>
                </a:solidFill>
                <a:latin typeface="IRANSans"/>
                <a:cs typeface="IRANSans"/>
                <a:ea typeface="IRANSans"/>
              </a:rPr>
              <a:t>افراد می‌مانند</a:t>
            </a:r>
          </a:p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آدم‌ها جایی که رشد می‌کنند را ترک نمی‌کنند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54880"/>
            <a:ext cx="11057839" cy="841248"/>
          </a:xfrm>
          <a:prstGeom prst="roundRect">
            <a:avLst>
              <a:gd name="adj" fmla="val 10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42471" y="4754880"/>
            <a:ext cx="82296" cy="8412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754880"/>
            <a:ext cx="10436047" cy="8412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هزینه‌اش؟  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۹۰ دقیقه، هر دو هفته یک بار — یعنی حدود </a:t>
            </a:r>
            <a:r>
              <a:rPr sz="20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یک درصد</a:t>
            </a:r>
            <a:r>
              <a:rPr sz="20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 وقت کاری شما.</a:t>
            </a:r>
          </a:p>
        </p:txBody>
      </p:sp>
      <p:pic>
        <p:nvPicPr>
          <p:cNvPr id="39" name="Picture 38" descr="11-commit.jpg"/>
          <p:cNvPicPr>
            <a:picLocks noChangeAspect="1"/>
          </p:cNvPicPr>
          <p:nvPr/>
        </p:nvPicPr>
        <p:blipFill>
          <a:blip r:embed="rId2"/>
          <a:srcRect t="38070" b="38070"/>
          <a:stretch>
            <a:fillRect/>
          </a:stretch>
        </p:blipFill>
        <p:spPr>
          <a:xfrm>
            <a:off x="8060740" y="5705856"/>
            <a:ext cx="3564026" cy="566928"/>
          </a:xfrm>
          <a:prstGeom prst="round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060740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0740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تعهد فردی</a:t>
            </a:r>
          </a:p>
        </p:txBody>
      </p:sp>
      <p:pic>
        <p:nvPicPr>
          <p:cNvPr id="42" name="Picture 41" descr="10-safe.jpg"/>
          <p:cNvPicPr>
            <a:picLocks noChangeAspect="1"/>
          </p:cNvPicPr>
          <p:nvPr/>
        </p:nvPicPr>
        <p:blipFill>
          <a:blip r:embed="rId3"/>
          <a:srcRect t="38070" b="38070"/>
          <a:stretch>
            <a:fillRect/>
          </a:stretch>
        </p:blipFill>
        <p:spPr>
          <a:xfrm>
            <a:off x="4313834" y="5705856"/>
            <a:ext cx="3564026" cy="566928"/>
          </a:xfrm>
          <a:prstGeom prst="round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313834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3834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فضای امن</a:t>
            </a:r>
          </a:p>
        </p:txBody>
      </p:sp>
      <p:pic>
        <p:nvPicPr>
          <p:cNvPr id="45" name="Picture 44" descr="05-circle.jpg"/>
          <p:cNvPicPr>
            <a:picLocks noChangeAspect="1"/>
          </p:cNvPicPr>
          <p:nvPr/>
        </p:nvPicPr>
        <p:blipFill>
          <a:blip r:embed="rId4"/>
          <a:srcRect t="38070" b="38070"/>
          <a:stretch>
            <a:fillRect/>
          </a:stretch>
        </p:blipFill>
        <p:spPr>
          <a:xfrm>
            <a:off x="566927" y="5705856"/>
            <a:ext cx="3564026" cy="566928"/>
          </a:xfrm>
          <a:prstGeom prst="round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566927" y="5705856"/>
            <a:ext cx="3564026" cy="566928"/>
          </a:xfrm>
          <a:prstGeom prst="rect">
            <a:avLst/>
          </a:prstGeom>
          <a:solidFill>
            <a:srgbClr val="0E2C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7" y="5705856"/>
            <a:ext cx="3564026" cy="56692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گفتگوی گروهی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منتورینگ گروهی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61727" y="6382512"/>
            <a:ext cx="1463040" cy="27432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7"/>
                </a:solidFill>
                <a:latin typeface="IRANSans"/>
                <a:cs typeface="IRANSans"/>
                <a:ea typeface="IRANSans"/>
              </a:rPr>
              <a:t>۲۹ / ۳۲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start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10000"/>
                </a:srgbClr>
              </a:gs>
              <a:gs pos="100000">
                <a:srgbClr val="0E2C40">
                  <a:alpha val="94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64047" y="1993392"/>
            <a:ext cx="5760720" cy="566928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بخش 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36047" y="2615184"/>
            <a:ext cx="1188720" cy="571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4047" y="2852928"/>
            <a:ext cx="5760720" cy="17373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حالا خودمان</a:t>
            </a:r>
          </a:p>
          <a:p>
            <a:pPr rtl="1"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انجامش می‌دهیم</a:t>
            </a:r>
          </a:p>
          <a:p>
            <a:pPr rtl="1" algn="r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</a:pPr>
            <a:r>
              <a:rPr sz="19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یک دور واقعی، همین امروز، ۳۰ دقیقه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5608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5608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چرا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596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9596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چیست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584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3584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چطور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572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572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چه می‌شود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607" y="6035040"/>
            <a:ext cx="868680" cy="292608"/>
          </a:xfrm>
          <a:prstGeom prst="roundRect">
            <a:avLst>
              <a:gd name="adj" fmla="val 44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5607" y="6035040"/>
            <a:ext cx="868680" cy="29260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شروع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/>
              </a:gs>
              <a:gs pos="100000">
                <a:srgbClr val="1B496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7839" cy="347472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تجربه زنده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9536"/>
            <a:ext cx="11057839" cy="60350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دور کوتاه — ۳۰ دقیقه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52331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44189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98635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داوطلب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چالشش را در سه جمله می‌گوید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15721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سؤال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هر کس یک سؤال — راه‌حل ممنوع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87253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۱۰ دقیقه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1699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تجربه مشابه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«من هم یک بار…» در یک دقیقه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773936"/>
            <a:ext cx="2572435" cy="1828800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58785" y="1975104"/>
            <a:ext cx="1188720" cy="438912"/>
          </a:xfrm>
          <a:prstGeom prst="roundRect">
            <a:avLst>
              <a:gd name="adj" fmla="val 26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۵ دقیقه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42032"/>
            <a:ext cx="2279827" cy="9144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یک تصمیم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داوطلب می‌گوید چه می‌کند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13632"/>
            <a:ext cx="11057839" cy="768096"/>
          </a:xfrm>
          <a:prstGeom prst="roundRect">
            <a:avLst>
              <a:gd name="adj" fmla="val 11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913632"/>
            <a:ext cx="11057839" cy="768096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تنها قاعده امروز:  </a:t>
            </a:r>
            <a:r>
              <a:rPr sz="20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در ده دقیقه دوم، هیچ‌کس حق ندارد جمله‌ای بگوید که علامت سؤال ندارد.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919472"/>
            <a:ext cx="11057839" cy="1298448"/>
          </a:xfrm>
          <a:prstGeom prst="roundRect">
            <a:avLst>
              <a:gd name="adj" fmla="val 9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62B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919472"/>
            <a:ext cx="10326319" cy="1298448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چه کسی چالشش را می‌آورد؟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CF3F7"/>
                </a:solidFill>
                <a:latin typeface="IRANSans"/>
                <a:cs typeface="IRANSans"/>
                <a:ea typeface="IRANSans"/>
              </a:rPr>
              <a:t>لازم نیست مسئله بزرگی باشد — همان چیزی که اول جلسه در ذهن نگه داشتید کافی است.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oad.jpg"/>
          <p:cNvPicPr>
            <a:picLocks noChangeAspect="1"/>
          </p:cNvPicPr>
          <p:nvPr/>
        </p:nvPicPr>
        <p:blipFill>
          <a:blip r:embed="rId2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2C40">
                  <a:alpha val="88000"/>
                </a:srgbClr>
              </a:gs>
              <a:gs pos="100000">
                <a:srgbClr val="D94E1F">
                  <a:alpha val="34000"/>
                </a:srgbClr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512064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قدم بعدی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11057839" cy="694944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چه کسی می‌خواهد نفر اول باشد؟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9082735" cy="137160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ما آدم‌های باتجربه‌ای را استخدام کردیم و کنار هم نشاندیم.</a:t>
            </a:r>
          </a:p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فقط یادمان رفت فرصتی بسازیم که با هم حرف بزنند.</a:t>
            </a:r>
          </a:p>
          <a:p>
            <a:pPr rtl="1" algn="ctr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25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این طرح، همان فرصت است.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74133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83861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اولین جلسه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[تاریخ]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22332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32060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ساعت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[ساعت]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0530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0258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مکان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[مکان]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8729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8457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ظرفیت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۱۲ نفر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66160"/>
            <a:ext cx="2050633" cy="1060704"/>
          </a:xfrm>
          <a:prstGeom prst="roundRect">
            <a:avLst>
              <a:gd name="adj" fmla="val 1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66160"/>
            <a:ext cx="1831177" cy="10607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rt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تماس</a:t>
            </a:r>
          </a:p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[داخلی]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4956048"/>
            <a:ext cx="2743200" cy="3175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175504"/>
            <a:ext cx="11057839" cy="100584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برگه ثبت‌نام همین حالا دست به دست می‌شود.</a:t>
            </a:r>
          </a:p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بهترین زمان برای شروع، الان است.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72784"/>
            <a:ext cx="11057839" cy="365760"/>
          </a:xfrm>
          <a:prstGeom prst="rect">
            <a:avLst/>
          </a:prstGeom>
          <a:noFill/>
        </p:spPr>
        <p:txBody>
          <a:bodyPr wrap="square" lIns="36576" rIns="36576" tIns="0" bIns="0" anchor="t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RANSans"/>
                <a:cs typeface="IRANSans"/>
                <a:ea typeface="IRANSans"/>
              </a:rPr>
              <a:t>وحید مجیدی</a:t>
            </a:r>
            <a:r>
              <a:rPr sz="1400" b="0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     |     </a:t>
            </a:r>
            <a:r>
              <a:rPr sz="1400" b="1">
                <a:solidFill>
                  <a:srgbClr val="FF6B35"/>
                </a:solidFill>
                <a:latin typeface="IRANSans"/>
                <a:cs typeface="IRANSans"/>
                <a:ea typeface="IRANSans"/>
              </a:rPr>
              <a:t>www.coachroom.ir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