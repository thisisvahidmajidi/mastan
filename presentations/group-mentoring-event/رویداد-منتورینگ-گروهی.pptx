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صندلی‌ها را دایره‌ای بچینید و خودتان هم روی یکی از آن‌ها بنشینید.</a:t>
            </a:r>
          </a:p>
          <a:p>
            <a:pPr rtl="1" algn="r"/>
            <a:r>
              <a:rPr sz="1300">
                <a:latin typeface="IRANSans"/>
              </a:rPr>
              <a:t>جمله شروع: «این آخرین جلسه‌ای است که من جلوی شما می‌ایستم و حرف می‌زنم.»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روی بخش ۵ مکث کنید: مخاطب باید بداند این سخنرانی نیست.</a:t>
            </a:r>
          </a:p>
          <a:p>
            <a:pPr rtl="1" algn="r"/>
            <a:r>
              <a:rPr sz="1300">
                <a:latin typeface="IRANSans"/>
              </a:rPr>
              <a:t>درخواست «یک چالش واقعی در ذهن نگه دارید» را آرام و جدی بگویید.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را سریع رد نکنید. سه ثانیه سکوت، بعد بروید به اسلاید بعد.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واقعاً ۶۰ ثانیه سکوت بدهید و از سه چهار نفر بپرسید.</a:t>
            </a:r>
          </a:p>
          <a:p>
            <a:pPr rtl="1" algn="r"/>
            <a:r>
              <a:rPr sz="1300">
                <a:latin typeface="IRANSans"/>
              </a:rPr>
              <a:t>وقتی همه یک اسم گفتند: «توجه کردید؟ هیچ‌کس اسم یک دوره را نبرد.»</a:t>
            </a:r>
          </a:p>
          <a:p>
            <a:pPr rtl="1" algn="r"/>
            <a:r>
              <a:rPr sz="1300">
                <a:latin typeface="IRANSans"/>
              </a:rPr>
              <a:t>این جواب، کل استدلال ارائه را می‌سازد.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حتماً یک مثال واقعی از سازمان خودتان بزنید، بدون بردن نام کسی.</a:t>
            </a:r>
          </a:p>
          <a:p>
            <a:pPr rtl="1" algn="r"/>
            <a:r>
              <a:rPr sz="1300">
                <a:latin typeface="IRANSans"/>
              </a:rPr>
              <a:t>یک مثال واقعی از هر چهار مورد این فهرست مؤثرتر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پشتوانه علمی طرح است، مخصوصاً برای مدیران.</a:t>
            </a:r>
          </a:p>
          <a:p>
            <a:pPr rtl="1" algn="r"/>
            <a:r>
              <a:rPr sz="1300">
                <a:latin typeface="IRANSans"/>
              </a:rPr>
              <a:t>اگر عدد واقعی بودجه سازمان را دارید، جایگزین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لحن عوض می‌شود: از مسئله به راه‌حل.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«پرسش، نه نسخه‌پیچی» را دو بار تکرار کنید — کل تفاوت روش همین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ستون «نیست» مهم‌تر از «هست» است. بیشترین مقاومت از همین سوءتفاهم‌ها می‌آید.</a:t>
            </a:r>
          </a:p>
          <a:p>
            <a:pPr rtl="1" algn="r"/>
            <a:r>
              <a:rPr sz="1300">
                <a:latin typeface="IRANSans"/>
              </a:rPr>
              <a:t>روی «هیچ صورت‌جلسه‌ای به بالا نمی‌رود» مکث کنید و در چشم افراد نگاه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تسهیل‌گری چرخشی است — این طرح مالِ یک نفر نیست، مالِ گروه است.</a:t>
            </a:r>
          </a:p>
          <a:p>
            <a:pPr rtl="1" algn="r"/>
            <a:r>
              <a:rPr sz="1300">
                <a:latin typeface="IRANSans"/>
              </a:rPr>
              <a:t>اگر پرسیدند «مدیر هم هست؟» بگویید بله، ولی به‌عنوان عضو گروه همتا.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وارد جزئیات عملی می‌شویم.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بخش «فقط سؤال» بیشترین مقاومت را دارد.</a:t>
            </a:r>
          </a:p>
          <a:p>
            <a:pPr rtl="1" algn="r"/>
            <a:r>
              <a:rPr sz="1300">
                <a:latin typeface="IRANSans"/>
              </a:rPr>
              <a:t>بگویید: «می‌دانم سخت است. اسلاید بعد نشان می‌دهم چرا ارزشش را دارد.»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اسلاید ارائه. آرام بخوانید، بعد از هر جفت مکث کوتاه کنید.</a:t>
            </a:r>
          </a:p>
          <a:p>
            <a:pPr rtl="1" algn="r"/>
            <a:r>
              <a:rPr sz="1300">
                <a:latin typeface="IRANSans"/>
              </a:rPr>
              <a:t>از گروه بخواهید یک نمونه دیگر بسازند — اگر توانستند، روش را گرفته‌اند.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قواعد را نخوانید — از گروه بخواهید بلند بخوانند و تأیید کنند.</a:t>
            </a:r>
          </a:p>
          <a:p>
            <a:pPr rtl="1" algn="r"/>
            <a:r>
              <a:rPr sz="1300">
                <a:latin typeface="IRANSans"/>
              </a:rPr>
              <a:t>روی یک برگه بزرگ بنویسید و هر جلسه روی دیوار بزنید.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جمله «بدون توضیح می‌توانید کنار بکشید» را حتماً بگویید.</a:t>
            </a:r>
          </a:p>
          <a:p>
            <a:pPr rtl="1" algn="r"/>
            <a:r>
              <a:rPr sz="1300">
                <a:latin typeface="IRANSans"/>
              </a:rPr>
              <a:t>داوطلبانه بودن شرط کارکردن این روش است، نه یک تعارف.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لحن اینجا امیدوارانه می‌شود. سرعت را کمی بالا ببرید.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اگر مخاطب بیشتر کارشناس است، ستون راست را کامل بخوانید و چپ را سریع رد شوید.</a:t>
            </a:r>
          </a:p>
          <a:p>
            <a:pPr rtl="1" algn="r"/>
            <a:r>
              <a:rPr sz="1300">
                <a:latin typeface="IRANSans"/>
              </a:rPr>
              <a:t>اگر مدیران حاضرند، برعکس.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انرژی جلسه باید بالا برود. بلند شوید و راه بروید.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۳۰ دقیقه امروز. تایمر بگذارید و سفت نگه دارید.</a:t>
            </a:r>
          </a:p>
          <a:p>
            <a:pPr rtl="1" algn="r"/>
            <a:r>
              <a:rPr sz="1300">
                <a:latin typeface="IRANSans"/>
              </a:rPr>
              <a:t>اگر کسی در «فقط سؤال» راه‌حل داد، با لبخند وسط حرفش بروید:</a:t>
            </a:r>
          </a:p>
          <a:p>
            <a:pPr rtl="1" algn="r"/>
            <a:r>
              <a:rPr sz="1300">
                <a:latin typeface="IRANSans"/>
              </a:rPr>
              <a:t>«این را نگه دار برای ده دقیقه بعد.»</a:t>
            </a:r>
          </a:p>
          <a:p>
            <a:pPr rtl="1" algn="r"/>
            <a:r>
              <a:rPr sz="1300">
                <a:latin typeface="IRANSans"/>
              </a:rPr>
              <a:t>اگر داوطلب پیدا نشد، خودتان یک چالش واقعی بیاورید.</a:t>
            </a:r>
          </a:p>
          <a:p>
            <a:pPr rtl="1" algn="r"/>
            <a:r>
              <a:rPr sz="1300">
                <a:latin typeface="IRANSans"/>
              </a:rPr>
              <a:t>در پایان از صاحب چالش بپرسید: «الان چیزی می‌دانی که نیم‌ساعت پیش نمی‌دانستی؟»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نگویید «سؤالی نیست؟». بگویید «چه کسی می‌خواهد نفر اول باشد؟» و</a:t>
            </a:r>
          </a:p>
          <a:p>
            <a:pPr rtl="1" algn="r"/>
            <a:r>
              <a:rPr sz="1300">
                <a:latin typeface="IRANSans"/>
              </a:rPr>
              <a:t>خودتان دستتان را بالا ببرید تا اولین داوطلب راحت‌تر بلند شود.</a:t>
            </a:r>
          </a:p>
          <a:p>
            <a:pPr rtl="1" algn="r"/>
            <a:r>
              <a:rPr sz="1300">
                <a:latin typeface="IRANSans"/>
              </a:rPr>
              <a:t>برگه ثبت‌نام را همان لحظه دست به دست کنید — نه ایمیل، نه فردا.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hands-together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8000"/>
                </a:srgbClr>
              </a:gs>
              <a:gs pos="100000">
                <a:srgbClr val="0E2C40">
                  <a:alpha val="96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44607" y="1572768"/>
            <a:ext cx="1280160" cy="635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9727" y="1865376"/>
            <a:ext cx="6035040" cy="3108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رویداد معرفی منتورینگ گروهی</a:t>
            </a:r>
          </a:p>
          <a:p>
            <a:pPr rtl="1" algn="r">
              <a:lnSpc>
                <a:spcPct val="122000"/>
              </a:lnSpc>
              <a:spcBef>
                <a:spcPts val="160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جایی که</a:t>
            </a:r>
          </a:p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با هم </a:t>
            </a:r>
            <a:r>
              <a:rPr sz="4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بلد</a:t>
            </a:r>
            <a:r>
              <a:rPr sz="4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می‌شویم</a:t>
            </a:r>
          </a:p>
          <a:p>
            <a:pPr rtl="1" algn="r">
              <a:lnSpc>
                <a:spcPct val="130000"/>
              </a:lnSpc>
              <a:spcBef>
                <a:spcPts val="20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 این کار را می‌کنیم، چیست، چطور اجرا می‌شود</a:t>
            </a:r>
          </a:p>
        </p:txBody>
      </p:sp>
      <p:sp>
        <p:nvSpPr>
          <p:cNvPr id="7" name="Rectangle 6"/>
          <p:cNvSpPr/>
          <p:nvPr/>
        </p:nvSpPr>
        <p:spPr>
          <a:xfrm>
            <a:off x="8698687" y="5285232"/>
            <a:ext cx="2926080" cy="15875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9727" y="5486400"/>
            <a:ext cx="6035040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تاریخ:  </a:t>
            </a:r>
            <a:r>
              <a:rPr sz="15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  <a:r>
              <a:rPr sz="155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        تسهیل‌گر:  </a:t>
            </a:r>
            <a:r>
              <a:rPr sz="15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[نام تسهیل‌گر]</a:t>
            </a:r>
          </a:p>
          <a:p>
            <a:pPr rtl="1" algn="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[نام واحد / سازمان]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۹۰ دقیقه پیشِ رو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نقشه امروز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88764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88764" y="1536192"/>
            <a:ext cx="2036003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59877" y="1810512"/>
            <a:ext cx="493776" cy="49377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5068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چرا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مسئله‌ای که داریم و کسی درباره‌اش حرف نمی‌زند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33305" y="1536192"/>
            <a:ext cx="2036003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04418" y="1810512"/>
            <a:ext cx="493776" cy="493776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609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چیست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این روش دقیقاً چیست و چه چیزی نیست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7846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7846" y="1536192"/>
            <a:ext cx="2036003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48959" y="1810512"/>
            <a:ext cx="493776" cy="49377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4150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چطور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جلسه واقعی، دقیقه به دقیقه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2387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2387" y="1536192"/>
            <a:ext cx="2036003" cy="640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93500" y="1810512"/>
            <a:ext cx="493776" cy="493776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8691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چیزی عاید شما و سازمان می‌شود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1536192"/>
            <a:ext cx="2036003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38041" y="1810512"/>
            <a:ext cx="493776" cy="49377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شروع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دور واقعی، همین امروز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0439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4041648"/>
            <a:ext cx="82296" cy="12984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6471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قولِ امروز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یک‌سوم این جلسه، خودِ تجربه است — نه توضیحِ تجربه.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شما یک چیز می‌خواهم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چالش کاری واقعی و حل‌نشده را همین حالا در ذهنتان نگه دارید.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11057839" cy="65836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5541264"/>
            <a:ext cx="82296" cy="65836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541264"/>
            <a:ext cx="10436047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پایان جلسه، به همان چالش برمی‌گردیم.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 / ۲۰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thinking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این کار 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می‌کنیم؟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مسئله‌ای که همه می‌بینند و کسی درباره‌اش حرف نمی‌زند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ilo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4000"/>
                </a:srgbClr>
              </a:gs>
              <a:gs pos="100000">
                <a:srgbClr val="1B4965">
                  <a:alpha val="86000"/>
                </a:srgbClr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841248"/>
            <a:ext cx="11057839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۶۰ ثانیه فکر کنید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89888"/>
            <a:ext cx="9997135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آخرین چیزی که در کارتان یاد گرفتید،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کجا</a:t>
            </a: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یاد گرفتید؟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3892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98484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یک کلاس یا کتاب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0410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5002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انجام دادن و اشتباه کردن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7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20000"/>
            </a:srgbClr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یک آدم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99971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تقریباً همیشه، جواب یک آدم است.</a:t>
            </a:r>
          </a:p>
          <a:p>
            <a:pPr rtl="1"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نه یک دوره، نه یک کتاب. یک آدم.</a:t>
            </a:r>
          </a:p>
          <a:p>
            <a:pPr rtl="1" algn="ctr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منتورینگ گروهی یعنی این اتفاق را از «شانسی» به «برنامه‌ریزی‌شده» تبدیل کنیم.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تشخیص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مسئله ما کمبود دانش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silo.jpg"/>
          <p:cNvPicPr>
            <a:picLocks noChangeAspect="1"/>
          </p:cNvPicPr>
          <p:nvPr/>
        </p:nvPicPr>
        <p:blipFill>
          <a:blip r:embed="rId2"/>
          <a:srcRect t="6602" b="6602"/>
          <a:stretch>
            <a:fillRect/>
          </a:stretch>
        </p:blipFill>
        <p:spPr>
          <a:xfrm>
            <a:off x="566928" y="1517904"/>
            <a:ext cx="4709160" cy="2724912"/>
          </a:xfrm>
          <a:prstGeom prst="round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66928" y="3675888"/>
            <a:ext cx="470916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675888"/>
            <a:ext cx="434340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هرکس تکه‌ای می‌داند، کسی همه را نمی‌داند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89120"/>
            <a:ext cx="4709160" cy="1810512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4389120"/>
            <a:ext cx="82296" cy="18105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590288"/>
            <a:ext cx="4206240" cy="14630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مسئله، گردش دانش است</a:t>
            </a:r>
          </a:p>
          <a:p>
            <a:pPr rtl="1" algn="r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6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همه‌چیز را بلدیم — ولی هرکس تکه‌ای از آن را می‌داند و کسی نمی‌داند چه کسی چه می‌داند.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96712" y="151790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51615" y="151790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56671" y="180136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2744" y="151790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اشتباه، چند بار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همان خطا در واحد دیگر دوباره تکرار می‌شود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96712" y="261518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51615" y="261518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56671" y="289864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2744" y="261518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راه‌حل‌های موازی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 نفر جدا از هم، ماه‌ها روی یک مسئله کار می‌کنند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96712" y="371246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51615" y="371246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56671" y="399592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371246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دانش با آدم‌ها می‌رود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با هر خداحافظی، سال‌ها تجربه از در بیرون می‌رود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96712" y="480974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51615" y="480974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56671" y="509320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2744" y="480974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تازه‌واردهای سرگردان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شش ماه طول می‌کشد تا بفهمند از چه کسی بپرسند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۵ / ۲۰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آنچه پژوهش می‌گوید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بودجه آموزش، جای اشتباهی خرج می‌شود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633787" y="1903030"/>
            <a:ext cx="2836090" cy="2923700"/>
          </a:xfrm>
          <a:custGeom>
            <a:avLst/>
            <a:gdLst/>
            <a:ahLst/>
            <a:cxnLst/>
            <a:rect l="l" t="t" r="r" b="b"/>
            <a:pathLst>
              <a:path w="2836090" h="2923700">
                <a:moveTo>
                  <a:pt x="1429215" y="0"/>
                </a:moveTo>
                <a:lnTo>
                  <a:pt x="1560430" y="10970"/>
                </a:lnTo>
                <a:lnTo>
                  <a:pt x="1690128" y="33694"/>
                </a:lnTo>
                <a:lnTo>
                  <a:pt x="1817257" y="67986"/>
                </a:lnTo>
                <a:lnTo>
                  <a:pt x="1940788" y="113569"/>
                </a:lnTo>
                <a:lnTo>
                  <a:pt x="2059720" y="170074"/>
                </a:lnTo>
                <a:lnTo>
                  <a:pt x="2173091" y="237043"/>
                </a:lnTo>
                <a:lnTo>
                  <a:pt x="2279981" y="313934"/>
                </a:lnTo>
                <a:lnTo>
                  <a:pt x="2379525" y="400124"/>
                </a:lnTo>
                <a:lnTo>
                  <a:pt x="2470917" y="494915"/>
                </a:lnTo>
                <a:lnTo>
                  <a:pt x="2553416" y="597538"/>
                </a:lnTo>
                <a:lnTo>
                  <a:pt x="2626355" y="707164"/>
                </a:lnTo>
                <a:lnTo>
                  <a:pt x="2689142" y="822903"/>
                </a:lnTo>
                <a:lnTo>
                  <a:pt x="2741268" y="943819"/>
                </a:lnTo>
                <a:lnTo>
                  <a:pt x="2782312" y="1068931"/>
                </a:lnTo>
                <a:lnTo>
                  <a:pt x="2811942" y="1197227"/>
                </a:lnTo>
                <a:lnTo>
                  <a:pt x="2829916" y="1327667"/>
                </a:lnTo>
                <a:lnTo>
                  <a:pt x="2836090" y="1459195"/>
                </a:lnTo>
                <a:lnTo>
                  <a:pt x="2830413" y="1590746"/>
                </a:lnTo>
                <a:lnTo>
                  <a:pt x="2812932" y="1721253"/>
                </a:lnTo>
                <a:lnTo>
                  <a:pt x="2783788" y="1849660"/>
                </a:lnTo>
                <a:lnTo>
                  <a:pt x="2743218" y="1974927"/>
                </a:lnTo>
                <a:lnTo>
                  <a:pt x="2691549" y="2096039"/>
                </a:lnTo>
                <a:lnTo>
                  <a:pt x="2629200" y="2212014"/>
                </a:lnTo>
                <a:lnTo>
                  <a:pt x="2556677" y="2321915"/>
                </a:lnTo>
                <a:lnTo>
                  <a:pt x="2474566" y="2424850"/>
                </a:lnTo>
                <a:lnTo>
                  <a:pt x="2383533" y="2519985"/>
                </a:lnTo>
                <a:lnTo>
                  <a:pt x="2284316" y="2606551"/>
                </a:lnTo>
                <a:lnTo>
                  <a:pt x="2177717" y="2683846"/>
                </a:lnTo>
                <a:lnTo>
                  <a:pt x="2064601" y="2751243"/>
                </a:lnTo>
                <a:lnTo>
                  <a:pt x="1945883" y="2808198"/>
                </a:lnTo>
                <a:lnTo>
                  <a:pt x="1822525" y="2854248"/>
                </a:lnTo>
                <a:lnTo>
                  <a:pt x="1695527" y="2889020"/>
                </a:lnTo>
                <a:lnTo>
                  <a:pt x="1565916" y="2912234"/>
                </a:lnTo>
                <a:lnTo>
                  <a:pt x="1434743" y="2923700"/>
                </a:lnTo>
                <a:lnTo>
                  <a:pt x="1303071" y="2923327"/>
                </a:lnTo>
                <a:lnTo>
                  <a:pt x="1171966" y="2911116"/>
                </a:lnTo>
                <a:lnTo>
                  <a:pt x="1042489" y="2887168"/>
                </a:lnTo>
                <a:lnTo>
                  <a:pt x="915690" y="2851676"/>
                </a:lnTo>
                <a:lnTo>
                  <a:pt x="792595" y="2804927"/>
                </a:lnTo>
                <a:lnTo>
                  <a:pt x="674202" y="2747300"/>
                </a:lnTo>
                <a:lnTo>
                  <a:pt x="561470" y="2679262"/>
                </a:lnTo>
                <a:lnTo>
                  <a:pt x="455311" y="2601364"/>
                </a:lnTo>
                <a:lnTo>
                  <a:pt x="356586" y="2514237"/>
                </a:lnTo>
                <a:lnTo>
                  <a:pt x="266095" y="2418586"/>
                </a:lnTo>
                <a:lnTo>
                  <a:pt x="184569" y="2315187"/>
                </a:lnTo>
                <a:lnTo>
                  <a:pt x="112671" y="2204877"/>
                </a:lnTo>
                <a:lnTo>
                  <a:pt x="50981" y="2088549"/>
                </a:lnTo>
                <a:lnTo>
                  <a:pt x="0" y="1967147"/>
                </a:lnTo>
                <a:lnTo>
                  <a:pt x="549221" y="1765073"/>
                </a:lnTo>
                <a:lnTo>
                  <a:pt x="579809" y="1837914"/>
                </a:lnTo>
                <a:lnTo>
                  <a:pt x="616823" y="1907711"/>
                </a:lnTo>
                <a:lnTo>
                  <a:pt x="659963" y="1973897"/>
                </a:lnTo>
                <a:lnTo>
                  <a:pt x="708878" y="2035936"/>
                </a:lnTo>
                <a:lnTo>
                  <a:pt x="763173" y="2093327"/>
                </a:lnTo>
                <a:lnTo>
                  <a:pt x="822408" y="2145603"/>
                </a:lnTo>
                <a:lnTo>
                  <a:pt x="886103" y="2192342"/>
                </a:lnTo>
                <a:lnTo>
                  <a:pt x="953742" y="2233164"/>
                </a:lnTo>
                <a:lnTo>
                  <a:pt x="1024778" y="2267741"/>
                </a:lnTo>
                <a:lnTo>
                  <a:pt x="1098635" y="2295790"/>
                </a:lnTo>
                <a:lnTo>
                  <a:pt x="1174714" y="2317085"/>
                </a:lnTo>
                <a:lnTo>
                  <a:pt x="1252400" y="2331454"/>
                </a:lnTo>
                <a:lnTo>
                  <a:pt x="1331064" y="2338781"/>
                </a:lnTo>
                <a:lnTo>
                  <a:pt x="1410067" y="2339005"/>
                </a:lnTo>
                <a:lnTo>
                  <a:pt x="1488771" y="2332125"/>
                </a:lnTo>
                <a:lnTo>
                  <a:pt x="1566537" y="2318197"/>
                </a:lnTo>
                <a:lnTo>
                  <a:pt x="1642736" y="2297333"/>
                </a:lnTo>
                <a:lnTo>
                  <a:pt x="1716751" y="2269703"/>
                </a:lnTo>
                <a:lnTo>
                  <a:pt x="1787981" y="2235530"/>
                </a:lnTo>
                <a:lnTo>
                  <a:pt x="1855851" y="2195092"/>
                </a:lnTo>
                <a:lnTo>
                  <a:pt x="1919810" y="2148715"/>
                </a:lnTo>
                <a:lnTo>
                  <a:pt x="1979341" y="2096776"/>
                </a:lnTo>
                <a:lnTo>
                  <a:pt x="2033961" y="2039694"/>
                </a:lnTo>
                <a:lnTo>
                  <a:pt x="2083227" y="1977934"/>
                </a:lnTo>
                <a:lnTo>
                  <a:pt x="2126741" y="1911993"/>
                </a:lnTo>
                <a:lnTo>
                  <a:pt x="2164150" y="1842408"/>
                </a:lnTo>
                <a:lnTo>
                  <a:pt x="2195152" y="1769741"/>
                </a:lnTo>
                <a:lnTo>
                  <a:pt x="2219494" y="1694581"/>
                </a:lnTo>
                <a:lnTo>
                  <a:pt x="2236980" y="1617536"/>
                </a:lnTo>
                <a:lnTo>
                  <a:pt x="2247469" y="1539232"/>
                </a:lnTo>
                <a:lnTo>
                  <a:pt x="2250875" y="1460302"/>
                </a:lnTo>
                <a:lnTo>
                  <a:pt x="2247171" y="1381385"/>
                </a:lnTo>
                <a:lnTo>
                  <a:pt x="2236386" y="1303121"/>
                </a:lnTo>
                <a:lnTo>
                  <a:pt x="2218608" y="1226143"/>
                </a:lnTo>
                <a:lnTo>
                  <a:pt x="2193982" y="1151076"/>
                </a:lnTo>
                <a:lnTo>
                  <a:pt x="2162706" y="1078526"/>
                </a:lnTo>
                <a:lnTo>
                  <a:pt x="2125034" y="1009083"/>
                </a:lnTo>
                <a:lnTo>
                  <a:pt x="2081271" y="943308"/>
                </a:lnTo>
                <a:lnTo>
                  <a:pt x="2031771" y="881733"/>
                </a:lnTo>
                <a:lnTo>
                  <a:pt x="1976936" y="824859"/>
                </a:lnTo>
                <a:lnTo>
                  <a:pt x="1917210" y="773145"/>
                </a:lnTo>
                <a:lnTo>
                  <a:pt x="1853075" y="727011"/>
                </a:lnTo>
                <a:lnTo>
                  <a:pt x="1785053" y="686829"/>
                </a:lnTo>
                <a:lnTo>
                  <a:pt x="1713694" y="652926"/>
                </a:lnTo>
                <a:lnTo>
                  <a:pt x="1639575" y="625576"/>
                </a:lnTo>
                <a:lnTo>
                  <a:pt x="1563298" y="605001"/>
                </a:lnTo>
                <a:lnTo>
                  <a:pt x="1485479" y="591367"/>
                </a:lnTo>
                <a:lnTo>
                  <a:pt x="1406750" y="584785"/>
                </a:lnTo>
                <a:close/>
              </a:path>
            </a:pathLst>
          </a:cu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415807" y="2114649"/>
            <a:ext cx="1008596" cy="1683556"/>
          </a:xfrm>
          <a:custGeom>
            <a:avLst/>
            <a:gdLst/>
            <a:ahLst/>
            <a:cxnLst/>
            <a:rect l="l" t="t" r="r" b="b"/>
            <a:pathLst>
              <a:path w="1008596" h="1683556">
                <a:moveTo>
                  <a:pt x="60090" y="1683556"/>
                </a:moveTo>
                <a:lnTo>
                  <a:pt x="49905" y="1645798"/>
                </a:lnTo>
                <a:lnTo>
                  <a:pt x="40651" y="1607801"/>
                </a:lnTo>
                <a:lnTo>
                  <a:pt x="32334" y="1569589"/>
                </a:lnTo>
                <a:lnTo>
                  <a:pt x="24959" y="1531183"/>
                </a:lnTo>
                <a:lnTo>
                  <a:pt x="18529" y="1492608"/>
                </a:lnTo>
                <a:lnTo>
                  <a:pt x="13050" y="1453887"/>
                </a:lnTo>
                <a:lnTo>
                  <a:pt x="8524" y="1415042"/>
                </a:lnTo>
                <a:lnTo>
                  <a:pt x="4954" y="1376098"/>
                </a:lnTo>
                <a:lnTo>
                  <a:pt x="2342" y="1337078"/>
                </a:lnTo>
                <a:lnTo>
                  <a:pt x="691" y="1298006"/>
                </a:lnTo>
                <a:lnTo>
                  <a:pt x="0" y="1258905"/>
                </a:lnTo>
                <a:lnTo>
                  <a:pt x="270" y="1219798"/>
                </a:lnTo>
                <a:lnTo>
                  <a:pt x="1501" y="1180710"/>
                </a:lnTo>
                <a:lnTo>
                  <a:pt x="3692" y="1141665"/>
                </a:lnTo>
                <a:lnTo>
                  <a:pt x="6843" y="1102684"/>
                </a:lnTo>
                <a:lnTo>
                  <a:pt x="10951" y="1063794"/>
                </a:lnTo>
                <a:lnTo>
                  <a:pt x="16013" y="1025015"/>
                </a:lnTo>
                <a:lnTo>
                  <a:pt x="22027" y="986373"/>
                </a:lnTo>
                <a:lnTo>
                  <a:pt x="28988" y="947891"/>
                </a:lnTo>
                <a:lnTo>
                  <a:pt x="36894" y="909591"/>
                </a:lnTo>
                <a:lnTo>
                  <a:pt x="45738" y="871497"/>
                </a:lnTo>
                <a:lnTo>
                  <a:pt x="55516" y="833631"/>
                </a:lnTo>
                <a:lnTo>
                  <a:pt x="66222" y="796018"/>
                </a:lnTo>
                <a:lnTo>
                  <a:pt x="77848" y="758679"/>
                </a:lnTo>
                <a:lnTo>
                  <a:pt x="90389" y="721637"/>
                </a:lnTo>
                <a:lnTo>
                  <a:pt x="103837" y="684915"/>
                </a:lnTo>
                <a:lnTo>
                  <a:pt x="118183" y="648534"/>
                </a:lnTo>
                <a:lnTo>
                  <a:pt x="133419" y="612517"/>
                </a:lnTo>
                <a:lnTo>
                  <a:pt x="149535" y="576885"/>
                </a:lnTo>
                <a:lnTo>
                  <a:pt x="166523" y="541660"/>
                </a:lnTo>
                <a:lnTo>
                  <a:pt x="184371" y="506863"/>
                </a:lnTo>
                <a:lnTo>
                  <a:pt x="203069" y="472515"/>
                </a:lnTo>
                <a:lnTo>
                  <a:pt x="222605" y="438637"/>
                </a:lnTo>
                <a:lnTo>
                  <a:pt x="242968" y="405250"/>
                </a:lnTo>
                <a:lnTo>
                  <a:pt x="264146" y="372373"/>
                </a:lnTo>
                <a:lnTo>
                  <a:pt x="286125" y="340026"/>
                </a:lnTo>
                <a:lnTo>
                  <a:pt x="308892" y="308230"/>
                </a:lnTo>
                <a:lnTo>
                  <a:pt x="332435" y="277003"/>
                </a:lnTo>
                <a:lnTo>
                  <a:pt x="356737" y="246363"/>
                </a:lnTo>
                <a:lnTo>
                  <a:pt x="381785" y="216331"/>
                </a:lnTo>
                <a:lnTo>
                  <a:pt x="407564" y="186923"/>
                </a:lnTo>
                <a:lnTo>
                  <a:pt x="434058" y="158157"/>
                </a:lnTo>
                <a:lnTo>
                  <a:pt x="461251" y="130051"/>
                </a:lnTo>
                <a:lnTo>
                  <a:pt x="489126" y="102622"/>
                </a:lnTo>
                <a:lnTo>
                  <a:pt x="517667" y="75887"/>
                </a:lnTo>
                <a:lnTo>
                  <a:pt x="546857" y="49861"/>
                </a:lnTo>
                <a:lnTo>
                  <a:pt x="576677" y="24560"/>
                </a:lnTo>
                <a:lnTo>
                  <a:pt x="607110" y="0"/>
                </a:lnTo>
                <a:lnTo>
                  <a:pt x="1008596" y="510197"/>
                </a:lnTo>
                <a:lnTo>
                  <a:pt x="990581" y="524736"/>
                </a:lnTo>
                <a:lnTo>
                  <a:pt x="972928" y="539713"/>
                </a:lnTo>
                <a:lnTo>
                  <a:pt x="955650" y="555119"/>
                </a:lnTo>
                <a:lnTo>
                  <a:pt x="938755" y="570945"/>
                </a:lnTo>
                <a:lnTo>
                  <a:pt x="922254" y="587182"/>
                </a:lnTo>
                <a:lnTo>
                  <a:pt x="906157" y="603819"/>
                </a:lnTo>
                <a:lnTo>
                  <a:pt x="890474" y="620847"/>
                </a:lnTo>
                <a:lnTo>
                  <a:pt x="875214" y="638255"/>
                </a:lnTo>
                <a:lnTo>
                  <a:pt x="860386" y="656033"/>
                </a:lnTo>
                <a:lnTo>
                  <a:pt x="846000" y="674170"/>
                </a:lnTo>
                <a:lnTo>
                  <a:pt x="832065" y="692655"/>
                </a:lnTo>
                <a:lnTo>
                  <a:pt x="818587" y="711477"/>
                </a:lnTo>
                <a:lnTo>
                  <a:pt x="805577" y="730625"/>
                </a:lnTo>
                <a:lnTo>
                  <a:pt x="793040" y="750086"/>
                </a:lnTo>
                <a:lnTo>
                  <a:pt x="780986" y="769850"/>
                </a:lnTo>
                <a:lnTo>
                  <a:pt x="769422" y="789904"/>
                </a:lnTo>
                <a:lnTo>
                  <a:pt x="758353" y="810237"/>
                </a:lnTo>
                <a:lnTo>
                  <a:pt x="747788" y="830835"/>
                </a:lnTo>
                <a:lnTo>
                  <a:pt x="737733" y="851686"/>
                </a:lnTo>
                <a:lnTo>
                  <a:pt x="728192" y="872779"/>
                </a:lnTo>
                <a:lnTo>
                  <a:pt x="719173" y="894100"/>
                </a:lnTo>
                <a:lnTo>
                  <a:pt x="710681" y="915635"/>
                </a:lnTo>
                <a:lnTo>
                  <a:pt x="702721" y="937373"/>
                </a:lnTo>
                <a:lnTo>
                  <a:pt x="695297" y="959300"/>
                </a:lnTo>
                <a:lnTo>
                  <a:pt x="688415" y="981403"/>
                </a:lnTo>
                <a:lnTo>
                  <a:pt x="682077" y="1003669"/>
                </a:lnTo>
                <a:lnTo>
                  <a:pt x="676289" y="1026083"/>
                </a:lnTo>
                <a:lnTo>
                  <a:pt x="671054" y="1048633"/>
                </a:lnTo>
                <a:lnTo>
                  <a:pt x="666374" y="1071305"/>
                </a:lnTo>
                <a:lnTo>
                  <a:pt x="662253" y="1094085"/>
                </a:lnTo>
                <a:lnTo>
                  <a:pt x="658693" y="1116959"/>
                </a:lnTo>
                <a:lnTo>
                  <a:pt x="655697" y="1139914"/>
                </a:lnTo>
                <a:lnTo>
                  <a:pt x="653265" y="1162936"/>
                </a:lnTo>
                <a:lnTo>
                  <a:pt x="651400" y="1186010"/>
                </a:lnTo>
                <a:lnTo>
                  <a:pt x="650103" y="1209124"/>
                </a:lnTo>
                <a:lnTo>
                  <a:pt x="649374" y="1232262"/>
                </a:lnTo>
                <a:lnTo>
                  <a:pt x="649214" y="1255411"/>
                </a:lnTo>
                <a:lnTo>
                  <a:pt x="649623" y="1278557"/>
                </a:lnTo>
                <a:lnTo>
                  <a:pt x="650601" y="1301686"/>
                </a:lnTo>
                <a:lnTo>
                  <a:pt x="652147" y="1324784"/>
                </a:lnTo>
                <a:lnTo>
                  <a:pt x="654260" y="1347837"/>
                </a:lnTo>
                <a:lnTo>
                  <a:pt x="656939" y="1370831"/>
                </a:lnTo>
                <a:lnTo>
                  <a:pt x="660183" y="1393753"/>
                </a:lnTo>
                <a:lnTo>
                  <a:pt x="663989" y="1416587"/>
                </a:lnTo>
                <a:lnTo>
                  <a:pt x="668355" y="1439322"/>
                </a:lnTo>
                <a:lnTo>
                  <a:pt x="673278" y="1461942"/>
                </a:lnTo>
                <a:lnTo>
                  <a:pt x="678756" y="1484434"/>
                </a:lnTo>
                <a:lnTo>
                  <a:pt x="684785" y="1506785"/>
                </a:lnTo>
                <a:close/>
              </a:path>
            </a:pathLst>
          </a:cu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8192957" y="1903030"/>
            <a:ext cx="780185" cy="732503"/>
          </a:xfrm>
          <a:custGeom>
            <a:avLst/>
            <a:gdLst/>
            <a:ahLst/>
            <a:cxnLst/>
            <a:rect l="l" t="t" r="r" b="b"/>
            <a:pathLst>
              <a:path w="780185" h="732503">
                <a:moveTo>
                  <a:pt x="0" y="246198"/>
                </a:moveTo>
                <a:lnTo>
                  <a:pt x="14022" y="236927"/>
                </a:lnTo>
                <a:lnTo>
                  <a:pt x="28151" y="227817"/>
                </a:lnTo>
                <a:lnTo>
                  <a:pt x="42383" y="218871"/>
                </a:lnTo>
                <a:lnTo>
                  <a:pt x="56716" y="210089"/>
                </a:lnTo>
                <a:lnTo>
                  <a:pt x="71150" y="201472"/>
                </a:lnTo>
                <a:lnTo>
                  <a:pt x="85682" y="193021"/>
                </a:lnTo>
                <a:lnTo>
                  <a:pt x="100310" y="184738"/>
                </a:lnTo>
                <a:lnTo>
                  <a:pt x="115032" y="176623"/>
                </a:lnTo>
                <a:lnTo>
                  <a:pt x="129847" y="168678"/>
                </a:lnTo>
                <a:lnTo>
                  <a:pt x="144751" y="160904"/>
                </a:lnTo>
                <a:lnTo>
                  <a:pt x="159745" y="153302"/>
                </a:lnTo>
                <a:lnTo>
                  <a:pt x="174824" y="145872"/>
                </a:lnTo>
                <a:lnTo>
                  <a:pt x="189988" y="138617"/>
                </a:lnTo>
                <a:lnTo>
                  <a:pt x="205234" y="131536"/>
                </a:lnTo>
                <a:lnTo>
                  <a:pt x="220561" y="124630"/>
                </a:lnTo>
                <a:lnTo>
                  <a:pt x="235965" y="117901"/>
                </a:lnTo>
                <a:lnTo>
                  <a:pt x="251447" y="111350"/>
                </a:lnTo>
                <a:lnTo>
                  <a:pt x="267002" y="104977"/>
                </a:lnTo>
                <a:lnTo>
                  <a:pt x="282630" y="98783"/>
                </a:lnTo>
                <a:lnTo>
                  <a:pt x="298327" y="92769"/>
                </a:lnTo>
                <a:lnTo>
                  <a:pt x="314093" y="86935"/>
                </a:lnTo>
                <a:lnTo>
                  <a:pt x="329925" y="81284"/>
                </a:lnTo>
                <a:lnTo>
                  <a:pt x="345821" y="75814"/>
                </a:lnTo>
                <a:lnTo>
                  <a:pt x="361778" y="70528"/>
                </a:lnTo>
                <a:lnTo>
                  <a:pt x="377795" y="65425"/>
                </a:lnTo>
                <a:lnTo>
                  <a:pt x="393870" y="60507"/>
                </a:lnTo>
                <a:lnTo>
                  <a:pt x="410000" y="55773"/>
                </a:lnTo>
                <a:lnTo>
                  <a:pt x="426184" y="51226"/>
                </a:lnTo>
                <a:lnTo>
                  <a:pt x="442419" y="46864"/>
                </a:lnTo>
                <a:lnTo>
                  <a:pt x="458702" y="42689"/>
                </a:lnTo>
                <a:lnTo>
                  <a:pt x="475033" y="38702"/>
                </a:lnTo>
                <a:lnTo>
                  <a:pt x="491408" y="34903"/>
                </a:lnTo>
                <a:lnTo>
                  <a:pt x="507826" y="31292"/>
                </a:lnTo>
                <a:lnTo>
                  <a:pt x="524285" y="27870"/>
                </a:lnTo>
                <a:lnTo>
                  <a:pt x="540781" y="24637"/>
                </a:lnTo>
                <a:lnTo>
                  <a:pt x="557314" y="21594"/>
                </a:lnTo>
                <a:lnTo>
                  <a:pt x="573880" y="18741"/>
                </a:lnTo>
                <a:lnTo>
                  <a:pt x="590479" y="16079"/>
                </a:lnTo>
                <a:lnTo>
                  <a:pt x="607106" y="13607"/>
                </a:lnTo>
                <a:lnTo>
                  <a:pt x="623761" y="11327"/>
                </a:lnTo>
                <a:lnTo>
                  <a:pt x="640441" y="9238"/>
                </a:lnTo>
                <a:lnTo>
                  <a:pt x="657144" y="7342"/>
                </a:lnTo>
                <a:lnTo>
                  <a:pt x="673868" y="5637"/>
                </a:lnTo>
                <a:lnTo>
                  <a:pt x="690610" y="4124"/>
                </a:lnTo>
                <a:lnTo>
                  <a:pt x="707369" y="2804"/>
                </a:lnTo>
                <a:lnTo>
                  <a:pt x="724141" y="1676"/>
                </a:lnTo>
                <a:lnTo>
                  <a:pt x="740926" y="742"/>
                </a:lnTo>
                <a:lnTo>
                  <a:pt x="757720" y="0"/>
                </a:lnTo>
                <a:lnTo>
                  <a:pt x="780185" y="584785"/>
                </a:lnTo>
                <a:lnTo>
                  <a:pt x="770108" y="585230"/>
                </a:lnTo>
                <a:lnTo>
                  <a:pt x="760038" y="585790"/>
                </a:lnTo>
                <a:lnTo>
                  <a:pt x="749974" y="586467"/>
                </a:lnTo>
                <a:lnTo>
                  <a:pt x="739919" y="587259"/>
                </a:lnTo>
                <a:lnTo>
                  <a:pt x="729874" y="588167"/>
                </a:lnTo>
                <a:lnTo>
                  <a:pt x="719840" y="589190"/>
                </a:lnTo>
                <a:lnTo>
                  <a:pt x="709818" y="590328"/>
                </a:lnTo>
                <a:lnTo>
                  <a:pt x="699810" y="591581"/>
                </a:lnTo>
                <a:lnTo>
                  <a:pt x="689817" y="592949"/>
                </a:lnTo>
                <a:lnTo>
                  <a:pt x="679840" y="594432"/>
                </a:lnTo>
                <a:lnTo>
                  <a:pt x="669881" y="596029"/>
                </a:lnTo>
                <a:lnTo>
                  <a:pt x="659941" y="597741"/>
                </a:lnTo>
                <a:lnTo>
                  <a:pt x="650022" y="599567"/>
                </a:lnTo>
                <a:lnTo>
                  <a:pt x="640124" y="601506"/>
                </a:lnTo>
                <a:lnTo>
                  <a:pt x="630249" y="603560"/>
                </a:lnTo>
                <a:lnTo>
                  <a:pt x="620398" y="605726"/>
                </a:lnTo>
                <a:lnTo>
                  <a:pt x="610573" y="608006"/>
                </a:lnTo>
                <a:lnTo>
                  <a:pt x="600774" y="610398"/>
                </a:lnTo>
                <a:lnTo>
                  <a:pt x="591004" y="612903"/>
                </a:lnTo>
                <a:lnTo>
                  <a:pt x="581263" y="615520"/>
                </a:lnTo>
                <a:lnTo>
                  <a:pt x="571553" y="618249"/>
                </a:lnTo>
                <a:lnTo>
                  <a:pt x="561875" y="621089"/>
                </a:lnTo>
                <a:lnTo>
                  <a:pt x="552230" y="624040"/>
                </a:lnTo>
                <a:lnTo>
                  <a:pt x="542620" y="627101"/>
                </a:lnTo>
                <a:lnTo>
                  <a:pt x="533045" y="630273"/>
                </a:lnTo>
                <a:lnTo>
                  <a:pt x="523508" y="633555"/>
                </a:lnTo>
                <a:lnTo>
                  <a:pt x="514009" y="636946"/>
                </a:lnTo>
                <a:lnTo>
                  <a:pt x="504549" y="640446"/>
                </a:lnTo>
                <a:lnTo>
                  <a:pt x="495131" y="644054"/>
                </a:lnTo>
                <a:lnTo>
                  <a:pt x="485754" y="647771"/>
                </a:lnTo>
                <a:lnTo>
                  <a:pt x="476421" y="651594"/>
                </a:lnTo>
                <a:lnTo>
                  <a:pt x="467132" y="655525"/>
                </a:lnTo>
                <a:lnTo>
                  <a:pt x="457889" y="659563"/>
                </a:lnTo>
                <a:lnTo>
                  <a:pt x="448693" y="663706"/>
                </a:lnTo>
                <a:lnTo>
                  <a:pt x="439546" y="667955"/>
                </a:lnTo>
                <a:lnTo>
                  <a:pt x="430447" y="672308"/>
                </a:lnTo>
                <a:lnTo>
                  <a:pt x="421400" y="676766"/>
                </a:lnTo>
                <a:lnTo>
                  <a:pt x="412404" y="681327"/>
                </a:lnTo>
                <a:lnTo>
                  <a:pt x="403461" y="685992"/>
                </a:lnTo>
                <a:lnTo>
                  <a:pt x="394572" y="690759"/>
                </a:lnTo>
                <a:lnTo>
                  <a:pt x="385739" y="695627"/>
                </a:lnTo>
                <a:lnTo>
                  <a:pt x="376962" y="700597"/>
                </a:lnTo>
                <a:lnTo>
                  <a:pt x="368243" y="705668"/>
                </a:lnTo>
                <a:lnTo>
                  <a:pt x="359583" y="710838"/>
                </a:lnTo>
                <a:lnTo>
                  <a:pt x="350983" y="716107"/>
                </a:lnTo>
                <a:lnTo>
                  <a:pt x="342443" y="721475"/>
                </a:lnTo>
                <a:lnTo>
                  <a:pt x="333966" y="726941"/>
                </a:lnTo>
                <a:lnTo>
                  <a:pt x="325553" y="732503"/>
                </a:lnTo>
                <a:close/>
              </a:path>
            </a:pathLst>
          </a:cu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907792"/>
            <a:ext cx="1828800" cy="9144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۷۰-۲۰-۱۰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مدل یادگیری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193792"/>
            <a:ext cx="3657600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مرجع: مؤسسه CCL آمریکا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536192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1536192"/>
            <a:ext cx="82296" cy="7498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536192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۷۰٪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536192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انجام کار واقعی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414016"/>
            <a:ext cx="6812280" cy="896112"/>
          </a:xfrm>
          <a:prstGeom prst="roundRect">
            <a:avLst>
              <a:gd name="adj" fmla="val 12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414016"/>
            <a:ext cx="82296" cy="8961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16168" y="2414016"/>
            <a:ext cx="1280160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۲۰٪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414016"/>
            <a:ext cx="4965192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تعامل با آدم‌های دیگر</a:t>
            </a: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← اینجا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438144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3438144"/>
            <a:ext cx="82296" cy="7498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16168" y="3438144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۱۰٪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38144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کلاس و کتاب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443984"/>
            <a:ext cx="681228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590288"/>
            <a:ext cx="6300216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 بودجه آموزشی ما کجا خرج می‌شود؟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029200"/>
            <a:ext cx="6300216" cy="365760"/>
          </a:xfrm>
          <a:prstGeom prst="roundRect">
            <a:avLst>
              <a:gd name="adj" fmla="val 30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452981" y="5029200"/>
            <a:ext cx="5670194" cy="365760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2981" y="5029200"/>
            <a:ext cx="5670194" cy="3657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۹۰٪ روی کلاس و دوره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504688"/>
            <a:ext cx="6300216" cy="38404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یعنی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۹۰٪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بودجه، روی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۱۰٪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یادگیری. منتورینگ گروهی سراغ آن </a:t>
            </a:r>
            <a:r>
              <a:rPr sz="15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۲۰٪ رهاشده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می‌رود.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۶ / ۲۰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circle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روش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تعریف، مرزها، و نقش‌هایی که در اتاق وجود دارد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تعریف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منتورینگ گروهی، در یک جمله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499616"/>
            <a:ext cx="11057839" cy="14264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14264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1499616"/>
            <a:ext cx="10399471" cy="14264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گروهی کوچک از همکاران که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مرتب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دور هم جمع می‌شوند تا روی </a:t>
            </a:r>
            <a:r>
              <a:rPr sz="25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چالش‌های واقعی کاری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یکدیگر فکر کنند — با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پرسش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با </a:t>
            </a:r>
            <a:r>
              <a:rPr sz="250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نسخه‌پیچی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6047" y="3200400"/>
            <a:ext cx="2558719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06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۸ تا ۱۲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نفر در هر گروه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3200400"/>
            <a:ext cx="2558719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۹۰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دقیقه در هر جلسه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996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99967" y="3200400"/>
            <a:ext cx="2558719" cy="6400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798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هر ۲ هفته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بار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200400"/>
            <a:ext cx="2558719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 ماه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طول یک دوره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1295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43439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5A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 ← 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7327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کلاسیک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نفر می‌داند، یک نفر یاد می‌گیرد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59071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 ⇄ همه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همه می‌دانند، همه یاد می‌گیرند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۸ / ۲۰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مرزبندی — تا انتظار اشتباه شکل نگیرد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هست، چه چیزی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78727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1901952"/>
            <a:ext cx="5346039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727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✓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7599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047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فضای فکر کردن با هم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مسئله‌ای که واقعاً درگیرش هستید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تجربه همکار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که مسیر شما را رفته است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7599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3047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تمرین پرسیدن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مهارتی که در جلسات کاری هم به کار می‌آید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تعهد به یک اقدام کوچک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جلسه، یک قدم مشخص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97599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محرمانه و داوطلبانه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هیچ‌کس اجباری نیست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1901952"/>
            <a:ext cx="5346039" cy="1463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✕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کلاس آموزشی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قرار نیست تدریس کند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گزارش‌دهی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 صورت‌جلسه‌ای به بالا نمی‌رود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ارزیابی عملکرد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پرونده پرسنلی شما اثری ندارد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شکایت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درباره مسئله حرف می‌زنیم، نه درباره آدم‌ها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جای نصیحت کردن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قدیمی‌ترها هم اینجا فقط می‌پرسند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۹ / ۲۰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نقش‌ها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در اتاق، سه نقش وجود دارد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3892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3892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3892" y="2304288"/>
            <a:ext cx="3490874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84687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صاحب چالش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نفر، داوطلب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 واقعی‌اش را روایت می‌کند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فقط گوش می‌دهد و یادداشت برمی‌دارد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در پایان تصمیم می‌گیرد چه کند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0410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0410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0410" y="2304288"/>
            <a:ext cx="3490874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201204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578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گروه همتا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۷ تا ۱۱ نفر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9866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سؤال می‌پرسند، راه‌حل نمی‌دهند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9866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تجربه مشابه خود را روایت می‌کنند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قضاوت نمی‌کنند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7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6927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7" y="2304288"/>
            <a:ext cx="3490874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17722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5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تسهیل‌گر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چرخشی، هر جلسه یک نفر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3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زمان را نگه می‌دارد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3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قواعد را یادآوری می‌کند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3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خودش کمترین حرف را می‌زند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956048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42471" y="4956048"/>
            <a:ext cx="82296" cy="93268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4956048"/>
            <a:ext cx="10436047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نکته‌ای که همه‌چیز را عوض می‌کند:   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هفته بعد، صاحب چالش یک نفر دیگر است. امروز کمک می‌گیرید، دفعه بعد کمک می‌کنید.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۱۰ / ۲۰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kickoff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۳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 اجرا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جلسه واقعی، دقیقه به دقیقه — و مهارتی که باید یاد بگیریم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آناتومی ۹۰ دقیقه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جلسه واقعی چطور پیش می‌رود؟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96118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96118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67469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7469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8820" y="1499616"/>
            <a:ext cx="1196644" cy="347472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8820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1523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1523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24225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4225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1252" y="1499616"/>
            <a:ext cx="1810969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1252" y="1499616"/>
            <a:ext cx="1842973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7" y="1499616"/>
            <a:ext cx="582320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7" y="1499616"/>
            <a:ext cx="614324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029968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90911" y="207568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98487" y="202996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باز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202996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جمله: این هفته چطور بود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90911" y="256489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8487" y="251917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مرور تعهدها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251917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جلسه قبل چه قول دادیم و چه شد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008376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90911" y="3054096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8487" y="3008376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روایت چالش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008376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داوطلب مسئله‌اش را می‌گوید، بدون قطع شدن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90911" y="3543300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8487" y="3497580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فقط سؤال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3497580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فقط می‌پرسد — هیچ راه‌حلی ممنوع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986784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490911" y="4032504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8487" y="3986784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تجربه‌های مشابه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3986784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«من هم یک بار…» — روایت، نه دستور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90911" y="452170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8487" y="447598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انتخاب و تعهد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447598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صاحب چالش می‌گوید چه می‌کند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65192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490911" y="501091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98487" y="496519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بسته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96519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کلمه: چه چیزی با خود می‌برد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41264"/>
            <a:ext cx="11057839" cy="603504"/>
          </a:xfrm>
          <a:prstGeom prst="roundRect">
            <a:avLst>
              <a:gd name="adj" fmla="val 13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541264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۴۰ دقیقه از ۹۰ دقیقه — یعنی نیمی از جلسه — </a:t>
            </a: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فقط سؤال و روایت است</a:t>
            </a: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راه‌حل.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۱۲ / ۲۰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مهارت کلیدی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قلب روش: به‌جای نصیحت، بپرس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2-listen.jpg"/>
          <p:cNvPicPr>
            <a:picLocks noChangeAspect="1"/>
          </p:cNvPicPr>
          <p:nvPr/>
        </p:nvPicPr>
        <p:blipFill>
          <a:blip r:embed="rId2"/>
          <a:srcRect l="1058" r="1058"/>
          <a:stretch>
            <a:fillRect/>
          </a:stretch>
        </p:blipFill>
        <p:spPr>
          <a:xfrm>
            <a:off x="566928" y="1499616"/>
            <a:ext cx="3383280" cy="2304288"/>
          </a:xfrm>
          <a:prstGeom prst="round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3950208"/>
            <a:ext cx="3383280" cy="2249424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67912" y="3950208"/>
            <a:ext cx="82296" cy="224942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51376"/>
            <a:ext cx="2907792" cy="1874519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نصیحت جواب نمی‌دهد؟</a:t>
            </a:r>
          </a:p>
          <a:p>
            <a:pPr rtl="1" algn="r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چون شما تمام جزئیات مسئله او را نمی‌دانید.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ولی یک سؤال خوب، خودِ او را به جوابی می‌رساند که خودش اجرایش می‌کند.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5815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5815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به‌جای این…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را بگویید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815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407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«جای تو بودم فلان کار را می‌کردم.»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2544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«خودت چه گزینه‌هایی را سنجیدی؟»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815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407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«این روش اشتباه است.»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«اگر جواب ندهد، بدترین اتفاق چیست؟»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25815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0407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«ما همیشه اینجوری کردیم.»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2544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«چه چیزی این مسئله را برایت سخت کرده؟»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5815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407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«نگران نباش، درست می‌شود.»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7136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«موفقیت در این مسئله برایت یعنی چه؟»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۱۳ / ۲۰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پیمان گروه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پنج قاعده‌ای که فضا را امن می‌کند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3847" y="1499616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83519" y="1700784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9879" y="1499616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اینجا سِمَت نداریم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این ۹۰ دقیقه هیچ‌کس رئیس کسی نیست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3847" y="2404872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33327" y="2404872"/>
            <a:ext cx="91440" cy="822960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83519" y="2606040"/>
            <a:ext cx="420624" cy="420624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9879" y="2404872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هرچه گفته شد، همین‌جا می‌ماند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بدون استثنا، بدون صورت‌جلسه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3847" y="3310128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33327" y="3310128"/>
            <a:ext cx="91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3519" y="3511296"/>
            <a:ext cx="420624" cy="420624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9879" y="3310128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سؤال بپرس، نسخه نپیچ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کنجکاوی به‌جای نصیحت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63847" y="4215384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33327" y="4215384"/>
            <a:ext cx="91440" cy="82296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83519" y="4416552"/>
            <a:ext cx="420624" cy="420624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9879" y="4215384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هیچ سؤالی احمقانه نیست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و هیچ تجربه‌ای بی‌ارزش 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3847" y="5120640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3327" y="512064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83519" y="5321808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9879" y="5120640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گوش بده تا بفهمی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اینکه منتظر نوبت حرف زدنت باشی</a:t>
            </a:r>
          </a:p>
        </p:txBody>
      </p:sp>
      <p:pic>
        <p:nvPicPr>
          <p:cNvPr id="36" name="Picture 35" descr="13-safe.jpg"/>
          <p:cNvPicPr>
            <a:picLocks noChangeAspect="1"/>
          </p:cNvPicPr>
          <p:nvPr/>
        </p:nvPicPr>
        <p:blipFill>
          <a:blip r:embed="rId2"/>
          <a:srcRect l="10316" r="10316"/>
          <a:stretch>
            <a:fillRect/>
          </a:stretch>
        </p:blipFill>
        <p:spPr>
          <a:xfrm>
            <a:off x="566928" y="1499616"/>
            <a:ext cx="3331159" cy="2798064"/>
          </a:xfrm>
          <a:prstGeom prst="round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66928" y="4443984"/>
            <a:ext cx="3331159" cy="1755648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15791" y="4443984"/>
            <a:ext cx="82296" cy="17556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4626864"/>
            <a:ext cx="2855671" cy="1417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این پنج تا؟</a:t>
            </a:r>
          </a:p>
          <a:p>
            <a:pPr rtl="1" algn="r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وقتی کسی نترسد از گفتنِ «بلد نیستم»، هیچ یادگیری‌ای شروع نمی‌شود.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۱۴ / ۲۰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مسیر پیشِ رو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شش ماه، دوازده جلسه، یک گروه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46727" y="1499616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42471" y="1499616"/>
            <a:ext cx="82296" cy="95097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69119" y="1737360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759" y="1499616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شکل‌گیری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آشنایی، بستن پیمان گروه، انتخاب اولین داوطلب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545775" y="2459736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46727" y="2606040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542471" y="2606040"/>
            <a:ext cx="82296" cy="950976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69119" y="2843784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۲ تا 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2759" y="2606040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تمرین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قواعد هنوز سخت است؛ تسهیل‌گر بیشتر دخالت می‌کند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545775" y="3566160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46727" y="3712464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3712464"/>
            <a:ext cx="82296" cy="95097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69119" y="3950208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۵ تا ۱۰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2759" y="3712464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اوج‌گیری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روان می‌شود؛ تسهیل‌گری چرخشی آغاز می‌شود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0545775" y="4672584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6727" y="4818888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4818888"/>
            <a:ext cx="82296" cy="95097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69119" y="5056632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۱۱ و ۱۲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2759" y="4818888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جمع‌بندی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مرور دستاوردها و تصمیم برای دوره بعد</a:t>
            </a:r>
          </a:p>
        </p:txBody>
      </p:sp>
      <p:pic>
        <p:nvPicPr>
          <p:cNvPr id="35" name="Picture 34" descr="04-climb.jpg"/>
          <p:cNvPicPr>
            <a:picLocks noChangeAspect="1"/>
          </p:cNvPicPr>
          <p:nvPr/>
        </p:nvPicPr>
        <p:blipFill>
          <a:blip r:embed="rId2"/>
          <a:srcRect t="9992" b="9992"/>
          <a:stretch>
            <a:fillRect/>
          </a:stretch>
        </p:blipFill>
        <p:spPr>
          <a:xfrm>
            <a:off x="566928" y="1499616"/>
            <a:ext cx="3514039" cy="1874519"/>
          </a:xfrm>
          <a:prstGeom prst="round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6928" y="3493008"/>
            <a:ext cx="3514039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6928" y="3493008"/>
            <a:ext cx="3514039" cy="493776"/>
          </a:xfrm>
          <a:prstGeom prst="roundRect">
            <a:avLst>
              <a:gd name="adj" fmla="val 1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858768"/>
            <a:ext cx="3514039" cy="12801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493008"/>
            <a:ext cx="3514039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شما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0782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حضور منظم در ۱۲ جلسه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43068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آوردن یک چالش واقعی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5354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رعایت محرمانگی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7640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اقدام کوچک بین دو جلسه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02352"/>
            <a:ext cx="3514039" cy="1097280"/>
          </a:xfrm>
          <a:prstGeom prst="roundRect">
            <a:avLst>
              <a:gd name="adj" fmla="val 4500"/>
            </a:avLst>
          </a:prstGeom>
          <a:solidFill>
            <a:srgbClr val="FFF3EC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02352"/>
            <a:ext cx="3111703" cy="10972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و اگر نشد؟</a:t>
            </a:r>
          </a:p>
          <a:p>
            <a:pPr rtl="1" algn="r">
              <a:lnSpc>
                <a:spcPct val="124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0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بعد از جلسه سوم، هر کس خواست می‌تواند کنار بکشد — بدون توضیح.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۱۵ / ۲۰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growth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۴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چیزی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عوض 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برای شما، برای تیم، و برای سازمان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دستاورد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عاید چه کسی می‌شود؟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9583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9583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9583" y="1920240"/>
            <a:ext cx="5355183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583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شما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8455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3903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مسئله‌تان زودتر حل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به‌جای هفته‌ها کلنجار، ۹۰ دقیقه با ۱۰ ذهن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3903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پرسیدن یاد می‌گیرید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جلسات و مذاکرات کاری هم به کارتان می‌آید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8455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3903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شبکه‌تان گسترده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می‌دانید برای هر مسئله سراغ چه کسی بروید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3903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کمتر احساس تنهایی می‌کنید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می‌فهمید دیگران هم همین را تجربه کرده‌اند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1920240"/>
            <a:ext cx="5355183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سازمان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تکرار اشتباهات کم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شکست یک واحد، درسِ واحد دیگر می‌شود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 ماندگار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از سرِ افراد به حافظه جمعی منتقل می‌شود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تازه‌واردها زودتر جا می‌افتند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مسیر شش‌ماهه، چندهفته‌ای طی می‌شود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افراد می‌مانند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آدم‌ها جایی که رشد می‌کنند را ترک نمی‌کنند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542471" y="4754880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" y="4754880"/>
            <a:ext cx="10436047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هزینه‌اش؟  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 دقیقه، هر دو هفته یک بار — یعنی حدود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درصد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وقت کاری شما.</a:t>
            </a:r>
          </a:p>
        </p:txBody>
      </p:sp>
      <p:pic>
        <p:nvPicPr>
          <p:cNvPr id="39" name="Picture 38" descr="11-commit.jpg"/>
          <p:cNvPicPr>
            <a:picLocks noChangeAspect="1"/>
          </p:cNvPicPr>
          <p:nvPr/>
        </p:nvPicPr>
        <p:blipFill>
          <a:blip r:embed="rId2"/>
          <a:srcRect t="38070" b="38070"/>
          <a:stretch>
            <a:fillRect/>
          </a:stretch>
        </p:blipFill>
        <p:spPr>
          <a:xfrm>
            <a:off x="8060740" y="5705856"/>
            <a:ext cx="3564026" cy="566928"/>
          </a:xfrm>
          <a:prstGeom prst="round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فردی</a:t>
            </a:r>
          </a:p>
        </p:txBody>
      </p:sp>
      <p:pic>
        <p:nvPicPr>
          <p:cNvPr id="42" name="Picture 41" descr="10-safe.jpg"/>
          <p:cNvPicPr>
            <a:picLocks noChangeAspect="1"/>
          </p:cNvPicPr>
          <p:nvPr/>
        </p:nvPicPr>
        <p:blipFill>
          <a:blip r:embed="rId3"/>
          <a:srcRect t="38070" b="38070"/>
          <a:stretch>
            <a:fillRect/>
          </a:stretch>
        </p:blipFill>
        <p:spPr>
          <a:xfrm>
            <a:off x="4313834" y="5705856"/>
            <a:ext cx="3564026" cy="566928"/>
          </a:xfrm>
          <a:prstGeom prst="round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فضای امن</a:t>
            </a:r>
          </a:p>
        </p:txBody>
      </p:sp>
      <p:pic>
        <p:nvPicPr>
          <p:cNvPr id="45" name="Picture 44" descr="05-circle.jpg"/>
          <p:cNvPicPr>
            <a:picLocks noChangeAspect="1"/>
          </p:cNvPicPr>
          <p:nvPr/>
        </p:nvPicPr>
        <p:blipFill>
          <a:blip r:embed="rId4"/>
          <a:srcRect t="38070" b="38070"/>
          <a:stretch>
            <a:fillRect/>
          </a:stretch>
        </p:blipFill>
        <p:spPr>
          <a:xfrm>
            <a:off x="566927" y="5705856"/>
            <a:ext cx="3564026" cy="566928"/>
          </a:xfrm>
          <a:prstGeom prst="round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گفتگوی گروهی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۱۷ / ۲۰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star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۵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خودمان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انجامش می‌دهیم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دور واقعی، همین امروز، ۳۰ دقیقه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1B4965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7839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تجربه زنده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دور کوتاه — ۳۰ دقیقه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331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44189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8635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داوطلب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چالشش را در سه جمله می‌گوید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15721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سؤال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هر کس یک سؤال — راه‌حل ممنوع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87253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1699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تجربه مشابه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«من هم یک بار…» در یک دقیقه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58785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تصمیم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داوطلب می‌گوید چه می‌کند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13632"/>
            <a:ext cx="11057839" cy="768096"/>
          </a:xfrm>
          <a:prstGeom prst="roundRect">
            <a:avLst>
              <a:gd name="adj" fmla="val 11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913632"/>
            <a:ext cx="11057839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تنها قاعده امروز:  </a:t>
            </a: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ده دقیقه دوم، هیچ‌کس حق ندارد جمله‌ای بگوید که علامت سؤال ندارد.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11057839" cy="1298448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919472"/>
            <a:ext cx="10326319" cy="12984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 کسی چالشش را می‌آورد؟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لازم نیست مسئله بزرگی باشد — همان چیزی که اول جلسه در ذهن نگه داشتید کافی 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oad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88000"/>
                </a:srgbClr>
              </a:gs>
              <a:gs pos="100000">
                <a:srgbClr val="D94E1F">
                  <a:alpha val="34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2064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قدم بعدی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57839" cy="69494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کسی می‌خواهد نفر اول باشد؟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10512"/>
            <a:ext cx="90827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ما آدم‌های باتجربه‌ای را استخدام کردیم و کنار هم نشاندیم.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یادمان رفت فرصتی بسازیم که با هم حرف بزنند.</a:t>
            </a:r>
          </a:p>
          <a:p>
            <a:pPr rtl="1" algn="ctr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 طرح، همان فرصت است.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74133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83861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جلسه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2332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32060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ساعت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[ساعت]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530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0258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مکان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[مکان]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8729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8457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ظرفیت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۱۲ نفر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تماس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[داخلی]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4247" y="4956048"/>
            <a:ext cx="274320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11057839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برگه ثبت‌نام همین حالا دست به دست می‌شود.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بهترین زمان برای شروع، الان است.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