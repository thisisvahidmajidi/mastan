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قبل از شروع، صندلی‌ها را دایره‌ای بچینید. پشت میز یا جایگاه نایستید.</a:t>
            </a:r>
          </a:p>
          <a:p>
            <a:pPr rtl="1" algn="r"/>
            <a:r>
              <a:rPr sz="1300">
                <a:latin typeface="IRANSans"/>
              </a:rPr>
              <a:t>جمله شروع: «این آخرین جلسه‌ای است که من جلوی شما می‌ایستم و حرف می‌زنم.»</a:t>
            </a:r>
          </a:p>
          <a:p>
            <a:pPr rtl="1" algn="r"/>
            <a:r>
              <a:rPr sz="1300">
                <a:latin typeface="IRANSans"/>
              </a:rPr>
              <a:t>زمان: ۱ دقیقه.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روی «تجربه زنده» مکث کنید. مخاطب باید بداند این جلسه سخنرانی نیست.</a:t>
            </a:r>
          </a:p>
          <a:p>
            <a:pPr rtl="1" algn="r"/>
            <a:r>
              <a:rPr sz="1300">
                <a:latin typeface="IRANSans"/>
              </a:rPr>
              <a:t>درخواستِ «یک چالش واقعی در ذهن نگه دارید» را جدی و آرام بگویید.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واقعاً ۶۰ ثانیه سکوت بدهید و از ۳ تا ۴ نفر بپرسید.</a:t>
            </a:r>
          </a:p>
          <a:p>
            <a:pPr rtl="1" algn="r"/>
            <a:r>
              <a:rPr sz="1300">
                <a:latin typeface="IRANSans"/>
              </a:rPr>
              <a:t>تقریباً همه یک اسم می‌گویند، نه یک دوره. همین، کل استدلال ارائه است.</a:t>
            </a:r>
          </a:p>
          <a:p>
            <a:pPr rtl="1" algn="r"/>
            <a:r>
              <a:rPr sz="1300">
                <a:latin typeface="IRANSans"/>
              </a:rPr>
              <a:t>اگر کسی «کلاس» گفت، بپرسید: «چه چیزی از آن کلاس هنوز یادتان است؟»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کلمه کلیدی «پرسش، نه نسخه‌پیچی» را دو بار تکرار کنید — کل تفاوت روش همین است.</a:t>
            </a:r>
          </a:p>
          <a:p>
            <a:pPr rtl="1" algn="r"/>
            <a:r>
              <a:rPr sz="1300">
                <a:latin typeface="IRANSans"/>
              </a:rPr>
              <a:t>تفاوت با منتورینگ کلاسیک را سریع رد شوید؛ اسلاید بعد مرزها را دقیق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ستون «نیست» مهم‌تر از ستون «هست» است. بیشترین مقاومت از همین سوءتفاهم‌ها می‌آید.</a:t>
            </a:r>
          </a:p>
          <a:p>
            <a:pPr rtl="1" algn="r"/>
            <a:r>
              <a:rPr sz="1300">
                <a:latin typeface="IRANSans"/>
              </a:rPr>
              <a:t>روی «هیچ صورت‌جلسه‌ای به بالا نمی‌رود» مکث کنید و در چشم افراد نگاه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تأکید: تسهیل‌گری چرخشی است — این طرح مالِ یک نفر نیست، مالِ گروه است.</a:t>
            </a:r>
          </a:p>
          <a:p>
            <a:pPr rtl="1" algn="r"/>
            <a:r>
              <a:rPr sz="1300">
                <a:latin typeface="IRANSans"/>
              </a:rPr>
              <a:t>اگر پرسیدند «مدیر هم در گروه هست؟» بگویید: بله، ولی به‌عنوان عضو گروه همتا.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اینجا حتماً یک مثال واقعی از سازمان خودتان بزنید (بدون بردن نام افراد).</a:t>
            </a:r>
          </a:p>
          <a:p>
            <a:pPr rtl="1" algn="r"/>
            <a:r>
              <a:rPr sz="1300">
                <a:latin typeface="IRANSans"/>
              </a:rPr>
              <a:t>یک مثال واقعی، از هر چهار مورد این فهرست مؤثرتر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اسلاید پشتوانه علمی طرح است و مخصوصاً برای مدیران نوشته شده.</a:t>
            </a:r>
          </a:p>
          <a:p>
            <a:pPr rtl="1" algn="r"/>
            <a:r>
              <a:rPr sz="1300">
                <a:latin typeface="IRANSans"/>
              </a:rPr>
              <a:t>اگر عدد دقیق بودجه سازمان را دارید، جایگزین کنید — تأثیرش چند برابر 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استدلال «مقیاس‌پذیری» را برای مدیران پررنگ کنید: منتور باتجربه کمیاب است،</a:t>
            </a:r>
          </a:p>
          <a:p>
            <a:pPr rtl="1" algn="r"/>
            <a:r>
              <a:rPr sz="1300">
                <a:latin typeface="IRANSans"/>
              </a:rPr>
              <a:t>ولی هر ۱۰ نفر می‌توانند برای هم گروه همتا باشند.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اگر مخاطب بیشتر کارشناس است، ستون راست را کامل بخوانید و چپ را سریع رد شوید.</a:t>
            </a:r>
          </a:p>
          <a:p>
            <a:pPr rtl="1" algn="r"/>
            <a:r>
              <a:rPr sz="1300">
                <a:latin typeface="IRANSans"/>
              </a:rPr>
              <a:t>اگر مدیران حاضرند، برعکس.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بخش «فقط سؤال» عجیب‌ترین قسمت است و بیشترین مقاومت را دارد.</a:t>
            </a:r>
          </a:p>
          <a:p>
            <a:pPr rtl="1" algn="r"/>
            <a:r>
              <a:rPr sz="1300">
                <a:latin typeface="IRANSans"/>
              </a:rPr>
              <a:t>بگویید: «می‌دانم سخت است. اسلاید بعد نشان می‌دهم چرا ارزشش را دارد.»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مهم‌ترین اسلاید ارائه است. آرام بخوانید و بعد از هر جفت، مکث کوتاه کنید.</a:t>
            </a:r>
          </a:p>
          <a:p>
            <a:pPr rtl="1" algn="r"/>
            <a:r>
              <a:rPr sz="1300">
                <a:latin typeface="IRANSans"/>
              </a:rPr>
              <a:t>از گروه بخواهید یک نمونه دیگر بسازند — اگر توانستند، یعنی روش را گرفته‌اند.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قواعد را نخوانید — از گروه بخواهید بلند بخوانند و تأیید کنند.</a:t>
            </a:r>
          </a:p>
          <a:p>
            <a:pPr rtl="1" algn="r"/>
            <a:r>
              <a:rPr sz="1300">
                <a:latin typeface="IRANSans"/>
              </a:rPr>
              <a:t>پیشنهاد: روی یک برگه بزرگ بنویسید و هر جلسه روی دیوار اتاق بزنید.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جمله «بدون توضیح می‌توانید کنار بکشید» را حتماً بگویید.</a:t>
            </a:r>
          </a:p>
          <a:p>
            <a:pPr rtl="1" algn="r"/>
            <a:r>
              <a:rPr sz="1300">
                <a:latin typeface="IRANSans"/>
              </a:rPr>
              <a:t>داوطلبانه بودن، شرط کارکردنِ این روش است — نه یک تعارف.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مهم‌ترین ۳۰ دقیقه امروز است. تایمر بگذارید و سفت نگه دارید.</a:t>
            </a:r>
          </a:p>
          <a:p>
            <a:pPr rtl="1" algn="r"/>
            <a:r>
              <a:rPr sz="1300">
                <a:latin typeface="IRANSans"/>
              </a:rPr>
              <a:t>اگر کسی در بخش «فقط سؤال» راه‌حل داد، با لبخند وسط حرفش بروید:</a:t>
            </a:r>
          </a:p>
          <a:p>
            <a:pPr rtl="1" algn="r"/>
            <a:r>
              <a:rPr sz="1300">
                <a:latin typeface="IRANSans"/>
              </a:rPr>
              <a:t>«این را نگه دار برای ده دقیقه بعد.»</a:t>
            </a:r>
          </a:p>
          <a:p>
            <a:pPr rtl="1" algn="r"/>
            <a:r>
              <a:rPr sz="1300">
                <a:latin typeface="IRANSans"/>
              </a:rPr>
              <a:t>اگر داوطلب پیدا نشد، خودتان یک چالش واقعی از کار خودتان بیاورید.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نگویید «سؤالی نیست؟». بگویید: «چه کسی می‌خواهد نفر اول باشد؟»</a:t>
            </a:r>
          </a:p>
          <a:p>
            <a:pPr rtl="1" algn="r"/>
            <a:r>
              <a:rPr sz="1300">
                <a:latin typeface="IRANSans"/>
              </a:rPr>
              <a:t>برگه ثبت‌نام را همان لحظه دست به دست کنید — نه ایمیل کنید، نه فردا.</a:t>
            </a:r>
          </a:p>
          <a:p>
            <a:pPr rtl="1" algn="r"/>
            <a:r>
              <a:rPr sz="1300">
                <a:latin typeface="IRANSans"/>
              </a:rPr>
              <a:t>اگر کسی گفت «فکر می‌کنم و خبر می‌دهم»، احترام بگذارید و اصرار نکنید.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/>
              </a:gs>
              <a:gs pos="100000">
                <a:srgbClr val="2A6F97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-kickoff.jpg"/>
          <p:cNvPicPr>
            <a:picLocks noChangeAspect="1"/>
          </p:cNvPicPr>
          <p:nvPr/>
        </p:nvPicPr>
        <p:blipFill>
          <a:blip r:embed="rId2"/>
          <a:srcRect l="21778" r="21778"/>
          <a:stretch>
            <a:fillRect/>
          </a:stretch>
        </p:blipFill>
        <p:spPr>
          <a:xfrm>
            <a:off x="6385255" y="0"/>
            <a:ext cx="580644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385255" y="0"/>
            <a:ext cx="5806440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96000"/>
                </a:srgbClr>
              </a:gs>
              <a:gs pos="100000">
                <a:srgbClr val="0E2C40">
                  <a:alpha val="8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57800" y="1554480"/>
            <a:ext cx="1280160" cy="635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5806440" cy="30175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جلسه افتتاحیه منتورینگ گروهی</a:t>
            </a:r>
          </a:p>
          <a:p>
            <a:pPr rtl="1" algn="r">
              <a:lnSpc>
                <a:spcPct val="122000"/>
              </a:lnSpc>
              <a:spcBef>
                <a:spcPts val="160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با هم</a:t>
            </a:r>
          </a:p>
          <a:p>
            <a:pPr rtl="1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بلد </a:t>
            </a:r>
            <a:r>
              <a:rPr sz="52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می‌شویم</a:t>
            </a:r>
          </a:p>
          <a:p>
            <a:pPr rtl="1" algn="r">
              <a:lnSpc>
                <a:spcPct val="130000"/>
              </a:lnSpc>
              <a:spcBef>
                <a:spcPts val="2000"/>
              </a:spcBef>
              <a:spcAft>
                <a:spcPts val="0"/>
              </a:spcAft>
            </a:pPr>
            <a:r>
              <a:rPr sz="20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چیستی، چرایی و نحوه اجرای یادگیری همتامحور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1880" y="5230368"/>
            <a:ext cx="2926080" cy="15875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5806440" cy="8229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تاریخ:  </a:t>
            </a:r>
            <a:r>
              <a:rPr sz="16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[تاریخ]</a:t>
            </a:r>
            <a:r>
              <a:rPr sz="160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        تسهیل‌گر:  </a:t>
            </a:r>
            <a:r>
              <a:rPr sz="16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[نام تسهیل‌گر]</a:t>
            </a:r>
          </a:p>
          <a:p>
            <a:pPr rtl="1" algn="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[نام واحد / سازمان]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۹۰ دقیقه پیشِ رو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قرار امروز چیست؟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81767" y="1261872"/>
            <a:ext cx="114300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72407" y="1600200"/>
            <a:ext cx="7452360" cy="7315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27487" y="1719072"/>
            <a:ext cx="932688" cy="493776"/>
          </a:xfrm>
          <a:prstGeom prst="roundRect">
            <a:avLst>
              <a:gd name="adj" fmla="val 26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۱۵′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6727" y="1600200"/>
            <a:ext cx="5971032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چیستی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این روش دقیقاً چیست و چه چیزی نیست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72407" y="2432304"/>
            <a:ext cx="7452360" cy="7315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27487" y="2551176"/>
            <a:ext cx="932688" cy="493776"/>
          </a:xfrm>
          <a:prstGeom prst="roundRect">
            <a:avLst>
              <a:gd name="adj" fmla="val 26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6727" y="2432304"/>
            <a:ext cx="5971032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چرایی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 این روش کار می‌کند و به چه درد ما می‌خورد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2407" y="3264408"/>
            <a:ext cx="7452360" cy="7315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27487" y="3383280"/>
            <a:ext cx="932688" cy="493776"/>
          </a:xfrm>
          <a:prstGeom prst="roundRect">
            <a:avLst>
              <a:gd name="adj" fmla="val 26000"/>
            </a:avLst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6727" y="3264408"/>
            <a:ext cx="5971032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نحوه اجرا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یک جلسه واقعی چطور پیش می‌رود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72407" y="4096512"/>
            <a:ext cx="7452360" cy="7315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527487" y="4215384"/>
            <a:ext cx="932688" cy="493776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۳۰′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6727" y="4096512"/>
            <a:ext cx="5971032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تجربه زنده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یک دور کوتاه، همین امروز، با هم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72407" y="4928616"/>
            <a:ext cx="7452360" cy="7315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27487" y="5047488"/>
            <a:ext cx="932688" cy="493776"/>
          </a:xfrm>
          <a:prstGeom prst="roundRect">
            <a:avLst>
              <a:gd name="adj" fmla="val 26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۰۵′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6727" y="4928616"/>
            <a:ext cx="5971032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تصمیم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کسی می‌خواهد ادامه دهد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1600200"/>
            <a:ext cx="3221431" cy="2331720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06063" y="1600200"/>
            <a:ext cx="82296" cy="2331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1810512"/>
            <a:ext cx="2718511" cy="19202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قولِ امروز</a:t>
            </a:r>
          </a:p>
          <a:p>
            <a:pPr rtl="1" algn="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بیش از یک‌سومِ این جلسه، خودِ تجربه است — نه توضیحِ تجربه.</a:t>
            </a:r>
          </a:p>
          <a:p>
            <a:pPr rtl="1" algn="r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امروز درباره منتورینگ گروهی حرف نمی‌زنیم؛ یک بار انجامش می‌دهیم.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096512"/>
            <a:ext cx="3221431" cy="2084831"/>
          </a:xfrm>
          <a:prstGeom prst="roundRect">
            <a:avLst>
              <a:gd name="adj" fmla="val 4500"/>
            </a:avLst>
          </a:prstGeom>
          <a:solidFill>
            <a:srgbClr val="FFF3EC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297680"/>
            <a:ext cx="2745943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از شما یک چیز می‌خواهم</a:t>
            </a:r>
          </a:p>
          <a:p>
            <a:pPr rtl="1" algn="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یک چالش کاری واقعی و حل‌نشده را همین حالا در ذهنتان نگه دارید.</a:t>
            </a:r>
          </a:p>
          <a:p>
            <a:pPr rtl="1" algn="r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در پایان جلسه به آن برمی‌گردیم.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با هم بلد می‌شویم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 / ۱۶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/>
              </a:gs>
              <a:gs pos="100000">
                <a:srgbClr val="1B4965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51560"/>
            <a:ext cx="9631375" cy="4572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۶۰ ثانیه فکر کنید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27632"/>
            <a:ext cx="9905695" cy="18288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آخرین چیزی که در کارتان یاد گرفتید،</a:t>
            </a:r>
          </a:p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از کجا</a:t>
            </a:r>
            <a:r>
              <a:rPr sz="36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یاد گرفتید؟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46084" y="3767328"/>
            <a:ext cx="3478682" cy="1078992"/>
          </a:xfrm>
          <a:prstGeom prst="roundRect">
            <a:avLst>
              <a:gd name="adj" fmla="val 11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8964" y="3767328"/>
            <a:ext cx="3112922" cy="10789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از یک کلاس یا کتاب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6506" y="3767328"/>
            <a:ext cx="3478682" cy="1078992"/>
          </a:xfrm>
          <a:prstGeom prst="roundRect">
            <a:avLst>
              <a:gd name="adj" fmla="val 11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9386" y="3767328"/>
            <a:ext cx="3112922" cy="10789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از انجام دادن و اشتباه کردن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7" y="3767328"/>
            <a:ext cx="3478682" cy="1078992"/>
          </a:xfrm>
          <a:prstGeom prst="roundRect">
            <a:avLst>
              <a:gd name="adj" fmla="val 11000"/>
            </a:avLst>
          </a:prstGeom>
          <a:solidFill>
            <a:srgbClr val="FFFFFF">
              <a:alpha val="20000"/>
            </a:srgbClr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" y="3767328"/>
            <a:ext cx="3112922" cy="10789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از یک آدم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230368"/>
            <a:ext cx="9631375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تقریباً همیشه، جواب یک آدم است.</a:t>
            </a:r>
          </a:p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منتورینگ گروهی یعنی این اتفاق را از «شانسی» به «برنامه‌ریزی‌شده» تبدیل کنیم.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9072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19072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چرایی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1216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71216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نحوه اجرا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تعریف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منتورینگ گروهی، در یک جمله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81767" y="1261872"/>
            <a:ext cx="114300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1572768"/>
            <a:ext cx="11057839" cy="14813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33327" y="1572768"/>
            <a:ext cx="91440" cy="14813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1572768"/>
            <a:ext cx="10399471" cy="14813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گروهی کوچک از همکاران که </a:t>
            </a:r>
            <a:r>
              <a:rPr sz="26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مرتب</a:t>
            </a:r>
            <a:r>
              <a:rPr sz="26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 دور هم جمع می‌شوند تا روی </a:t>
            </a:r>
            <a:r>
              <a:rPr sz="26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چالش‌های واقعی کاری</a:t>
            </a:r>
            <a:r>
              <a:rPr sz="26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 یکدیگر فکر کنند — با </a:t>
            </a:r>
            <a:r>
              <a:rPr sz="26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پرسش</a:t>
            </a:r>
            <a:r>
              <a:rPr sz="26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، نه با </a:t>
            </a:r>
            <a:r>
              <a:rPr sz="260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نسخه‌پیچی</a:t>
            </a:r>
            <a:r>
              <a:rPr sz="26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6047" y="3337560"/>
            <a:ext cx="2558719" cy="1207008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66047" y="3337560"/>
            <a:ext cx="2558719" cy="64008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4063" y="3337560"/>
            <a:ext cx="2302687" cy="12070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۸ تا ۱۲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نفر در هر گروه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3337560"/>
            <a:ext cx="2558719" cy="1207008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3337560"/>
            <a:ext cx="2558719" cy="64008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1023" y="3337560"/>
            <a:ext cx="2302687" cy="12070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۹۰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دقیقه در هر جلسه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99967" y="3337560"/>
            <a:ext cx="2558719" cy="1207008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99967" y="3337560"/>
            <a:ext cx="2558719" cy="64008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7983" y="3337560"/>
            <a:ext cx="2302687" cy="12070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هر ۲ هفته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یک بار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337560"/>
            <a:ext cx="2558719" cy="1207008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337560"/>
            <a:ext cx="2558719" cy="6400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3337560"/>
            <a:ext cx="2302687" cy="12070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۶ ماه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طول یک دوره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1295" y="4800600"/>
            <a:ext cx="5373471" cy="1170432"/>
          </a:xfrm>
          <a:prstGeom prst="roundRect">
            <a:avLst>
              <a:gd name="adj" fmla="val 11000"/>
            </a:avLst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116007" y="5074920"/>
            <a:ext cx="1298448" cy="603504"/>
          </a:xfrm>
          <a:prstGeom prst="roundRect">
            <a:avLst>
              <a:gd name="adj" fmla="val 26000"/>
            </a:avLst>
          </a:prstGeom>
          <a:solidFill>
            <a:srgbClr val="5A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 ← 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7" y="4800600"/>
            <a:ext cx="3498952" cy="11704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کلاسیک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یک نفر می‌داند، یک نفر یاد می‌گیرد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800600"/>
            <a:ext cx="5373471" cy="1170432"/>
          </a:xfrm>
          <a:prstGeom prst="roundRect">
            <a:avLst>
              <a:gd name="adj" fmla="val 11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31639" y="5074920"/>
            <a:ext cx="1298448" cy="603504"/>
          </a:xfrm>
          <a:prstGeom prst="roundRect">
            <a:avLst>
              <a:gd name="adj" fmla="val 26000"/>
            </a:avLst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همه ⇄ همه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800600"/>
            <a:ext cx="3498952" cy="11704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همه می‌دانند، همه یاد می‌گیرند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با هم بلد می‌شویم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۴ / ۱۶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9072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19072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چرایی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1216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71216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نحوه اجرا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مرزبندی — تا انتظار اشتباه شکل نگیرد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چه چیزی هست، چه چیزی نیست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81767" y="1261872"/>
            <a:ext cx="114300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7871" y="1572768"/>
            <a:ext cx="5336895" cy="41513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7871" y="1572768"/>
            <a:ext cx="5336895" cy="566928"/>
          </a:xfrm>
          <a:prstGeom prst="roundRect">
            <a:avLst>
              <a:gd name="adj" fmla="val 12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7871" y="1993392"/>
            <a:ext cx="5336895" cy="1463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7871" y="1572768"/>
            <a:ext cx="5336895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✓   </a:t>
            </a:r>
            <a:r>
              <a:rPr sz="2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هست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6743" y="2240280"/>
            <a:ext cx="5099151" cy="621792"/>
          </a:xfrm>
          <a:prstGeom prst="roundRect">
            <a:avLst>
              <a:gd name="adj" fmla="val 14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2191" y="2240280"/>
            <a:ext cx="4788255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فضای فکر کردن با هم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روی مسئله‌ای که واقعاً درگیرش هستید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191" y="2916936"/>
            <a:ext cx="4788255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یادگیری از تجربه همکار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کسی که مسیر شما را رفته است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6743" y="3593592"/>
            <a:ext cx="5099151" cy="621792"/>
          </a:xfrm>
          <a:prstGeom prst="roundRect">
            <a:avLst>
              <a:gd name="adj" fmla="val 14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2191" y="3593592"/>
            <a:ext cx="4788255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تمرین پرسیدن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مهارتی که در جلسات کاری هم به کار می‌آید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191" y="4270248"/>
            <a:ext cx="4788255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تعهد به یک اقدام کوچک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هر جلسه، یک قدم مشخص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6743" y="4946904"/>
            <a:ext cx="5099151" cy="621792"/>
          </a:xfrm>
          <a:prstGeom prst="roundRect">
            <a:avLst>
              <a:gd name="adj" fmla="val 14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2191" y="4946904"/>
            <a:ext cx="4788255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محرمانه و داوطلبانه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هیچ‌کس اجباری نیست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1572768"/>
            <a:ext cx="5336895" cy="41513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6928" y="1572768"/>
            <a:ext cx="5336895" cy="566928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1993392"/>
            <a:ext cx="5336895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1572768"/>
            <a:ext cx="5336895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✕   </a:t>
            </a:r>
            <a:r>
              <a:rPr sz="2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نیست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2240280"/>
            <a:ext cx="5099151" cy="621792"/>
          </a:xfrm>
          <a:prstGeom prst="roundRect">
            <a:avLst>
              <a:gd name="adj" fmla="val 14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2240280"/>
            <a:ext cx="4788255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کلاس آموزشی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کسی قرار نیست تدریس کند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2916936"/>
            <a:ext cx="4788255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جلسه گزارش‌دهی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هیچ صورت‌جلسه‌ای به بالا نمی‌رود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3593592"/>
            <a:ext cx="5099151" cy="621792"/>
          </a:xfrm>
          <a:prstGeom prst="roundRect">
            <a:avLst>
              <a:gd name="adj" fmla="val 14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3593592"/>
            <a:ext cx="4788255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ارزیابی عملکرد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روی پرونده پرسنلی شما اثری ندارد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4270248"/>
            <a:ext cx="4788255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جلسه شکایت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درباره مسئله حرف می‌زنیم، نه درباره آدم‌ها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946904"/>
            <a:ext cx="5099151" cy="621792"/>
          </a:xfrm>
          <a:prstGeom prst="roundRect">
            <a:avLst>
              <a:gd name="adj" fmla="val 14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4946904"/>
            <a:ext cx="4788255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جای نصیحت کردن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قدیمی‌ترها هم اینجا فقط می‌پرسند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با هم بلد می‌شویم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۵ / ۱۶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9072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19072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چرایی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1216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71216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نحوه اجرا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نقش‌ها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در اتاق، سه نقش وجود دارد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81767" y="1261872"/>
            <a:ext cx="114300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46084" y="1572768"/>
            <a:ext cx="3478682" cy="3310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46084" y="1572768"/>
            <a:ext cx="3478682" cy="987552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46084" y="2414016"/>
            <a:ext cx="3478682" cy="14630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66399" y="184708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7252" y="1682496"/>
            <a:ext cx="2518562" cy="7680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صاحب چالش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 نفر، داوطلب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3828" y="2743200"/>
            <a:ext cx="3003194" cy="65836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مسئله واقعی‌اش را روایت می‌کند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3828" y="3419856"/>
            <a:ext cx="3003194" cy="65836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فقط گوش می‌دهد و یادداشت برمی‌دارد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3828" y="4096512"/>
            <a:ext cx="3003194" cy="65836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در پایان تصمیم می‌گیرد چه کند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6506" y="1572768"/>
            <a:ext cx="3478682" cy="3310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56506" y="1572768"/>
            <a:ext cx="3478682" cy="987552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56506" y="2414016"/>
            <a:ext cx="3478682" cy="146304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6820" y="184708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7674" y="1682496"/>
            <a:ext cx="2518562" cy="7680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گروه همتا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۷ تا ۱۱ نفر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4250" y="2743200"/>
            <a:ext cx="3003194" cy="65836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سؤال می‌پرسند، راه‌حل نمی‌دهند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4250" y="3419856"/>
            <a:ext cx="3003194" cy="65836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تجربه مشابه خود را روایت می‌کنند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4250" y="4096512"/>
            <a:ext cx="3003194" cy="65836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قضاوت نمی‌کنند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7" y="1572768"/>
            <a:ext cx="3478682" cy="33101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7" y="1572768"/>
            <a:ext cx="3478682" cy="987552"/>
          </a:xfrm>
          <a:prstGeom prst="roundRect">
            <a:avLst>
              <a:gd name="adj" fmla="val 10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7" y="2414016"/>
            <a:ext cx="3478682" cy="1463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387242" y="1847088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5" y="1682496"/>
            <a:ext cx="2518562" cy="7680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تسهیل‌گر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چرخشی، هر جلسه یک نفر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" y="2743200"/>
            <a:ext cx="3003194" cy="65836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زمان را نگه می‌دارد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" y="3419856"/>
            <a:ext cx="3003194" cy="65836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قواعد را یادآوری می‌کند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4096512"/>
            <a:ext cx="3003194" cy="65836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خودش کمترین حرف را می‌زند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138928"/>
            <a:ext cx="11057839" cy="960120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542471" y="5138928"/>
            <a:ext cx="82296" cy="9601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5138928"/>
            <a:ext cx="10436047" cy="9601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نکته‌ای که همه‌چیز را عوض می‌کند:   </a:t>
            </a: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هفته بعد، صاحب چالش یک نفر دیگر است. امروز کمک می‌گیرید، دفعه بعد کمک می‌کنید.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با هم بلد می‌شویم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۶ / ۱۶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9072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19072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چرایی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1216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71216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نحوه اجرا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چرا اصلاً؟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مسئله ما کمبود دانش نیست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81767" y="1261872"/>
            <a:ext cx="114300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-silo.jpg"/>
          <p:cNvPicPr>
            <a:picLocks noChangeAspect="1"/>
          </p:cNvPicPr>
          <p:nvPr/>
        </p:nvPicPr>
        <p:blipFill>
          <a:blip r:embed="rId2"/>
          <a:srcRect t="4703" b="4703"/>
          <a:stretch>
            <a:fillRect/>
          </a:stretch>
        </p:blipFill>
        <p:spPr>
          <a:xfrm>
            <a:off x="566928" y="1572768"/>
            <a:ext cx="4617720" cy="2788920"/>
          </a:xfrm>
          <a:prstGeom prst="round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66928" y="4498848"/>
            <a:ext cx="4617720" cy="1691640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02352" y="4498848"/>
            <a:ext cx="82296" cy="16916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700016"/>
            <a:ext cx="4114800" cy="13716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مسئله، گردش دانش است</a:t>
            </a:r>
          </a:p>
          <a:p>
            <a:pPr rtl="1" algn="r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همه‌چیز را بلدیم — ولی هرکس تکه‌ای از آن را می‌داند و کسی نمی‌داند چه کسی چه می‌داند.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1572768"/>
            <a:ext cx="6001207" cy="932688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51615" y="1572768"/>
            <a:ext cx="73152" cy="9326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56671" y="1828800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1572768"/>
            <a:ext cx="4885639" cy="9326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یک اشتباه، چند بار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همان خطا در واحد دیگر دوباره تکرار می‌شود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2606040"/>
            <a:ext cx="6001207" cy="932688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51615" y="2606040"/>
            <a:ext cx="73152" cy="9326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56671" y="2862072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9592" y="2606040"/>
            <a:ext cx="4885639" cy="9326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راه‌حل‌های موازی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دو نفر جدا از هم، ماه‌ها روی یک مسئله کار می‌کنند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3560" y="3639312"/>
            <a:ext cx="6001207" cy="932688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551615" y="3639312"/>
            <a:ext cx="73152" cy="9326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56671" y="3895344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9592" y="3639312"/>
            <a:ext cx="4885639" cy="9326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دانش با آدم‌ها می‌رود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با هر خداحافظی، سال‌ها تجربه از در بیرون می‌رود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672584"/>
            <a:ext cx="6001207" cy="932688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51615" y="4672584"/>
            <a:ext cx="73152" cy="93268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56671" y="4928616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9592" y="4672584"/>
            <a:ext cx="4885639" cy="9326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تازه‌واردهای سرگردان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شش ماه طول می‌کشد تا بفهمند از چه کسی بپرسند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با هم بلد می‌شویم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۷ / ۱۶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9072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19072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چرایی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1216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71216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نحوه اجرا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آنچه پژوهش می‌گوید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بودجه آموزش، جای اشتباهی خرج می‌شود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81767" y="1261872"/>
            <a:ext cx="114300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7662344" y="1921331"/>
            <a:ext cx="2871541" cy="2960247"/>
          </a:xfrm>
          <a:custGeom>
            <a:avLst/>
            <a:gdLst/>
            <a:ahLst/>
            <a:cxnLst/>
            <a:rect l="l" t="t" r="r" b="b"/>
            <a:pathLst>
              <a:path w="2871541" h="2960247">
                <a:moveTo>
                  <a:pt x="1447080" y="0"/>
                </a:moveTo>
                <a:lnTo>
                  <a:pt x="1579936" y="11108"/>
                </a:lnTo>
                <a:lnTo>
                  <a:pt x="1711254" y="34115"/>
                </a:lnTo>
                <a:lnTo>
                  <a:pt x="1839972" y="68836"/>
                </a:lnTo>
                <a:lnTo>
                  <a:pt x="1965048" y="114989"/>
                </a:lnTo>
                <a:lnTo>
                  <a:pt x="2085467" y="172200"/>
                </a:lnTo>
                <a:lnTo>
                  <a:pt x="2200254" y="240007"/>
                </a:lnTo>
                <a:lnTo>
                  <a:pt x="2308481" y="317859"/>
                </a:lnTo>
                <a:lnTo>
                  <a:pt x="2409269" y="405126"/>
                </a:lnTo>
                <a:lnTo>
                  <a:pt x="2501803" y="501102"/>
                </a:lnTo>
                <a:lnTo>
                  <a:pt x="2585334" y="605008"/>
                </a:lnTo>
                <a:lnTo>
                  <a:pt x="2659184" y="716004"/>
                </a:lnTo>
                <a:lnTo>
                  <a:pt x="2722756" y="833190"/>
                </a:lnTo>
                <a:lnTo>
                  <a:pt x="2775534" y="955617"/>
                </a:lnTo>
                <a:lnTo>
                  <a:pt x="2817091" y="1082293"/>
                </a:lnTo>
                <a:lnTo>
                  <a:pt x="2847091" y="1212193"/>
                </a:lnTo>
                <a:lnTo>
                  <a:pt x="2865290" y="1344264"/>
                </a:lnTo>
                <a:lnTo>
                  <a:pt x="2871541" y="1477436"/>
                </a:lnTo>
                <a:lnTo>
                  <a:pt x="2865793" y="1610630"/>
                </a:lnTo>
                <a:lnTo>
                  <a:pt x="2848094" y="1742769"/>
                </a:lnTo>
                <a:lnTo>
                  <a:pt x="2818586" y="1872781"/>
                </a:lnTo>
                <a:lnTo>
                  <a:pt x="2777508" y="1999614"/>
                </a:lnTo>
                <a:lnTo>
                  <a:pt x="2725193" y="2122240"/>
                </a:lnTo>
                <a:lnTo>
                  <a:pt x="2662065" y="2239665"/>
                </a:lnTo>
                <a:lnTo>
                  <a:pt x="2588635" y="2350939"/>
                </a:lnTo>
                <a:lnTo>
                  <a:pt x="2505498" y="2455161"/>
                </a:lnTo>
                <a:lnTo>
                  <a:pt x="2413327" y="2551486"/>
                </a:lnTo>
                <a:lnTo>
                  <a:pt x="2312870" y="2639133"/>
                </a:lnTo>
                <a:lnTo>
                  <a:pt x="2204938" y="2717394"/>
                </a:lnTo>
                <a:lnTo>
                  <a:pt x="2090408" y="2785634"/>
                </a:lnTo>
                <a:lnTo>
                  <a:pt x="1970206" y="2843300"/>
                </a:lnTo>
                <a:lnTo>
                  <a:pt x="1845306" y="2889926"/>
                </a:lnTo>
                <a:lnTo>
                  <a:pt x="1716721" y="2925133"/>
                </a:lnTo>
                <a:lnTo>
                  <a:pt x="1585490" y="2948637"/>
                </a:lnTo>
                <a:lnTo>
                  <a:pt x="1452678" y="2960247"/>
                </a:lnTo>
                <a:lnTo>
                  <a:pt x="1319359" y="2959869"/>
                </a:lnTo>
                <a:lnTo>
                  <a:pt x="1186615" y="2947506"/>
                </a:lnTo>
                <a:lnTo>
                  <a:pt x="1055520" y="2923258"/>
                </a:lnTo>
                <a:lnTo>
                  <a:pt x="927136" y="2887322"/>
                </a:lnTo>
                <a:lnTo>
                  <a:pt x="802502" y="2839989"/>
                </a:lnTo>
                <a:lnTo>
                  <a:pt x="682630" y="2781641"/>
                </a:lnTo>
                <a:lnTo>
                  <a:pt x="568488" y="2712753"/>
                </a:lnTo>
                <a:lnTo>
                  <a:pt x="461003" y="2633881"/>
                </a:lnTo>
                <a:lnTo>
                  <a:pt x="361044" y="2545665"/>
                </a:lnTo>
                <a:lnTo>
                  <a:pt x="269421" y="2448819"/>
                </a:lnTo>
                <a:lnTo>
                  <a:pt x="186876" y="2344127"/>
                </a:lnTo>
                <a:lnTo>
                  <a:pt x="114079" y="2232439"/>
                </a:lnTo>
                <a:lnTo>
                  <a:pt x="51618" y="2114657"/>
                </a:lnTo>
                <a:lnTo>
                  <a:pt x="0" y="1991736"/>
                </a:lnTo>
                <a:lnTo>
                  <a:pt x="557802" y="1786505"/>
                </a:lnTo>
                <a:lnTo>
                  <a:pt x="588710" y="1860105"/>
                </a:lnTo>
                <a:lnTo>
                  <a:pt x="626109" y="1930629"/>
                </a:lnTo>
                <a:lnTo>
                  <a:pt x="669698" y="1997505"/>
                </a:lnTo>
                <a:lnTo>
                  <a:pt x="719122" y="2060190"/>
                </a:lnTo>
                <a:lnTo>
                  <a:pt x="773983" y="2118178"/>
                </a:lnTo>
                <a:lnTo>
                  <a:pt x="833835" y="2170999"/>
                </a:lnTo>
                <a:lnTo>
                  <a:pt x="898194" y="2218225"/>
                </a:lnTo>
                <a:lnTo>
                  <a:pt x="966538" y="2259473"/>
                </a:lnTo>
                <a:lnTo>
                  <a:pt x="1038313" y="2294409"/>
                </a:lnTo>
                <a:lnTo>
                  <a:pt x="1112939" y="2322751"/>
                </a:lnTo>
                <a:lnTo>
                  <a:pt x="1189811" y="2344268"/>
                </a:lnTo>
                <a:lnTo>
                  <a:pt x="1268307" y="2358787"/>
                </a:lnTo>
                <a:lnTo>
                  <a:pt x="1347789" y="2366189"/>
                </a:lnTo>
                <a:lnTo>
                  <a:pt x="1427616" y="2366416"/>
                </a:lnTo>
                <a:lnTo>
                  <a:pt x="1507139" y="2359464"/>
                </a:lnTo>
                <a:lnTo>
                  <a:pt x="1585715" y="2345391"/>
                </a:lnTo>
                <a:lnTo>
                  <a:pt x="1662708" y="2324310"/>
                </a:lnTo>
                <a:lnTo>
                  <a:pt x="1737494" y="2296392"/>
                </a:lnTo>
                <a:lnTo>
                  <a:pt x="1809467" y="2261863"/>
                </a:lnTo>
                <a:lnTo>
                  <a:pt x="1878043" y="2221004"/>
                </a:lnTo>
                <a:lnTo>
                  <a:pt x="1942669" y="2174144"/>
                </a:lnTo>
                <a:lnTo>
                  <a:pt x="2002820" y="2121663"/>
                </a:lnTo>
                <a:lnTo>
                  <a:pt x="2058008" y="2063987"/>
                </a:lnTo>
                <a:lnTo>
                  <a:pt x="2107788" y="2001583"/>
                </a:lnTo>
                <a:lnTo>
                  <a:pt x="2151755" y="1934956"/>
                </a:lnTo>
                <a:lnTo>
                  <a:pt x="2189554" y="1864646"/>
                </a:lnTo>
                <a:lnTo>
                  <a:pt x="2220878" y="1791222"/>
                </a:lnTo>
                <a:lnTo>
                  <a:pt x="2245474" y="1715279"/>
                </a:lnTo>
                <a:lnTo>
                  <a:pt x="2263143" y="1637432"/>
                </a:lnTo>
                <a:lnTo>
                  <a:pt x="2273741" y="1558312"/>
                </a:lnTo>
                <a:lnTo>
                  <a:pt x="2277182" y="1478559"/>
                </a:lnTo>
                <a:lnTo>
                  <a:pt x="2273439" y="1398821"/>
                </a:lnTo>
                <a:lnTo>
                  <a:pt x="2262542" y="1319741"/>
                </a:lnTo>
                <a:lnTo>
                  <a:pt x="2244579" y="1241962"/>
                </a:lnTo>
                <a:lnTo>
                  <a:pt x="2219696" y="1166112"/>
                </a:lnTo>
                <a:lnTo>
                  <a:pt x="2188094" y="1092807"/>
                </a:lnTo>
                <a:lnTo>
                  <a:pt x="2150030" y="1022640"/>
                </a:lnTo>
                <a:lnTo>
                  <a:pt x="2105811" y="956180"/>
                </a:lnTo>
                <a:lnTo>
                  <a:pt x="2055796" y="893964"/>
                </a:lnTo>
                <a:lnTo>
                  <a:pt x="2000390" y="836498"/>
                </a:lnTo>
                <a:lnTo>
                  <a:pt x="1940041" y="784245"/>
                </a:lnTo>
                <a:lnTo>
                  <a:pt x="1875239" y="737630"/>
                </a:lnTo>
                <a:lnTo>
                  <a:pt x="1806508" y="697030"/>
                </a:lnTo>
                <a:lnTo>
                  <a:pt x="1734405" y="662773"/>
                </a:lnTo>
                <a:lnTo>
                  <a:pt x="1659514" y="635139"/>
                </a:lnTo>
                <a:lnTo>
                  <a:pt x="1582442" y="614349"/>
                </a:lnTo>
                <a:lnTo>
                  <a:pt x="1503813" y="600573"/>
                </a:lnTo>
                <a:lnTo>
                  <a:pt x="1424264" y="593922"/>
                </a:lnTo>
                <a:close/>
              </a:path>
            </a:pathLst>
          </a:cu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7443239" y="2136853"/>
            <a:ext cx="1021229" cy="1702907"/>
          </a:xfrm>
          <a:custGeom>
            <a:avLst/>
            <a:gdLst/>
            <a:ahLst/>
            <a:cxnLst/>
            <a:rect l="l" t="t" r="r" b="b"/>
            <a:pathLst>
              <a:path w="1021229" h="1702907">
                <a:moveTo>
                  <a:pt x="60781" y="1702907"/>
                </a:moveTo>
                <a:lnTo>
                  <a:pt x="50479" y="1664715"/>
                </a:lnTo>
                <a:lnTo>
                  <a:pt x="41119" y="1626282"/>
                </a:lnTo>
                <a:lnTo>
                  <a:pt x="32706" y="1587630"/>
                </a:lnTo>
                <a:lnTo>
                  <a:pt x="25246" y="1548783"/>
                </a:lnTo>
                <a:lnTo>
                  <a:pt x="18742" y="1509765"/>
                </a:lnTo>
                <a:lnTo>
                  <a:pt x="13200" y="1470598"/>
                </a:lnTo>
                <a:lnTo>
                  <a:pt x="8622" y="1431307"/>
                </a:lnTo>
                <a:lnTo>
                  <a:pt x="5011" y="1391916"/>
                </a:lnTo>
                <a:lnTo>
                  <a:pt x="2370" y="1352447"/>
                </a:lnTo>
                <a:lnTo>
                  <a:pt x="699" y="1312926"/>
                </a:lnTo>
                <a:lnTo>
                  <a:pt x="0" y="1273375"/>
                </a:lnTo>
                <a:lnTo>
                  <a:pt x="273" y="1233819"/>
                </a:lnTo>
                <a:lnTo>
                  <a:pt x="1518" y="1194282"/>
                </a:lnTo>
                <a:lnTo>
                  <a:pt x="3735" y="1154787"/>
                </a:lnTo>
                <a:lnTo>
                  <a:pt x="6922" y="1115359"/>
                </a:lnTo>
                <a:lnTo>
                  <a:pt x="11077" y="1076021"/>
                </a:lnTo>
                <a:lnTo>
                  <a:pt x="16197" y="1036797"/>
                </a:lnTo>
                <a:lnTo>
                  <a:pt x="22280" y="997711"/>
                </a:lnTo>
                <a:lnTo>
                  <a:pt x="29322" y="958786"/>
                </a:lnTo>
                <a:lnTo>
                  <a:pt x="37318" y="920046"/>
                </a:lnTo>
                <a:lnTo>
                  <a:pt x="46264" y="881514"/>
                </a:lnTo>
                <a:lnTo>
                  <a:pt x="56154" y="843214"/>
                </a:lnTo>
                <a:lnTo>
                  <a:pt x="66983" y="805168"/>
                </a:lnTo>
                <a:lnTo>
                  <a:pt x="78743" y="767400"/>
                </a:lnTo>
                <a:lnTo>
                  <a:pt x="91429" y="729932"/>
                </a:lnTo>
                <a:lnTo>
                  <a:pt x="105031" y="692788"/>
                </a:lnTo>
                <a:lnTo>
                  <a:pt x="119542" y="655989"/>
                </a:lnTo>
                <a:lnTo>
                  <a:pt x="134953" y="619557"/>
                </a:lnTo>
                <a:lnTo>
                  <a:pt x="151254" y="583516"/>
                </a:lnTo>
                <a:lnTo>
                  <a:pt x="168437" y="547886"/>
                </a:lnTo>
                <a:lnTo>
                  <a:pt x="186490" y="512689"/>
                </a:lnTo>
                <a:lnTo>
                  <a:pt x="205403" y="477946"/>
                </a:lnTo>
                <a:lnTo>
                  <a:pt x="225164" y="443679"/>
                </a:lnTo>
                <a:lnTo>
                  <a:pt x="245761" y="409908"/>
                </a:lnTo>
                <a:lnTo>
                  <a:pt x="267182" y="376653"/>
                </a:lnTo>
                <a:lnTo>
                  <a:pt x="289414" y="343935"/>
                </a:lnTo>
                <a:lnTo>
                  <a:pt x="312443" y="311773"/>
                </a:lnTo>
                <a:lnTo>
                  <a:pt x="336256" y="280187"/>
                </a:lnTo>
                <a:lnTo>
                  <a:pt x="360838" y="249195"/>
                </a:lnTo>
                <a:lnTo>
                  <a:pt x="386174" y="218817"/>
                </a:lnTo>
                <a:lnTo>
                  <a:pt x="412249" y="189071"/>
                </a:lnTo>
                <a:lnTo>
                  <a:pt x="439047" y="159975"/>
                </a:lnTo>
                <a:lnTo>
                  <a:pt x="466553" y="131546"/>
                </a:lnTo>
                <a:lnTo>
                  <a:pt x="494748" y="103802"/>
                </a:lnTo>
                <a:lnTo>
                  <a:pt x="523618" y="76759"/>
                </a:lnTo>
                <a:lnTo>
                  <a:pt x="553143" y="50434"/>
                </a:lnTo>
                <a:lnTo>
                  <a:pt x="583306" y="24843"/>
                </a:lnTo>
                <a:lnTo>
                  <a:pt x="614089" y="0"/>
                </a:lnTo>
                <a:lnTo>
                  <a:pt x="1021229" y="517383"/>
                </a:lnTo>
                <a:lnTo>
                  <a:pt x="1003039" y="532063"/>
                </a:lnTo>
                <a:lnTo>
                  <a:pt x="985215" y="547185"/>
                </a:lnTo>
                <a:lnTo>
                  <a:pt x="967769" y="562741"/>
                </a:lnTo>
                <a:lnTo>
                  <a:pt x="950710" y="578721"/>
                </a:lnTo>
                <a:lnTo>
                  <a:pt x="934049" y="595115"/>
                </a:lnTo>
                <a:lnTo>
                  <a:pt x="917795" y="611914"/>
                </a:lnTo>
                <a:lnTo>
                  <a:pt x="901960" y="629107"/>
                </a:lnTo>
                <a:lnTo>
                  <a:pt x="886552" y="646684"/>
                </a:lnTo>
                <a:lnTo>
                  <a:pt x="871581" y="664635"/>
                </a:lnTo>
                <a:lnTo>
                  <a:pt x="857055" y="682948"/>
                </a:lnTo>
                <a:lnTo>
                  <a:pt x="842984" y="701613"/>
                </a:lnTo>
                <a:lnTo>
                  <a:pt x="829376" y="720618"/>
                </a:lnTo>
                <a:lnTo>
                  <a:pt x="816239" y="739951"/>
                </a:lnTo>
                <a:lnTo>
                  <a:pt x="803581" y="759602"/>
                </a:lnTo>
                <a:lnTo>
                  <a:pt x="791410" y="779557"/>
                </a:lnTo>
                <a:lnTo>
                  <a:pt x="779733" y="799806"/>
                </a:lnTo>
                <a:lnTo>
                  <a:pt x="768557" y="820336"/>
                </a:lnTo>
                <a:lnTo>
                  <a:pt x="757889" y="841134"/>
                </a:lnTo>
                <a:lnTo>
                  <a:pt x="747736" y="862188"/>
                </a:lnTo>
                <a:lnTo>
                  <a:pt x="738103" y="883485"/>
                </a:lnTo>
                <a:lnTo>
                  <a:pt x="728997" y="905013"/>
                </a:lnTo>
                <a:lnTo>
                  <a:pt x="720422" y="926758"/>
                </a:lnTo>
                <a:lnTo>
                  <a:pt x="712384" y="948707"/>
                </a:lnTo>
                <a:lnTo>
                  <a:pt x="704889" y="970847"/>
                </a:lnTo>
                <a:lnTo>
                  <a:pt x="697939" y="993164"/>
                </a:lnTo>
                <a:lnTo>
                  <a:pt x="691540" y="1015646"/>
                </a:lnTo>
                <a:lnTo>
                  <a:pt x="685696" y="1038278"/>
                </a:lnTo>
                <a:lnTo>
                  <a:pt x="680410" y="1061047"/>
                </a:lnTo>
                <a:lnTo>
                  <a:pt x="675685" y="1083939"/>
                </a:lnTo>
                <a:lnTo>
                  <a:pt x="671524" y="1106940"/>
                </a:lnTo>
                <a:lnTo>
                  <a:pt x="667929" y="1130036"/>
                </a:lnTo>
                <a:lnTo>
                  <a:pt x="664904" y="1153214"/>
                </a:lnTo>
                <a:lnTo>
                  <a:pt x="662449" y="1176459"/>
                </a:lnTo>
                <a:lnTo>
                  <a:pt x="660566" y="1199758"/>
                </a:lnTo>
                <a:lnTo>
                  <a:pt x="659256" y="1223095"/>
                </a:lnTo>
                <a:lnTo>
                  <a:pt x="658520" y="1246458"/>
                </a:lnTo>
                <a:lnTo>
                  <a:pt x="658358" y="1269832"/>
                </a:lnTo>
                <a:lnTo>
                  <a:pt x="658771" y="1293203"/>
                </a:lnTo>
                <a:lnTo>
                  <a:pt x="659759" y="1316556"/>
                </a:lnTo>
                <a:lnTo>
                  <a:pt x="661320" y="1339879"/>
                </a:lnTo>
                <a:lnTo>
                  <a:pt x="663453" y="1363156"/>
                </a:lnTo>
                <a:lnTo>
                  <a:pt x="666158" y="1386373"/>
                </a:lnTo>
                <a:lnTo>
                  <a:pt x="669433" y="1409517"/>
                </a:lnTo>
                <a:lnTo>
                  <a:pt x="673276" y="1432573"/>
                </a:lnTo>
                <a:lnTo>
                  <a:pt x="677685" y="1455528"/>
                </a:lnTo>
                <a:lnTo>
                  <a:pt x="682656" y="1478368"/>
                </a:lnTo>
                <a:lnTo>
                  <a:pt x="688187" y="1501079"/>
                </a:lnTo>
                <a:lnTo>
                  <a:pt x="694274" y="1523646"/>
                </a:lnTo>
                <a:close/>
              </a:path>
            </a:pathLst>
          </a:cu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228503" y="1921331"/>
            <a:ext cx="790008" cy="743180"/>
          </a:xfrm>
          <a:custGeom>
            <a:avLst/>
            <a:gdLst/>
            <a:ahLst/>
            <a:cxnLst/>
            <a:rect l="l" t="t" r="r" b="b"/>
            <a:pathLst>
              <a:path w="790008" h="743180">
                <a:moveTo>
                  <a:pt x="0" y="249276"/>
                </a:moveTo>
                <a:lnTo>
                  <a:pt x="14198" y="239889"/>
                </a:lnTo>
                <a:lnTo>
                  <a:pt x="28503" y="230666"/>
                </a:lnTo>
                <a:lnTo>
                  <a:pt x="42913" y="221607"/>
                </a:lnTo>
                <a:lnTo>
                  <a:pt x="57426" y="212715"/>
                </a:lnTo>
                <a:lnTo>
                  <a:pt x="72040" y="203990"/>
                </a:lnTo>
                <a:lnTo>
                  <a:pt x="86754" y="195434"/>
                </a:lnTo>
                <a:lnTo>
                  <a:pt x="101564" y="187047"/>
                </a:lnTo>
                <a:lnTo>
                  <a:pt x="116471" y="178832"/>
                </a:lnTo>
                <a:lnTo>
                  <a:pt x="131470" y="170787"/>
                </a:lnTo>
                <a:lnTo>
                  <a:pt x="146561" y="162916"/>
                </a:lnTo>
                <a:lnTo>
                  <a:pt x="161742" y="155219"/>
                </a:lnTo>
                <a:lnTo>
                  <a:pt x="177010" y="147696"/>
                </a:lnTo>
                <a:lnTo>
                  <a:pt x="192363" y="140350"/>
                </a:lnTo>
                <a:lnTo>
                  <a:pt x="207800" y="133180"/>
                </a:lnTo>
                <a:lnTo>
                  <a:pt x="223318" y="126189"/>
                </a:lnTo>
                <a:lnTo>
                  <a:pt x="238915" y="119376"/>
                </a:lnTo>
                <a:lnTo>
                  <a:pt x="254590" y="112742"/>
                </a:lnTo>
                <a:lnTo>
                  <a:pt x="270340" y="106289"/>
                </a:lnTo>
                <a:lnTo>
                  <a:pt x="286163" y="100018"/>
                </a:lnTo>
                <a:lnTo>
                  <a:pt x="302057" y="93929"/>
                </a:lnTo>
                <a:lnTo>
                  <a:pt x="318020" y="88023"/>
                </a:lnTo>
                <a:lnTo>
                  <a:pt x="334050" y="82300"/>
                </a:lnTo>
                <a:lnTo>
                  <a:pt x="350144" y="76762"/>
                </a:lnTo>
                <a:lnTo>
                  <a:pt x="366301" y="71410"/>
                </a:lnTo>
                <a:lnTo>
                  <a:pt x="382518" y="66243"/>
                </a:lnTo>
                <a:lnTo>
                  <a:pt x="398794" y="61263"/>
                </a:lnTo>
                <a:lnTo>
                  <a:pt x="415126" y="56471"/>
                </a:lnTo>
                <a:lnTo>
                  <a:pt x="431512" y="51866"/>
                </a:lnTo>
                <a:lnTo>
                  <a:pt x="447949" y="47450"/>
                </a:lnTo>
                <a:lnTo>
                  <a:pt x="464437" y="43224"/>
                </a:lnTo>
                <a:lnTo>
                  <a:pt x="480971" y="39186"/>
                </a:lnTo>
                <a:lnTo>
                  <a:pt x="497551" y="35340"/>
                </a:lnTo>
                <a:lnTo>
                  <a:pt x="514175" y="31683"/>
                </a:lnTo>
                <a:lnTo>
                  <a:pt x="530839" y="28219"/>
                </a:lnTo>
                <a:lnTo>
                  <a:pt x="547542" y="24945"/>
                </a:lnTo>
                <a:lnTo>
                  <a:pt x="564281" y="21864"/>
                </a:lnTo>
                <a:lnTo>
                  <a:pt x="581054" y="18976"/>
                </a:lnTo>
                <a:lnTo>
                  <a:pt x="597860" y="16280"/>
                </a:lnTo>
                <a:lnTo>
                  <a:pt x="614696" y="13778"/>
                </a:lnTo>
                <a:lnTo>
                  <a:pt x="631559" y="11469"/>
                </a:lnTo>
                <a:lnTo>
                  <a:pt x="648447" y="9354"/>
                </a:lnTo>
                <a:lnTo>
                  <a:pt x="665359" y="7434"/>
                </a:lnTo>
                <a:lnTo>
                  <a:pt x="682292" y="5708"/>
                </a:lnTo>
                <a:lnTo>
                  <a:pt x="699243" y="4176"/>
                </a:lnTo>
                <a:lnTo>
                  <a:pt x="716211" y="2839"/>
                </a:lnTo>
                <a:lnTo>
                  <a:pt x="733193" y="1698"/>
                </a:lnTo>
                <a:lnTo>
                  <a:pt x="750188" y="751"/>
                </a:lnTo>
                <a:lnTo>
                  <a:pt x="767192" y="0"/>
                </a:lnTo>
                <a:lnTo>
                  <a:pt x="790008" y="593922"/>
                </a:lnTo>
                <a:lnTo>
                  <a:pt x="779826" y="594372"/>
                </a:lnTo>
                <a:lnTo>
                  <a:pt x="769651" y="594939"/>
                </a:lnTo>
                <a:lnTo>
                  <a:pt x="759483" y="595622"/>
                </a:lnTo>
                <a:lnTo>
                  <a:pt x="749323" y="596423"/>
                </a:lnTo>
                <a:lnTo>
                  <a:pt x="739173" y="597340"/>
                </a:lnTo>
                <a:lnTo>
                  <a:pt x="729034" y="598373"/>
                </a:lnTo>
                <a:lnTo>
                  <a:pt x="718908" y="599523"/>
                </a:lnTo>
                <a:lnTo>
                  <a:pt x="708796" y="600789"/>
                </a:lnTo>
                <a:lnTo>
                  <a:pt x="698698" y="602172"/>
                </a:lnTo>
                <a:lnTo>
                  <a:pt x="688618" y="603670"/>
                </a:lnTo>
                <a:lnTo>
                  <a:pt x="678555" y="605284"/>
                </a:lnTo>
                <a:lnTo>
                  <a:pt x="668512" y="607014"/>
                </a:lnTo>
                <a:lnTo>
                  <a:pt x="658489" y="608859"/>
                </a:lnTo>
                <a:lnTo>
                  <a:pt x="648488" y="610818"/>
                </a:lnTo>
                <a:lnTo>
                  <a:pt x="638510" y="612893"/>
                </a:lnTo>
                <a:lnTo>
                  <a:pt x="628557" y="615082"/>
                </a:lnTo>
                <a:lnTo>
                  <a:pt x="618629" y="617386"/>
                </a:lnTo>
                <a:lnTo>
                  <a:pt x="608729" y="619803"/>
                </a:lnTo>
                <a:lnTo>
                  <a:pt x="598857" y="622334"/>
                </a:lnTo>
                <a:lnTo>
                  <a:pt x="589014" y="624978"/>
                </a:lnTo>
                <a:lnTo>
                  <a:pt x="579203" y="627735"/>
                </a:lnTo>
                <a:lnTo>
                  <a:pt x="569424" y="630604"/>
                </a:lnTo>
                <a:lnTo>
                  <a:pt x="559679" y="633586"/>
                </a:lnTo>
                <a:lnTo>
                  <a:pt x="549968" y="636680"/>
                </a:lnTo>
                <a:lnTo>
                  <a:pt x="540294" y="639885"/>
                </a:lnTo>
                <a:lnTo>
                  <a:pt x="530657" y="643201"/>
                </a:lnTo>
                <a:lnTo>
                  <a:pt x="521059" y="646627"/>
                </a:lnTo>
                <a:lnTo>
                  <a:pt x="511501" y="650163"/>
                </a:lnTo>
                <a:lnTo>
                  <a:pt x="501984" y="653809"/>
                </a:lnTo>
                <a:lnTo>
                  <a:pt x="492510" y="657564"/>
                </a:lnTo>
                <a:lnTo>
                  <a:pt x="483080" y="661428"/>
                </a:lnTo>
                <a:lnTo>
                  <a:pt x="473694" y="665400"/>
                </a:lnTo>
                <a:lnTo>
                  <a:pt x="464355" y="669479"/>
                </a:lnTo>
                <a:lnTo>
                  <a:pt x="455063" y="673666"/>
                </a:lnTo>
                <a:lnTo>
                  <a:pt x="445820" y="677959"/>
                </a:lnTo>
                <a:lnTo>
                  <a:pt x="436627" y="682358"/>
                </a:lnTo>
                <a:lnTo>
                  <a:pt x="427485" y="686862"/>
                </a:lnTo>
                <a:lnTo>
                  <a:pt x="418396" y="691471"/>
                </a:lnTo>
                <a:lnTo>
                  <a:pt x="409360" y="696184"/>
                </a:lnTo>
                <a:lnTo>
                  <a:pt x="400379" y="701000"/>
                </a:lnTo>
                <a:lnTo>
                  <a:pt x="391453" y="705920"/>
                </a:lnTo>
                <a:lnTo>
                  <a:pt x="382585" y="710941"/>
                </a:lnTo>
                <a:lnTo>
                  <a:pt x="373775" y="716064"/>
                </a:lnTo>
                <a:lnTo>
                  <a:pt x="365025" y="721289"/>
                </a:lnTo>
                <a:lnTo>
                  <a:pt x="356335" y="726613"/>
                </a:lnTo>
                <a:lnTo>
                  <a:pt x="347707" y="732037"/>
                </a:lnTo>
                <a:lnTo>
                  <a:pt x="339141" y="737559"/>
                </a:lnTo>
                <a:lnTo>
                  <a:pt x="330640" y="743180"/>
                </a:lnTo>
                <a:close/>
              </a:path>
            </a:pathLst>
          </a:cu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926080"/>
            <a:ext cx="1828800" cy="9601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۷۰-۲۰-۱۰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مدل یادگیری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266944"/>
            <a:ext cx="3657600" cy="32918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مرجع: مؤسسه CCL آمریکا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1591056"/>
            <a:ext cx="6812280" cy="768096"/>
          </a:xfrm>
          <a:prstGeom prst="roundRect">
            <a:avLst>
              <a:gd name="adj" fmla="val 12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96912" y="1591056"/>
            <a:ext cx="82296" cy="768096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1591056"/>
            <a:ext cx="1298448" cy="7680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۷۰٪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1591056"/>
            <a:ext cx="4937761" cy="7680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از انجام کار واقعی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496312"/>
            <a:ext cx="6812280" cy="914400"/>
          </a:xfrm>
          <a:prstGeom prst="roundRect">
            <a:avLst>
              <a:gd name="adj" fmla="val 12000"/>
            </a:avLst>
          </a:prstGeom>
          <a:solidFill>
            <a:srgbClr val="FFF3EC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96912" y="2496312"/>
            <a:ext cx="82296" cy="9144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7880" y="2496312"/>
            <a:ext cx="1298448" cy="9144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۲۰٪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496312"/>
            <a:ext cx="4937761" cy="9144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از تعامل با آدم‌های دیگر</a:t>
            </a: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     ← اینجا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547872"/>
            <a:ext cx="6812280" cy="768096"/>
          </a:xfrm>
          <a:prstGeom prst="roundRect">
            <a:avLst>
              <a:gd name="adj" fmla="val 12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3547872"/>
            <a:ext cx="82296" cy="768096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3547872"/>
            <a:ext cx="1298448" cy="7680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۱۰٪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547872"/>
            <a:ext cx="4937761" cy="7680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از کلاس و کتاب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590288"/>
            <a:ext cx="6812280" cy="15910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736592"/>
            <a:ext cx="6300216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و بودجه آموزشی ما کجا خرج می‌شود؟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193792"/>
            <a:ext cx="6300216" cy="384048"/>
          </a:xfrm>
          <a:prstGeom prst="roundRect">
            <a:avLst>
              <a:gd name="adj" fmla="val 30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452981" y="5193792"/>
            <a:ext cx="5670194" cy="384048"/>
          </a:xfrm>
          <a:prstGeom prst="roundRect">
            <a:avLst>
              <a:gd name="adj" fmla="val 30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52981" y="5193792"/>
            <a:ext cx="5670194" cy="3840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۹۰٪ روی کلاس و دوره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687568"/>
            <a:ext cx="6300216" cy="38404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یعنی </a:t>
            </a:r>
            <a:r>
              <a:rPr sz="16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۹۰٪</a:t>
            </a: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 بودجه، روی </a:t>
            </a:r>
            <a:r>
              <a:rPr sz="16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۱۰٪</a:t>
            </a: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 یادگیری. منتورینگ گروهی سراغ آن </a:t>
            </a:r>
            <a:r>
              <a:rPr sz="16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۲۰٪ رهاشده</a:t>
            </a: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 می‌رود.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با هم بلد می‌شویم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۸ / ۱۶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9072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19072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چرایی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1216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71216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نحوه اجرا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ریاضیاتِ ساده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چرا گروه؟ چرا یک منتور کافی نیست؟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81767" y="1261872"/>
            <a:ext cx="114300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1572768"/>
            <a:ext cx="5346039" cy="2084831"/>
          </a:xfrm>
          <a:prstGeom prst="roundRect">
            <a:avLst>
              <a:gd name="adj" fmla="val 9000"/>
            </a:avLst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1773936"/>
            <a:ext cx="4797399" cy="78638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یک منتور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۱ تجربه، ۱ سبک فکر، ۱ نقطه کور</a:t>
            </a:r>
          </a:p>
        </p:txBody>
      </p:sp>
      <p:sp>
        <p:nvSpPr>
          <p:cNvPr id="14" name="Oval 13"/>
          <p:cNvSpPr/>
          <p:nvPr/>
        </p:nvSpPr>
        <p:spPr>
          <a:xfrm>
            <a:off x="8814587" y="2779776"/>
            <a:ext cx="274320" cy="274320"/>
          </a:xfrm>
          <a:prstGeom prst="ellipse">
            <a:avLst/>
          </a:prstGeom>
          <a:solidFill>
            <a:srgbClr val="5A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1572768"/>
            <a:ext cx="5346039" cy="2084831"/>
          </a:xfrm>
          <a:prstGeom prst="roundRect">
            <a:avLst>
              <a:gd name="adj" fmla="val 9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1773936"/>
            <a:ext cx="4797399" cy="78638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یک گروه ۱۰ نفره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۱۰ تجربه، ۱۰ سبک فکر، پوشش نقاط کور</a:t>
            </a:r>
          </a:p>
        </p:txBody>
      </p:sp>
      <p:sp>
        <p:nvSpPr>
          <p:cNvPr id="17" name="Oval 16"/>
          <p:cNvSpPr/>
          <p:nvPr/>
        </p:nvSpPr>
        <p:spPr>
          <a:xfrm>
            <a:off x="2316403" y="2779776"/>
            <a:ext cx="274320" cy="274320"/>
          </a:xfrm>
          <a:prstGeom prst="ellipse">
            <a:avLst/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09595" y="2779776"/>
            <a:ext cx="274320" cy="274320"/>
          </a:xfrm>
          <a:prstGeom prst="ellipse">
            <a:avLst/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102787" y="2779776"/>
            <a:ext cx="274320" cy="274320"/>
          </a:xfrm>
          <a:prstGeom prst="ellipse">
            <a:avLst/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95979" y="2779776"/>
            <a:ext cx="274320" cy="274320"/>
          </a:xfrm>
          <a:prstGeom prst="ellipse">
            <a:avLst/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89171" y="2779776"/>
            <a:ext cx="274320" cy="274320"/>
          </a:xfrm>
          <a:prstGeom prst="ellipse">
            <a:avLst/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316403" y="3145536"/>
            <a:ext cx="274320" cy="274320"/>
          </a:xfrm>
          <a:prstGeom prst="ellipse">
            <a:avLst/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09595" y="3145536"/>
            <a:ext cx="274320" cy="274320"/>
          </a:xfrm>
          <a:prstGeom prst="ellipse">
            <a:avLst/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02787" y="3145536"/>
            <a:ext cx="274320" cy="274320"/>
          </a:xfrm>
          <a:prstGeom prst="ellipse">
            <a:avLst/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95979" y="3145536"/>
            <a:ext cx="274320" cy="274320"/>
          </a:xfrm>
          <a:prstGeom prst="ellipse">
            <a:avLst/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89171" y="3145536"/>
            <a:ext cx="274320" cy="274320"/>
          </a:xfrm>
          <a:prstGeom prst="ellipse">
            <a:avLst/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21700" y="3858768"/>
            <a:ext cx="3503066" cy="11704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551615" y="3858768"/>
            <a:ext cx="73152" cy="1170432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1156" y="3858768"/>
            <a:ext cx="3045866" cy="11704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تنوع دیدگاه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کسی که مسئله شما را از زاویه‌ای می‌بیند که به ذهنتان نرسیده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4314" y="3858768"/>
            <a:ext cx="3503066" cy="11704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4228" y="3858768"/>
            <a:ext cx="73152" cy="1170432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63770" y="3858768"/>
            <a:ext cx="3045866" cy="11704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مقیاس‌پذیری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 باتجربه کم داریم؛ همتا زیاد داریم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7" y="3858768"/>
            <a:ext cx="3503066" cy="11704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96842" y="3858768"/>
            <a:ext cx="73152" cy="1170432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3" y="3858768"/>
            <a:ext cx="3045866" cy="11704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دوطرفه بودن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در یک جلسه هم کمک می‌گیرید، هم کمک می‌کنید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285232"/>
            <a:ext cx="11057839" cy="877824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542471" y="5285232"/>
            <a:ext cx="82296" cy="87782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5285232"/>
            <a:ext cx="10436047" cy="87782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 منتور به شما می‌گوید </a:t>
            </a:r>
            <a:r>
              <a:rPr sz="20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او چه کرد</a:t>
            </a: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. یک گروه به شما نشان می‌دهد </a:t>
            </a:r>
            <a:r>
              <a:rPr sz="20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چند راه وجود دارد</a:t>
            </a: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با هم بلد می‌شویم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۹ / ۱۶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9072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19072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چرایی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1216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71216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نحوه اجرا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دستاورد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چه چیزی عاید چه کسی می‌شود؟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81767" y="1261872"/>
            <a:ext cx="114300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1572768"/>
            <a:ext cx="5346039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78727" y="1572768"/>
            <a:ext cx="5346039" cy="585216"/>
          </a:xfrm>
          <a:prstGeom prst="roundRect">
            <a:avLst>
              <a:gd name="adj" fmla="val 11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8727" y="2011680"/>
            <a:ext cx="5346039" cy="146304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8727" y="1572768"/>
            <a:ext cx="5346039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برای شما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97599" y="2258568"/>
            <a:ext cx="5108295" cy="557784"/>
          </a:xfrm>
          <a:prstGeom prst="roundRect">
            <a:avLst>
              <a:gd name="adj" fmla="val 1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047" y="2258568"/>
            <a:ext cx="4797399" cy="5577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مسئله‌تان زودتر حل می‌شود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به‌جای هفته‌ها کلنجار، ۹۰ دقیقه با ۱۰ ذهن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2862072"/>
            <a:ext cx="4797399" cy="5577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مهارت پرسیدن یاد می‌گیرید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در جلسات و مذاکرات کاری هم به کارتان می‌آید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97599" y="3465576"/>
            <a:ext cx="5108295" cy="557784"/>
          </a:xfrm>
          <a:prstGeom prst="roundRect">
            <a:avLst>
              <a:gd name="adj" fmla="val 1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3047" y="3465576"/>
            <a:ext cx="4797399" cy="5577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شبکه‌تان گسترده می‌شود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می‌دانید برای هر مسئله سراغ چه کسی بروید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4069080"/>
            <a:ext cx="4797399" cy="5577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کمتر احساس تنهایی می‌کنید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می‌فهمید دیگران هم همین را تجربه کرده‌اند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1572768"/>
            <a:ext cx="5346039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" y="1572768"/>
            <a:ext cx="5346039" cy="585216"/>
          </a:xfrm>
          <a:prstGeom prst="roundRect">
            <a:avLst>
              <a:gd name="adj" fmla="val 11000"/>
            </a:avLst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2011680"/>
            <a:ext cx="5346039" cy="146304"/>
          </a:xfrm>
          <a:prstGeom prst="rect">
            <a:avLst/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1572768"/>
            <a:ext cx="5346039" cy="58521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برای سازمان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2258568"/>
            <a:ext cx="5108295" cy="557784"/>
          </a:xfrm>
          <a:prstGeom prst="roundRect">
            <a:avLst>
              <a:gd name="adj" fmla="val 14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2258568"/>
            <a:ext cx="4797399" cy="5577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تکرار اشتباهات کم می‌شود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تجربه شکست یک واحد، درسِ واحد دیگر می‌شود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2862072"/>
            <a:ext cx="4797399" cy="5577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دانش ماندگار می‌شود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تجربه از سرِ افراد به حافظه جمعی منتقل می‌شود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465576"/>
            <a:ext cx="5108295" cy="557784"/>
          </a:xfrm>
          <a:prstGeom prst="roundRect">
            <a:avLst>
              <a:gd name="adj" fmla="val 14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3465576"/>
            <a:ext cx="4797399" cy="5577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تازه‌واردها زودتر جا می‌افتند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مسیر شش‌ماهه، چندهفته‌ای طی می‌شود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4069080"/>
            <a:ext cx="4797399" cy="5577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افراد می‌مانند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آدم‌ها جایی که رشد می‌کنند را ترک نمی‌کنند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230368"/>
            <a:ext cx="11057839" cy="914400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542471" y="5230368"/>
            <a:ext cx="82296" cy="9144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5230368"/>
            <a:ext cx="10436047" cy="9144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هزینه‌اش؟  </a:t>
            </a:r>
            <a:r>
              <a:rPr sz="21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۹۰ دقیقه، هر دو هفته یک بار — یعنی حدود </a:t>
            </a:r>
            <a:r>
              <a:rPr sz="21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یک درصد</a:t>
            </a:r>
            <a:r>
              <a:rPr sz="21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وقت کاری شما.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با هم بلد می‌شویم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۱۰ / ۱۶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9072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19072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چرایی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1216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71216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نحوه اجرا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آناتومی ۹۰ دقیقه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یک جلسه واقعی چطور پیش می‌رود؟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81767" y="1261872"/>
            <a:ext cx="114300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96118" y="1572768"/>
            <a:ext cx="1196644" cy="365760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96118" y="1572768"/>
            <a:ext cx="1228648" cy="3657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67469" y="1572768"/>
            <a:ext cx="1196644" cy="365760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7469" y="1572768"/>
            <a:ext cx="1228648" cy="3657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38820" y="1572768"/>
            <a:ext cx="1196644" cy="36576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8820" y="1572768"/>
            <a:ext cx="1228648" cy="3657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1523" y="1572768"/>
            <a:ext cx="2425293" cy="3657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1523" y="1572768"/>
            <a:ext cx="2457297" cy="3657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24225" y="1572768"/>
            <a:ext cx="2425293" cy="3657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24225" y="1572768"/>
            <a:ext cx="2457297" cy="3657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1252" y="1572768"/>
            <a:ext cx="1810969" cy="365760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1252" y="1572768"/>
            <a:ext cx="1842973" cy="3657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7" y="1572768"/>
            <a:ext cx="582320" cy="365760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7" y="1572768"/>
            <a:ext cx="614324" cy="3657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2121408"/>
            <a:ext cx="11057839" cy="452628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490911" y="2167128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8487" y="2121408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دایره باز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121408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هر نفر یک جمله: این هفته چطور بود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90911" y="2656332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98487" y="2610612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مرور تعهدها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2610612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جلسه قبل چه قول دادیم و چه شد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3099816"/>
            <a:ext cx="11057839" cy="452628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490911" y="3145536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98487" y="3099816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روایت چالش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3099816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داوطلب مسئله‌اش را می‌گوید، بدون قطع شدن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90911" y="3634740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98487" y="3589020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فقط سؤال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3589020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گروه فقط می‌پرسد — هیچ راه‌حلی ممنوع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4078224"/>
            <a:ext cx="11057839" cy="452628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490911" y="4123944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98487" y="4078224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تجربه‌های مشابه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4078224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«من هم یک بار…» — روایت، نه دستور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90911" y="4613148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۱۵′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8487" y="4567428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انتخاب و تعهد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4567428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صاحب چالش می‌گوید چه می‌کند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5056632"/>
            <a:ext cx="11057839" cy="452628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490911" y="5102352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98487" y="5056632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دایره بسته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8" y="5056632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هر نفر یک کلمه: چه چیزی با خود می‌برد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5614416"/>
            <a:ext cx="11057839" cy="603504"/>
          </a:xfrm>
          <a:prstGeom prst="roundRect">
            <a:avLst>
              <a:gd name="adj" fmla="val 13000"/>
            </a:avLst>
          </a:prstGeom>
          <a:solidFill>
            <a:srgbClr val="FFF3EC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5614416"/>
            <a:ext cx="11057839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۴۰ دقیقه از ۹۰ دقیقه — یعنی نیمی از جلسه — </a:t>
            </a:r>
            <a:r>
              <a:rPr sz="19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فقط سؤال و روایت است</a:t>
            </a:r>
            <a:r>
              <a:rPr sz="18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، نه راه‌حل.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با هم بلد می‌شویم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۱۱ / ۱۶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9072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19072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چرایی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1216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71216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نحوه اجرا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مهارت کلیدی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قلب روش: به‌جای نصیحت، بپرس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81767" y="1261872"/>
            <a:ext cx="114300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2-listen.jpg"/>
          <p:cNvPicPr>
            <a:picLocks noChangeAspect="1"/>
          </p:cNvPicPr>
          <p:nvPr/>
        </p:nvPicPr>
        <p:blipFill>
          <a:blip r:embed="rId2"/>
          <a:srcRect l="1923" r="1923"/>
          <a:stretch>
            <a:fillRect/>
          </a:stretch>
        </p:blipFill>
        <p:spPr>
          <a:xfrm>
            <a:off x="566928" y="1572768"/>
            <a:ext cx="3429000" cy="2377440"/>
          </a:xfrm>
          <a:prstGeom prst="round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66928" y="4078224"/>
            <a:ext cx="3429000" cy="2103120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13632" y="4078224"/>
            <a:ext cx="82296" cy="21031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279392"/>
            <a:ext cx="2953512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چرا نصیحت جواب نمی‌دهد؟</a:t>
            </a:r>
          </a:p>
          <a:p>
            <a:pPr rtl="1" algn="r">
              <a:lnSpc>
                <a:spcPct val="128000"/>
              </a:lnSpc>
              <a:spcBef>
                <a:spcPts val="900"/>
              </a:spcBef>
              <a:spcAft>
                <a:spcPts val="0"/>
              </a:spcAft>
            </a:pPr>
            <a:r>
              <a:rPr sz="16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چون شما تمام جزئیات مسئله او را نمی‌دانید.</a:t>
            </a:r>
          </a:p>
          <a:p>
            <a:pPr rtl="1" algn="r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65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ولی یک سؤال خوب، خودِ او را به جوابی می‌رساند که خودش اجرایش می‌کند.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62391" y="1572768"/>
            <a:ext cx="3462375" cy="493776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2391" y="1572768"/>
            <a:ext cx="3462375" cy="4937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به‌جای این…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8" y="1572768"/>
            <a:ext cx="3462375" cy="493776"/>
          </a:xfrm>
          <a:prstGeom prst="roundRect">
            <a:avLst>
              <a:gd name="adj" fmla="val 18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1572768"/>
            <a:ext cx="3462375" cy="4937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این را بگویید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62391" y="2212848"/>
            <a:ext cx="3462375" cy="786384"/>
          </a:xfrm>
          <a:prstGeom prst="roundRect">
            <a:avLst>
              <a:gd name="adj" fmla="val 13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5271" y="2212848"/>
            <a:ext cx="3096615" cy="7863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«جای تو بودم فلان کار را می‌کردم.»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7408" y="2212848"/>
            <a:ext cx="3462375" cy="786384"/>
          </a:xfrm>
          <a:prstGeom prst="roundRect">
            <a:avLst>
              <a:gd name="adj" fmla="val 13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2212848"/>
            <a:ext cx="3096615" cy="7863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«خودت چه گزینه‌هایی را سنجیدی؟»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2391" y="3090672"/>
            <a:ext cx="3462375" cy="786384"/>
          </a:xfrm>
          <a:prstGeom prst="roundRect">
            <a:avLst>
              <a:gd name="adj" fmla="val 13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5271" y="3090672"/>
            <a:ext cx="3096615" cy="7863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«این روش اشتباه است.»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7408" y="3090672"/>
            <a:ext cx="3462375" cy="786384"/>
          </a:xfrm>
          <a:prstGeom prst="roundRect">
            <a:avLst>
              <a:gd name="adj" fmla="val 13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3090672"/>
            <a:ext cx="3096615" cy="7863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«اگر جواب ندهد، بدترین اتفاق چیست؟»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62391" y="3968496"/>
            <a:ext cx="3462375" cy="786384"/>
          </a:xfrm>
          <a:prstGeom prst="roundRect">
            <a:avLst>
              <a:gd name="adj" fmla="val 13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5271" y="3968496"/>
            <a:ext cx="3096615" cy="7863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«ما همیشه اینجوری کردیم.»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07408" y="3968496"/>
            <a:ext cx="3462375" cy="786384"/>
          </a:xfrm>
          <a:prstGeom prst="roundRect">
            <a:avLst>
              <a:gd name="adj" fmla="val 13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0288" y="3968496"/>
            <a:ext cx="3096615" cy="7863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«چه چیزی این مسئله را برایت سخت کرده؟»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62391" y="4846320"/>
            <a:ext cx="3462375" cy="786384"/>
          </a:xfrm>
          <a:prstGeom prst="roundRect">
            <a:avLst>
              <a:gd name="adj" fmla="val 13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5271" y="4846320"/>
            <a:ext cx="3096615" cy="7863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«نگران نباش، درست می‌شود.»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07408" y="4846320"/>
            <a:ext cx="3462375" cy="786384"/>
          </a:xfrm>
          <a:prstGeom prst="roundRect">
            <a:avLst>
              <a:gd name="adj" fmla="val 13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0288" y="4846320"/>
            <a:ext cx="3096615" cy="7863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«موفقیت در این مسئله برایت یعنی چه؟»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با هم بلد می‌شویم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۱۲ / ۱۶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9072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19072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چرایی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1216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71216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نحوه اجرا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پیمان گروه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پنج قاعده‌ای که فضا را امن می‌کند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81767" y="1261872"/>
            <a:ext cx="114300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72407" y="1572768"/>
            <a:ext cx="7452360" cy="841248"/>
          </a:xfrm>
          <a:prstGeom prst="roundRect">
            <a:avLst>
              <a:gd name="adj" fmla="val 11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33327" y="1572768"/>
            <a:ext cx="91440" cy="8412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65231" y="1773936"/>
            <a:ext cx="438912" cy="438912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8439" y="1572768"/>
            <a:ext cx="6245352" cy="8412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اینجا سِمَت نداریم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در این ۹۰ دقیقه هیچ‌کس رئیس کسی نیست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72407" y="2505456"/>
            <a:ext cx="7452360" cy="841248"/>
          </a:xfrm>
          <a:prstGeom prst="roundRect">
            <a:avLst>
              <a:gd name="adj" fmla="val 11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33327" y="2505456"/>
            <a:ext cx="91440" cy="841248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65231" y="2706624"/>
            <a:ext cx="438912" cy="438912"/>
          </a:xfrm>
          <a:prstGeom prst="ellipse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8439" y="2505456"/>
            <a:ext cx="6245352" cy="8412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هرچه گفته شد، همین‌جا می‌ماند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بدون استثنا، بدون صورت‌جلسه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72407" y="3438144"/>
            <a:ext cx="7452360" cy="841248"/>
          </a:xfrm>
          <a:prstGeom prst="roundRect">
            <a:avLst>
              <a:gd name="adj" fmla="val 11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33327" y="3438144"/>
            <a:ext cx="91440" cy="84124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765231" y="3639312"/>
            <a:ext cx="438912" cy="438912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8439" y="3438144"/>
            <a:ext cx="6245352" cy="8412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سؤال بپرس، نسخه نپیچ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کنجکاوی به‌جای نصیحت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72407" y="4370832"/>
            <a:ext cx="7452360" cy="841248"/>
          </a:xfrm>
          <a:prstGeom prst="roundRect">
            <a:avLst>
              <a:gd name="adj" fmla="val 11000"/>
            </a:avLst>
          </a:prstGeom>
          <a:solidFill>
            <a:srgbClr val="F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533327" y="4370832"/>
            <a:ext cx="91440" cy="84124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65231" y="4572000"/>
            <a:ext cx="438912" cy="438912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8439" y="4370832"/>
            <a:ext cx="6245352" cy="8412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8E44AD"/>
                </a:solidFill>
                <a:latin typeface="IRANSans"/>
                <a:cs typeface="IRANSans"/>
                <a:ea typeface="IRANSans"/>
              </a:rPr>
              <a:t>هیچ سؤالی احمقانه نیست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و هیچ تجربه‌ای بی‌ارزش نیست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72407" y="5303520"/>
            <a:ext cx="7452360" cy="841248"/>
          </a:xfrm>
          <a:prstGeom prst="roundRect">
            <a:avLst>
              <a:gd name="adj" fmla="val 11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33327" y="5303520"/>
            <a:ext cx="91440" cy="8412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65231" y="5504688"/>
            <a:ext cx="438912" cy="438912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8439" y="5303520"/>
            <a:ext cx="6245352" cy="8412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گوش بده تا بفهمی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نه اینکه منتظر نوبت حرف زدنت باشی</a:t>
            </a:r>
          </a:p>
        </p:txBody>
      </p:sp>
      <p:pic>
        <p:nvPicPr>
          <p:cNvPr id="32" name="Picture 31" descr="13-safe.jpg"/>
          <p:cNvPicPr>
            <a:picLocks noChangeAspect="1"/>
          </p:cNvPicPr>
          <p:nvPr/>
        </p:nvPicPr>
        <p:blipFill>
          <a:blip r:embed="rId2"/>
          <a:srcRect l="12118" r="12118"/>
          <a:stretch>
            <a:fillRect/>
          </a:stretch>
        </p:blipFill>
        <p:spPr>
          <a:xfrm>
            <a:off x="566928" y="1572768"/>
            <a:ext cx="3221431" cy="2834640"/>
          </a:xfrm>
          <a:prstGeom prst="round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566928" y="4553712"/>
            <a:ext cx="3221431" cy="1645920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06063" y="4553712"/>
            <a:ext cx="82296" cy="16459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4736592"/>
            <a:ext cx="2745943" cy="13258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چرا این پنج تا؟</a:t>
            </a:r>
          </a:p>
          <a:p>
            <a:pPr rtl="1" algn="r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تا وقتی کسی نترسد از گفتنِ «بلد نیستم»، هیچ یادگیری‌ای شروع نمی‌شود.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با هم بلد می‌شویم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۱۳ / ۱۶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9072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19072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چرایی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1216" y="420624"/>
            <a:ext cx="1060704" cy="310896"/>
          </a:xfrm>
          <a:prstGeom prst="roundRect">
            <a:avLst>
              <a:gd name="adj" fmla="val 42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71216" y="420624"/>
            <a:ext cx="1060704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نحوه اجرا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مسیر پیشِ رو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شش ماه، دوازده جلسه، یک گروه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81767" y="1261872"/>
            <a:ext cx="114300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55287" y="1572768"/>
            <a:ext cx="7269480" cy="969264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42471" y="1572768"/>
            <a:ext cx="82296" cy="9692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41687" y="1810512"/>
            <a:ext cx="1517904" cy="493776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جلسه 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1319" y="1572768"/>
            <a:ext cx="5120640" cy="9692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شکل‌گیری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آشنایی، بستن پیمان گروه، انتخاب اولین داوطلب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0527487" y="2551176"/>
            <a:ext cx="201168" cy="146304"/>
          </a:xfrm>
          <a:prstGeom prst="downArrow">
            <a:avLst/>
          </a:prstGeom>
          <a:solidFill>
            <a:srgbClr val="D8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55287" y="2706624"/>
            <a:ext cx="7269480" cy="969264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542471" y="2706624"/>
            <a:ext cx="82296" cy="969264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41687" y="2944368"/>
            <a:ext cx="1517904" cy="493776"/>
          </a:xfrm>
          <a:prstGeom prst="roundRect">
            <a:avLst>
              <a:gd name="adj" fmla="val 26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جلسه ۲ تا 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1319" y="2706624"/>
            <a:ext cx="5120640" cy="9692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تمرین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قواعد هنوز سخت است؛ تسهیل‌گر بیشتر دخالت می‌کند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0527487" y="3685032"/>
            <a:ext cx="201168" cy="146304"/>
          </a:xfrm>
          <a:prstGeom prst="downArrow">
            <a:avLst/>
          </a:prstGeom>
          <a:solidFill>
            <a:srgbClr val="D8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55287" y="3840480"/>
            <a:ext cx="7269480" cy="969264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42471" y="3840480"/>
            <a:ext cx="82296" cy="969264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41687" y="4078224"/>
            <a:ext cx="1517904" cy="493776"/>
          </a:xfrm>
          <a:prstGeom prst="roundRect">
            <a:avLst>
              <a:gd name="adj" fmla="val 26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جلسه ۵ تا ۱۰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1319" y="3840480"/>
            <a:ext cx="5120640" cy="9692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اوج‌گیری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گروه روان می‌شود؛ تسهیل‌گری چرخشی آغاز می‌شود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0527487" y="4818888"/>
            <a:ext cx="201168" cy="146304"/>
          </a:xfrm>
          <a:prstGeom prst="downArrow">
            <a:avLst/>
          </a:prstGeom>
          <a:solidFill>
            <a:srgbClr val="D8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55287" y="4974336"/>
            <a:ext cx="7269480" cy="969264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542471" y="4974336"/>
            <a:ext cx="82296" cy="96926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841687" y="5212080"/>
            <a:ext cx="1517904" cy="493776"/>
          </a:xfrm>
          <a:prstGeom prst="roundRect">
            <a:avLst>
              <a:gd name="adj" fmla="val 26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جلسه ۱۱ و ۱۲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1319" y="4974336"/>
            <a:ext cx="5120640" cy="9692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جمع‌بندی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مرور دستاوردها و تصمیم برای دوره بعد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1572768"/>
            <a:ext cx="3404311" cy="27980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6928" y="1572768"/>
            <a:ext cx="3404311" cy="548640"/>
          </a:xfrm>
          <a:prstGeom prst="roundRect">
            <a:avLst>
              <a:gd name="adj" fmla="val 13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1984248"/>
            <a:ext cx="3404311" cy="137160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1572768"/>
            <a:ext cx="3404311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تعهد شما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2267712"/>
            <a:ext cx="2965399" cy="51206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حضور منظم در ۱۲ جلسه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2798064"/>
            <a:ext cx="2965399" cy="51206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آوردن یک چالش واقعی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3328416"/>
            <a:ext cx="2965399" cy="51206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رعایت محرمانگی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" y="3858768"/>
            <a:ext cx="2965399" cy="51206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یک اقدام کوچک بین دو جلسه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517136"/>
            <a:ext cx="3404311" cy="1682496"/>
          </a:xfrm>
          <a:prstGeom prst="roundRect">
            <a:avLst>
              <a:gd name="adj" fmla="val 4500"/>
            </a:avLst>
          </a:prstGeom>
          <a:solidFill>
            <a:srgbClr val="FFF3EC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4700016"/>
            <a:ext cx="2965399" cy="13716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و اگر نشد؟</a:t>
            </a:r>
          </a:p>
          <a:p>
            <a:pPr rtl="1" algn="r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600" b="0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بعد از جلسه سوم، هر کس خواست می‌تواند کنار بکشد — بدون توضیح.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با هم بلد می‌شویم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۱۴ / ۱۶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/>
              </a:gs>
              <a:gs pos="100000">
                <a:srgbClr val="1B4965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11057839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حالا خودمان انجامش می‌دهیم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77824"/>
            <a:ext cx="11057839" cy="62179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 دور کوتاه — ۳۰ دقیقه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66047" y="1847088"/>
            <a:ext cx="2558719" cy="1874519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741903" y="2066544"/>
            <a:ext cx="1207008" cy="457200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 دقیقه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0639" y="2651760"/>
            <a:ext cx="2229535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 داوطلب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چالشش را در سه جمله می‌گوید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47088"/>
            <a:ext cx="2558719" cy="1874519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08863" y="2066544"/>
            <a:ext cx="1207008" cy="457200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 دقیقه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7599" y="2651760"/>
            <a:ext cx="2229535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فقط سؤال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هر کس یک سؤال — راه‌حل ممنوع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9967" y="1847088"/>
            <a:ext cx="2558719" cy="1874519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75823" y="2066544"/>
            <a:ext cx="1207008" cy="457200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 دقیقه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4559" y="2651760"/>
            <a:ext cx="2229535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تجربه مشابه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«من هم یک بار…» در یک دقیقه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847088"/>
            <a:ext cx="2558719" cy="1874519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242783" y="2066544"/>
            <a:ext cx="1207008" cy="457200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 دقیقه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651760"/>
            <a:ext cx="2229535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 تصمیم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داوطلب می‌گوید چه می‌کند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041648"/>
            <a:ext cx="11057839" cy="786384"/>
          </a:xfrm>
          <a:prstGeom prst="roundRect">
            <a:avLst>
              <a:gd name="adj" fmla="val 11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041648"/>
            <a:ext cx="11057839" cy="7863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تنها قاعده امروز:  </a:t>
            </a:r>
            <a:r>
              <a:rPr sz="2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در ده دقیقه دوم، هیچ‌کس حق ندارد جمله‌ای بگوید که علامت سؤال ندارد.</a:t>
            </a:r>
          </a:p>
        </p:txBody>
      </p:sp>
      <p:pic>
        <p:nvPicPr>
          <p:cNvPr id="20" name="Picture 19" descr="15-start.jpg"/>
          <p:cNvPicPr>
            <a:picLocks noChangeAspect="1"/>
          </p:cNvPicPr>
          <p:nvPr/>
        </p:nvPicPr>
        <p:blipFill>
          <a:blip r:embed="rId2"/>
          <a:srcRect t="22113" b="22113"/>
          <a:stretch>
            <a:fillRect/>
          </a:stretch>
        </p:blipFill>
        <p:spPr>
          <a:xfrm>
            <a:off x="566928" y="5047488"/>
            <a:ext cx="3246120" cy="1207008"/>
          </a:xfrm>
          <a:prstGeom prst="round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105656" y="5047488"/>
            <a:ext cx="7519111" cy="1207008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9976" y="5047488"/>
            <a:ext cx="6970471" cy="12070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چه کسی چالشش را می‌آورد؟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لازم نیست مسئله بزرگی باشد — همان چیزی که اول جلسه در ذهن نگه داشتید کافی است.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جمع‌بندی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قدم بعدی چیست؟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81767" y="1261872"/>
            <a:ext cx="114300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46084" y="1536192"/>
            <a:ext cx="3478682" cy="1719072"/>
          </a:xfrm>
          <a:prstGeom prst="roundRect">
            <a:avLst>
              <a:gd name="adj" fmla="val 10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46084" y="1536192"/>
            <a:ext cx="3478682" cy="6400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7252" y="1773936"/>
            <a:ext cx="3076346" cy="13258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امروز</a:t>
            </a:r>
          </a:p>
          <a:p>
            <a:pPr rtl="1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2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همین‌جا</a:t>
            </a:r>
          </a:p>
          <a:p>
            <a:pPr rtl="1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برگه ثبت‌نام را امضا کنید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6506" y="1536192"/>
            <a:ext cx="3478682" cy="1719072"/>
          </a:xfrm>
          <a:prstGeom prst="roundRect">
            <a:avLst>
              <a:gd name="adj" fmla="val 10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6506" y="1536192"/>
            <a:ext cx="3478682" cy="64008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7674" y="1773936"/>
            <a:ext cx="3076346" cy="13258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این هفته</a:t>
            </a:r>
          </a:p>
          <a:p>
            <a:pPr rtl="1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2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[تاریخ]</a:t>
            </a:r>
          </a:p>
          <a:p>
            <a:pPr rtl="1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اولین جلسه رسمی گروه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7" y="1536192"/>
            <a:ext cx="3478682" cy="1719072"/>
          </a:xfrm>
          <a:prstGeom prst="roundRect">
            <a:avLst>
              <a:gd name="adj" fmla="val 10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7" y="1536192"/>
            <a:ext cx="3478682" cy="6400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5" y="1773936"/>
            <a:ext cx="3076346" cy="13258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شش ماه بعد</a:t>
            </a:r>
          </a:p>
          <a:p>
            <a:pPr rtl="1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2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مرور با هم</a:t>
            </a:r>
          </a:p>
          <a:p>
            <a:pPr rtl="1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می‌بینیم چه چیزی عوض شده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331" y="3456432"/>
            <a:ext cx="2572435" cy="96012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0347" y="3456432"/>
            <a:ext cx="2316403" cy="9601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ساعت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[ساعت]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863" y="3456432"/>
            <a:ext cx="2572435" cy="96012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1879" y="3456432"/>
            <a:ext cx="2316403" cy="9601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مکان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[مکان]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95395" y="3456432"/>
            <a:ext cx="2572435" cy="96012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3411" y="3456432"/>
            <a:ext cx="2316403" cy="9601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ظرفیت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۱۲ نفر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456432"/>
            <a:ext cx="2572435" cy="96012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3456432"/>
            <a:ext cx="2316403" cy="9601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تماس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[داخلی]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80"/>
            <a:ext cx="11057839" cy="1444752"/>
          </a:xfrm>
          <a:prstGeom prst="roundRect">
            <a:avLst>
              <a:gd name="adj" fmla="val 9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33327" y="4754880"/>
            <a:ext cx="91440" cy="14447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754880"/>
            <a:ext cx="10143439" cy="144475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ما آدم‌های باتجربه‌ای را استخدام کردیم و کنار هم نشاندیم.</a:t>
            </a:r>
          </a:p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فقط یادمان رفت فرصتی بسازیم که با هم حرف بزنند.</a:t>
            </a:r>
          </a:p>
          <a:p>
            <a:pPr rtl="1" algn="ctr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2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این طرح، همان فرصت است.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با هم بلد می‌شویم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۱۶ / ۱۶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