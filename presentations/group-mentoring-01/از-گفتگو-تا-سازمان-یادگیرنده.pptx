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300">
                <a:latin typeface="IRANSans"/>
              </a:rPr>
              <a:t>شروع بدون مقدمه طولانی. لبخند، تماس چشمی، و یک جمله ساده:</a:t>
            </a:r>
          </a:p>
          <a:p>
            <a:pPr rtl="1" algn="r"/>
            <a:r>
              <a:rPr sz="1300">
                <a:latin typeface="IRANSans"/>
              </a:rPr>
              <a:t>«امروز نیامده‌ام چیزی به شما یاد بدهم؛ آمده‌ام یک پیشنهاد بدهم.»</a:t>
            </a:r>
          </a:p>
          <a:p>
            <a:pPr rtl="1" algn="r"/>
            <a:r>
              <a:rPr sz="1300">
                <a:latin typeface="IRANSans"/>
              </a:rPr>
              <a:t>زمان: حدود ۱ دقیقه.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300">
                <a:latin typeface="IRANSans"/>
              </a:rPr>
              <a:t>سؤال را بپرسید و ۵ ثانیه سکوت کنید. اجازه دهید سنگینی سؤال حس شود.</a:t>
            </a:r>
          </a:p>
          <a:p>
            <a:pPr rtl="1" algn="r"/>
            <a:r>
              <a:rPr sz="1300">
                <a:latin typeface="IRANSans"/>
              </a:rPr>
              <a:t>اگر کسی خواست جواب دهد، بشنوید — همین شروع گفتگوست.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300">
                <a:latin typeface="IRANSans"/>
              </a:rPr>
              <a:t>ستون سمت راست را با افتخار بخوانید و ستون چپ را بدون سرزنش.</a:t>
            </a:r>
          </a:p>
          <a:p>
            <a:pPr rtl="1" algn="r"/>
            <a:r>
              <a:rPr sz="1300">
                <a:latin typeface="IRANSans"/>
              </a:rPr>
              <a:t>پیام: مشکل از آدم‌ها نیست، از نبودِ فضاست.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300">
                <a:latin typeface="IRANSans"/>
              </a:rPr>
              <a:t>از پایین به بالا بخوانید. روی «اینجا هستیم» مکث کنید.</a:t>
            </a:r>
          </a:p>
          <a:p>
            <a:pPr rtl="1" algn="r"/>
            <a:r>
              <a:rPr sz="1300">
                <a:latin typeface="IRANSans"/>
              </a:rPr>
              <a:t>تأکید: فاصله موج ۲ تا ۳ فاصله فناوری نیست، فاصله فرهنگ گفتگوست.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300">
                <a:latin typeface="IRANSans"/>
              </a:rPr>
              <a:t>تأکید کنید که این «کلاس» نیست و «جلسه گزارش‌دهی» هم نیست.</a:t>
            </a:r>
          </a:p>
          <a:p>
            <a:pPr rtl="1" algn="r"/>
            <a:r>
              <a:rPr sz="1300">
                <a:latin typeface="IRANSans"/>
              </a:rPr>
              <a:t>مثال بزنید: یک چالش واقعی که خودتان تنها با آن دست‌وپنجه نرم کرده‌اید.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300">
                <a:latin typeface="IRANSans"/>
              </a:rPr>
              <a:t>این اسلاید «مجوز علمی» طرح است. عدد ۷۰-۲۰-۱۰ را ساده توضیح دهید.</a:t>
            </a:r>
          </a:p>
          <a:p>
            <a:pPr rtl="1" algn="r"/>
            <a:r>
              <a:rPr sz="1300">
                <a:latin typeface="IRANSans"/>
              </a:rPr>
              <a:t>جمله پایانی را آرام و با مکث بگویید.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300">
                <a:latin typeface="IRANSans"/>
              </a:rPr>
              <a:t>یک مثال شخصی برای هر بُعد بگویید: چیزی که دانستید، مهارتی که تمرین کردید،</a:t>
            </a:r>
          </a:p>
          <a:p>
            <a:pPr rtl="1" algn="r"/>
            <a:r>
              <a:rPr sz="1300">
                <a:latin typeface="IRANSans"/>
              </a:rPr>
              <a:t>و نگرشی که در شما عوض شد.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300">
                <a:latin typeface="IRANSans"/>
              </a:rPr>
              <a:t>ستون سازمان را برای مدیران و ستون فردی را برای کارشناسان پررنگ کنید.</a:t>
            </a:r>
          </a:p>
          <a:p>
            <a:pPr rtl="1" algn="r"/>
            <a:r>
              <a:rPr sz="1300">
                <a:latin typeface="IRANSans"/>
              </a:rPr>
              <a:t>جمله «۹۰ دقیقه در هفته» را به‌عنوان کوچک‌ترین هزینه ممکن قاب بگیرید.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300">
                <a:latin typeface="IRANSans"/>
              </a:rPr>
              <a:t>تأکید بر «طوفان سؤالات»: در آن ۱۵ دقیقه هیچ‌کس اجازه راه‌حل دادن ندارد.</a:t>
            </a:r>
          </a:p>
          <a:p>
            <a:pPr rtl="1" algn="r"/>
            <a:r>
              <a:rPr sz="1300">
                <a:latin typeface="IRANSans"/>
              </a:rPr>
              <a:t>این عجیب‌ترین و مؤثرترین بخش جلسه است.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300">
                <a:latin typeface="IRANSans"/>
              </a:rPr>
              <a:t>این ۵ قانون را در جلسه اول با صدای بلند بخوانید و از گروه تأیید بگیرید.</a:t>
            </a:r>
          </a:p>
          <a:p>
            <a:pPr rtl="1" algn="r"/>
            <a:r>
              <a:rPr sz="1300">
                <a:latin typeface="IRANSans"/>
              </a:rPr>
              <a:t>بهتر است روی دیوار اتاق نصب شود.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300">
                <a:latin typeface="IRANSans"/>
              </a:rPr>
              <a:t>اینجا کارت تعهد کاغذی پخش کنید. تعهدها باید کوچک، مشخص و هفتگی باشند.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300">
                <a:latin typeface="IRANSans"/>
              </a:rPr>
              <a:t>پایان: نگویید «سؤالی نیست؟». بگویید «چه کسی می‌خواهد نفر اول باشد؟»</a:t>
            </a:r>
          </a:p>
          <a:p>
            <a:pPr rtl="1" algn="r"/>
            <a:r>
              <a:rPr sz="1300">
                <a:latin typeface="IRANSans"/>
              </a:rPr>
              <a:t>و دستتان را بالا ببرید تا اولین داوطلب راحت‌تر بلند شود.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E2C40"/>
              </a:gs>
              <a:gs pos="100000">
                <a:srgbClr val="2A6F97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01-hands-together.jpg"/>
          <p:cNvPicPr>
            <a:picLocks noChangeAspect="1"/>
          </p:cNvPicPr>
          <p:nvPr/>
        </p:nvPicPr>
        <p:blipFill>
          <a:blip r:embed="rId2"/>
          <a:srcRect l="22889" r="22889"/>
          <a:stretch>
            <a:fillRect/>
          </a:stretch>
        </p:blipFill>
        <p:spPr>
          <a:xfrm>
            <a:off x="6613855" y="0"/>
            <a:ext cx="557784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613855" y="0"/>
            <a:ext cx="5577840" cy="6858000"/>
          </a:xfrm>
          <a:prstGeom prst="rect">
            <a:avLst/>
          </a:prstGeom>
          <a:gradFill rotWithShape="1">
            <a:gsLst>
              <a:gs pos="0">
                <a:srgbClr val="0E2C40">
                  <a:alpha val="97000"/>
                </a:srgbClr>
              </a:gs>
              <a:gs pos="100000">
                <a:srgbClr val="0E2C40">
                  <a:alpha val="10000"/>
                </a:srgbClr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40680" y="1481328"/>
            <a:ext cx="1371600" cy="6350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19072"/>
            <a:ext cx="6035040" cy="329184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62B6CB"/>
                </a:solidFill>
                <a:latin typeface="IRANSans"/>
                <a:cs typeface="IRANSans"/>
                <a:ea typeface="IRANSans"/>
              </a:rPr>
              <a:t>جلسه اول منتورینگ گروهی</a:t>
            </a:r>
          </a:p>
          <a:p>
            <a:pPr rtl="1" algn="r">
              <a:lnSpc>
                <a:spcPct val="122000"/>
              </a:lnSpc>
              <a:spcBef>
                <a:spcPts val="1600"/>
              </a:spcBef>
              <a:spcAft>
                <a:spcPts val="0"/>
              </a:spcAft>
            </a:pPr>
            <a:r>
              <a:rPr sz="50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از گفتگو</a:t>
            </a:r>
          </a:p>
          <a:p>
            <a:pPr rtl="1"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50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تا </a:t>
            </a:r>
            <a:r>
              <a:rPr sz="50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سازمان یادگیرنده</a:t>
            </a:r>
          </a:p>
          <a:p>
            <a:pPr rtl="1" algn="r">
              <a:lnSpc>
                <a:spcPct val="130000"/>
              </a:lnSpc>
              <a:spcBef>
                <a:spcPts val="2200"/>
              </a:spcBef>
              <a:spcAft>
                <a:spcPts val="0"/>
              </a:spcAft>
            </a:pPr>
            <a:r>
              <a:rPr sz="2000" b="0">
                <a:solidFill>
                  <a:srgbClr val="ECF3F7"/>
                </a:solidFill>
                <a:latin typeface="IRANSans"/>
                <a:cs typeface="IRANSans"/>
                <a:ea typeface="IRANSans"/>
              </a:rPr>
              <a:t>نقشه راه توسعه فردی و سازمانی</a:t>
            </a:r>
          </a:p>
          <a:p>
            <a:pPr rtl="1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ECF3F7"/>
                </a:solidFill>
                <a:latin typeface="IRANSans"/>
                <a:cs typeface="IRANSans"/>
                <a:ea typeface="IRANSans"/>
              </a:rPr>
              <a:t>با رویکرد منتورینگ گروهی</a:t>
            </a:r>
          </a:p>
        </p:txBody>
      </p:sp>
      <p:sp>
        <p:nvSpPr>
          <p:cNvPr id="7" name="Rectangle 6"/>
          <p:cNvSpPr/>
          <p:nvPr/>
        </p:nvSpPr>
        <p:spPr>
          <a:xfrm>
            <a:off x="3703320" y="5138928"/>
            <a:ext cx="3108960" cy="15875"/>
          </a:xfrm>
          <a:prstGeom prst="rect">
            <a:avLst/>
          </a:prstGeom>
          <a:solidFill>
            <a:srgbClr val="62B6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349240"/>
            <a:ext cx="6035040" cy="91440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62B6CB"/>
                </a:solidFill>
                <a:latin typeface="IRANSans"/>
                <a:cs typeface="IRANSans"/>
                <a:ea typeface="IRANSans"/>
              </a:rPr>
              <a:t>تاریخ:  </a:t>
            </a:r>
            <a:r>
              <a:rPr sz="17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[تاریخ جلسه]</a:t>
            </a:r>
            <a:r>
              <a:rPr sz="1700" b="0">
                <a:solidFill>
                  <a:srgbClr val="62B6CB"/>
                </a:solidFill>
                <a:latin typeface="IRANSans"/>
                <a:cs typeface="IRANSans"/>
                <a:ea typeface="IRANSans"/>
              </a:rPr>
              <a:t>        ارائه‌کننده:  </a:t>
            </a:r>
            <a:r>
              <a:rPr sz="17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[نام ارائه‌کننده]</a:t>
            </a:r>
          </a:p>
          <a:p>
            <a:pPr rtl="1" algn="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400" b="0">
                <a:solidFill>
                  <a:srgbClr val="62B6CB"/>
                </a:solidFill>
                <a:latin typeface="IRANSans"/>
                <a:cs typeface="IRANSans"/>
                <a:ea typeface="IRANSans"/>
              </a:rPr>
              <a:t>[نام واحد / سازمان]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" name="Picture 2" descr="02-thinking.jpg"/>
          <p:cNvPicPr>
            <a:picLocks noChangeAspect="1"/>
          </p:cNvPicPr>
          <p:nvPr/>
        </p:nvPicPr>
        <p:blipFill>
          <a:blip r:embed="rId2"/>
          <a:srcRect l="26667" r="26667"/>
          <a:stretch>
            <a:fillRect/>
          </a:stretch>
        </p:blipFill>
        <p:spPr>
          <a:xfrm>
            <a:off x="0" y="0"/>
            <a:ext cx="48006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4800600" cy="6858000"/>
          </a:xfrm>
          <a:prstGeom prst="rect">
            <a:avLst/>
          </a:prstGeom>
          <a:gradFill rotWithShape="1">
            <a:gsLst>
              <a:gs pos="0">
                <a:srgbClr val="0E2C40">
                  <a:alpha val="5000"/>
                </a:srgbClr>
              </a:gs>
              <a:gs pos="100000">
                <a:srgbClr val="0E2C40">
                  <a:alpha val="55000"/>
                </a:srgbClr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40680" y="868680"/>
            <a:ext cx="6184087" cy="36576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یک سؤال ساده…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40680" y="1417320"/>
            <a:ext cx="6184087" cy="237744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آخرین بار </a:t>
            </a:r>
            <a:r>
              <a:rPr sz="34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کِی</a:t>
            </a:r>
            <a:r>
              <a:rPr sz="340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 با همکارانتان یک </a:t>
            </a:r>
            <a:r>
              <a:rPr sz="34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گفتگوی واقعی</a:t>
            </a:r>
            <a:r>
              <a:rPr sz="340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 درباره یک </a:t>
            </a:r>
            <a:r>
              <a:rPr sz="34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چالش واقعی</a:t>
            </a:r>
            <a:r>
              <a:rPr sz="340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 داشتید؟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40680" y="3611880"/>
            <a:ext cx="6184087" cy="137160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نه گزارش دادن.</a:t>
            </a:r>
          </a:p>
          <a:p>
            <a:pPr rtl="1"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نه دستور گرفتن.</a:t>
            </a:r>
          </a:p>
          <a:p>
            <a:pPr rtl="1"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گفتگوی واقعی.</a:t>
            </a:r>
          </a:p>
        </p:txBody>
      </p:sp>
      <p:sp>
        <p:nvSpPr>
          <p:cNvPr id="8" name="Rectangle 7"/>
          <p:cNvSpPr/>
          <p:nvPr/>
        </p:nvSpPr>
        <p:spPr>
          <a:xfrm>
            <a:off x="9247327" y="5138928"/>
            <a:ext cx="2377440" cy="3810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40680" y="5349240"/>
            <a:ext cx="6184087" cy="91440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اگر یادتان نمی‌آید، شما تنها نیستید.</a:t>
            </a:r>
          </a:p>
          <a:p>
            <a:pPr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D94E1F"/>
                </a:solidFill>
                <a:latin typeface="IRANSans"/>
                <a:cs typeface="IRANSans"/>
                <a:ea typeface="IRANSans"/>
              </a:rPr>
              <a:t>و همین‌جاست که مشکل شروع می‌شود.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382512"/>
            <a:ext cx="3657600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از گفتگو تا سازمان یادگیرنده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1727" y="6382512"/>
            <a:ext cx="1463040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۲ / ۱۲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1057839" cy="329184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واقعیت امروز ما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057839" cy="658368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ما کجای مسیر هستیم؟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90327" y="1316736"/>
            <a:ext cx="1234440" cy="5715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87871" y="1627632"/>
            <a:ext cx="5336895" cy="307238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87871" y="1627632"/>
            <a:ext cx="5336895" cy="566928"/>
          </a:xfrm>
          <a:prstGeom prst="roundRect">
            <a:avLst>
              <a:gd name="adj" fmla="val 12000"/>
            </a:avLst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✓   </a:t>
            </a:r>
            <a:r>
              <a:rPr sz="23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آنچه داریم</a:t>
            </a:r>
          </a:p>
        </p:txBody>
      </p:sp>
      <p:sp>
        <p:nvSpPr>
          <p:cNvPr id="8" name="Rectangle 7"/>
          <p:cNvSpPr/>
          <p:nvPr/>
        </p:nvSpPr>
        <p:spPr>
          <a:xfrm>
            <a:off x="6287871" y="2048256"/>
            <a:ext cx="5336895" cy="146304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15887" y="2313432"/>
            <a:ext cx="5080863" cy="512064"/>
          </a:xfrm>
          <a:prstGeom prst="roundRect">
            <a:avLst>
              <a:gd name="adj" fmla="val 16000"/>
            </a:avLst>
          </a:prstGeom>
          <a:solidFill>
            <a:srgbClr val="E8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98767" y="2313432"/>
            <a:ext cx="4715103" cy="512064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E8E5A"/>
                </a:solidFill>
                <a:latin typeface="IRANSans"/>
                <a:cs typeface="IRANSans"/>
                <a:ea typeface="IRANSans"/>
              </a:rPr>
              <a:t>✓  </a:t>
            </a:r>
            <a:r>
              <a:rPr sz="210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تخصص فنی بالا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98767" y="2880360"/>
            <a:ext cx="4715103" cy="512064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E8E5A"/>
                </a:solidFill>
                <a:latin typeface="IRANSans"/>
                <a:cs typeface="IRANSans"/>
                <a:ea typeface="IRANSans"/>
              </a:rPr>
              <a:t>✓  </a:t>
            </a:r>
            <a:r>
              <a:rPr sz="210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سال‌ها تجربه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15887" y="3447288"/>
            <a:ext cx="5080863" cy="512064"/>
          </a:xfrm>
          <a:prstGeom prst="roundRect">
            <a:avLst>
              <a:gd name="adj" fmla="val 16000"/>
            </a:avLst>
          </a:prstGeom>
          <a:solidFill>
            <a:srgbClr val="E8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98767" y="3447288"/>
            <a:ext cx="4715103" cy="512064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E8E5A"/>
                </a:solidFill>
                <a:latin typeface="IRANSans"/>
                <a:cs typeface="IRANSans"/>
                <a:ea typeface="IRANSans"/>
              </a:rPr>
              <a:t>✓  </a:t>
            </a:r>
            <a:r>
              <a:rPr sz="210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نیروی متعهد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98767" y="4014216"/>
            <a:ext cx="4715103" cy="512064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E8E5A"/>
                </a:solidFill>
                <a:latin typeface="IRANSans"/>
                <a:cs typeface="IRANSans"/>
                <a:ea typeface="IRANSans"/>
              </a:rPr>
              <a:t>✓  </a:t>
            </a:r>
            <a:r>
              <a:rPr sz="210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جلسات فراوان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1627632"/>
            <a:ext cx="5336895" cy="307238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66928" y="1627632"/>
            <a:ext cx="5336895" cy="566928"/>
          </a:xfrm>
          <a:prstGeom prst="roundRect">
            <a:avLst>
              <a:gd name="adj" fmla="val 12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✕   </a:t>
            </a:r>
            <a:r>
              <a:rPr sz="23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آنچه نداریم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2048256"/>
            <a:ext cx="5336895" cy="14630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94944" y="2313432"/>
            <a:ext cx="5080863" cy="512064"/>
          </a:xfrm>
          <a:prstGeom prst="roundRect">
            <a:avLst>
              <a:gd name="adj" fmla="val 16000"/>
            </a:avLst>
          </a:prstGeom>
          <a:solidFill>
            <a:srgbClr val="FD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2313432"/>
            <a:ext cx="4715103" cy="512064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C0392B"/>
                </a:solidFill>
                <a:latin typeface="IRANSans"/>
                <a:cs typeface="IRANSans"/>
                <a:ea typeface="IRANSans"/>
              </a:rPr>
              <a:t>✕  </a:t>
            </a:r>
            <a:r>
              <a:rPr sz="210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فضای گفتگوی آزاد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" y="2880360"/>
            <a:ext cx="4715103" cy="512064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C0392B"/>
                </a:solidFill>
                <a:latin typeface="IRANSans"/>
                <a:cs typeface="IRANSans"/>
                <a:ea typeface="IRANSans"/>
              </a:rPr>
              <a:t>✕  </a:t>
            </a:r>
            <a:r>
              <a:rPr sz="210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فرصت یادگیری از هم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4944" y="3447288"/>
            <a:ext cx="5080863" cy="512064"/>
          </a:xfrm>
          <a:prstGeom prst="roundRect">
            <a:avLst>
              <a:gd name="adj" fmla="val 16000"/>
            </a:avLst>
          </a:prstGeom>
          <a:solidFill>
            <a:srgbClr val="FD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" y="3447288"/>
            <a:ext cx="4715103" cy="512064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C0392B"/>
                </a:solidFill>
                <a:latin typeface="IRANSans"/>
                <a:cs typeface="IRANSans"/>
                <a:ea typeface="IRANSans"/>
              </a:rPr>
              <a:t>✕  </a:t>
            </a:r>
            <a:r>
              <a:rPr sz="210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احساس شنیده شدن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" y="4014216"/>
            <a:ext cx="4715103" cy="512064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C0392B"/>
                </a:solidFill>
                <a:latin typeface="IRANSans"/>
                <a:cs typeface="IRANSans"/>
                <a:ea typeface="IRANSans"/>
              </a:rPr>
              <a:t>✕  </a:t>
            </a:r>
            <a:r>
              <a:rPr sz="210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جلسات مفید و صمیمی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974336"/>
            <a:ext cx="11057839" cy="896112"/>
          </a:xfrm>
          <a:prstGeom prst="roundRect">
            <a:avLst>
              <a:gd name="adj" fmla="val 9000"/>
            </a:avLst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1542471" y="4974336"/>
            <a:ext cx="82296" cy="896112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" y="4974336"/>
            <a:ext cx="10399471" cy="89611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نتیجه:   </a:t>
            </a:r>
            <a:r>
              <a:rPr sz="230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دانش در سر افراد </a:t>
            </a:r>
            <a:r>
              <a:rPr sz="23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حبس</a:t>
            </a:r>
            <a:r>
              <a:rPr sz="230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 شده، اشتباهات </a:t>
            </a:r>
            <a:r>
              <a:rPr sz="23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تکرار</a:t>
            </a:r>
            <a:r>
              <a:rPr sz="230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 می‌شوند و نوآوری‌ها </a:t>
            </a:r>
            <a:r>
              <a:rPr sz="23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خفه</a:t>
            </a:r>
            <a:r>
              <a:rPr sz="230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 می‌شوند.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382512"/>
            <a:ext cx="3657600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از گفتگو تا سازمان یادگیرنده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61727" y="6382512"/>
            <a:ext cx="1463040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۳ / ۱۲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1057839" cy="329184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نقشه راه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057839" cy="658368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ما در کجای مسیر تحول ایستاده‌ایم؟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90327" y="1316736"/>
            <a:ext cx="1234440" cy="5715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74920" y="1645920"/>
            <a:ext cx="6549847" cy="804672"/>
          </a:xfrm>
          <a:prstGeom prst="roundRect">
            <a:avLst>
              <a:gd name="adj" fmla="val 12000"/>
            </a:avLst>
          </a:prstGeom>
          <a:solidFill>
            <a:srgbClr val="62B6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94376" y="1645920"/>
            <a:ext cx="6110935" cy="80467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موج ۵ — </a:t>
            </a:r>
            <a:r>
              <a:rPr sz="24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انسان‌محور</a:t>
            </a:r>
          </a:p>
        </p:txBody>
      </p:sp>
      <p:sp>
        <p:nvSpPr>
          <p:cNvPr id="8" name="Up Arrow 7"/>
          <p:cNvSpPr/>
          <p:nvPr/>
        </p:nvSpPr>
        <p:spPr>
          <a:xfrm>
            <a:off x="10573207" y="1499616"/>
            <a:ext cx="219456" cy="173736"/>
          </a:xfrm>
          <a:prstGeom prst="upArrow">
            <a:avLst/>
          </a:prstGeom>
          <a:solidFill>
            <a:srgbClr val="D8E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349240" y="2587752"/>
            <a:ext cx="6275527" cy="804672"/>
          </a:xfrm>
          <a:prstGeom prst="roundRect">
            <a:avLst>
              <a:gd name="adj" fmla="val 12000"/>
            </a:avLst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68696" y="2587752"/>
            <a:ext cx="5836615" cy="80467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موج ۴ — </a:t>
            </a:r>
            <a:r>
              <a:rPr sz="24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دیجیتال</a:t>
            </a:r>
          </a:p>
        </p:txBody>
      </p:sp>
      <p:sp>
        <p:nvSpPr>
          <p:cNvPr id="11" name="Up Arrow 10"/>
          <p:cNvSpPr/>
          <p:nvPr/>
        </p:nvSpPr>
        <p:spPr>
          <a:xfrm>
            <a:off x="10573207" y="2441448"/>
            <a:ext cx="219456" cy="173736"/>
          </a:xfrm>
          <a:prstGeom prst="upArrow">
            <a:avLst/>
          </a:prstGeom>
          <a:solidFill>
            <a:srgbClr val="D8E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623560" y="3529584"/>
            <a:ext cx="6001207" cy="804672"/>
          </a:xfrm>
          <a:prstGeom prst="roundRect">
            <a:avLst>
              <a:gd name="adj" fmla="val 12000"/>
            </a:avLst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43016" y="3529584"/>
            <a:ext cx="5562295" cy="80467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موج ۳ — </a:t>
            </a:r>
            <a:r>
              <a:rPr sz="24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دانش‌محور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69864" y="3675888"/>
            <a:ext cx="1874519" cy="51206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مقصد ۲ ساله ما</a:t>
            </a:r>
          </a:p>
        </p:txBody>
      </p:sp>
      <p:sp>
        <p:nvSpPr>
          <p:cNvPr id="15" name="Up Arrow 14"/>
          <p:cNvSpPr/>
          <p:nvPr/>
        </p:nvSpPr>
        <p:spPr>
          <a:xfrm>
            <a:off x="10573207" y="3383280"/>
            <a:ext cx="219456" cy="173736"/>
          </a:xfrm>
          <a:prstGeom prst="upArrow">
            <a:avLst/>
          </a:prstGeom>
          <a:solidFill>
            <a:srgbClr val="D8E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897880" y="4471416"/>
            <a:ext cx="5726887" cy="804672"/>
          </a:xfrm>
          <a:prstGeom prst="roundRect">
            <a:avLst>
              <a:gd name="adj" fmla="val 12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17336" y="4471416"/>
            <a:ext cx="5287975" cy="80467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موج ۲ — </a:t>
            </a:r>
            <a:r>
              <a:rPr sz="24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صنعتی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44184" y="4617720"/>
            <a:ext cx="1874519" cy="51206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اینجا هستیم</a:t>
            </a:r>
          </a:p>
        </p:txBody>
      </p:sp>
      <p:sp>
        <p:nvSpPr>
          <p:cNvPr id="19" name="Up Arrow 18"/>
          <p:cNvSpPr/>
          <p:nvPr/>
        </p:nvSpPr>
        <p:spPr>
          <a:xfrm>
            <a:off x="10573207" y="4325112"/>
            <a:ext cx="219456" cy="173736"/>
          </a:xfrm>
          <a:prstGeom prst="upArrow">
            <a:avLst/>
          </a:prstGeom>
          <a:solidFill>
            <a:srgbClr val="D8E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172200" y="5413248"/>
            <a:ext cx="5452567" cy="804672"/>
          </a:xfrm>
          <a:prstGeom prst="roundRect">
            <a:avLst>
              <a:gd name="adj" fmla="val 12000"/>
            </a:avLst>
          </a:prstGeom>
          <a:solidFill>
            <a:srgbClr val="5A6B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91656" y="5413248"/>
            <a:ext cx="5013655" cy="80467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موج ۱ — </a:t>
            </a:r>
            <a:r>
              <a:rPr sz="24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پیشامدرن</a:t>
            </a:r>
          </a:p>
        </p:txBody>
      </p:sp>
      <p:pic>
        <p:nvPicPr>
          <p:cNvPr id="22" name="Picture 21" descr="04-climb.jpg"/>
          <p:cNvPicPr>
            <a:picLocks noChangeAspect="1"/>
          </p:cNvPicPr>
          <p:nvPr/>
        </p:nvPicPr>
        <p:blipFill>
          <a:blip r:embed="rId2"/>
          <a:srcRect t="8984" b="8984"/>
          <a:stretch>
            <a:fillRect/>
          </a:stretch>
        </p:blipFill>
        <p:spPr>
          <a:xfrm>
            <a:off x="566928" y="1645920"/>
            <a:ext cx="4096512" cy="2240280"/>
          </a:xfrm>
          <a:prstGeom prst="round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566928" y="4069080"/>
            <a:ext cx="4096512" cy="2103120"/>
          </a:xfrm>
          <a:prstGeom prst="roundRect">
            <a:avLst>
              <a:gd name="adj" fmla="val 4500"/>
            </a:avLst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81144" y="4069080"/>
            <a:ext cx="82296" cy="210312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279392"/>
            <a:ext cx="3529584" cy="173736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پیام کلیدی</a:t>
            </a:r>
          </a:p>
          <a:p>
            <a:pPr rtl="1" algn="r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</a:pPr>
            <a:r>
              <a:rPr sz="210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پرش از موج ۲ به موج ۳ نیازمند </a:t>
            </a:r>
            <a:r>
              <a:rPr sz="21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یک چیز</a:t>
            </a:r>
            <a:r>
              <a:rPr sz="210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 است:</a:t>
            </a:r>
          </a:p>
          <a:p>
            <a:pPr rtl="1" algn="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گفتگوی واقعی بین آدم‌ها.</a:t>
            </a:r>
          </a:p>
          <a:p>
            <a:pPr rtl="1" algn="r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</a:pPr>
            <a:r>
              <a:rPr sz="1600" b="0">
                <a:solidFill>
                  <a:srgbClr val="62B6CB"/>
                </a:solidFill>
                <a:latin typeface="IRANSans"/>
                <a:cs typeface="IRANSans"/>
                <a:ea typeface="IRANSans"/>
              </a:rPr>
              <a:t>نه بخشنامه، نه نرم‌افزار، نه ساختار جدید.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382512"/>
            <a:ext cx="3657600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از گفتگو تا سازمان یادگیرنده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61727" y="6382512"/>
            <a:ext cx="1463040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۴ / ۱۲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1057839" cy="329184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تعریف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057839" cy="658368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منتورینگ گروهی چیست؟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90327" y="1316736"/>
            <a:ext cx="1234440" cy="5715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5-circle.jpg"/>
          <p:cNvPicPr>
            <a:picLocks noChangeAspect="1"/>
          </p:cNvPicPr>
          <p:nvPr/>
        </p:nvPicPr>
        <p:blipFill>
          <a:blip r:embed="rId2"/>
          <a:srcRect l="7613" r="7613"/>
          <a:stretch>
            <a:fillRect/>
          </a:stretch>
        </p:blipFill>
        <p:spPr>
          <a:xfrm>
            <a:off x="566928" y="1645920"/>
            <a:ext cx="4709160" cy="3703320"/>
          </a:xfrm>
          <a:prstGeom prst="round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95528" y="4224528"/>
            <a:ext cx="4251960" cy="960120"/>
          </a:xfrm>
          <a:prstGeom prst="roundRect">
            <a:avLst>
              <a:gd name="adj" fmla="val 4500"/>
            </a:avLst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«فضایی امن برای فکر کردن با هم —</a:t>
            </a:r>
          </a:p>
          <a:p>
            <a:pPr rtl="1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به‌جای فکر کردن تنها»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79008" y="1645920"/>
            <a:ext cx="5845759" cy="932688"/>
          </a:xfrm>
          <a:prstGeom prst="roundRect">
            <a:avLst>
              <a:gd name="adj" fmla="val 4500"/>
            </a:avLst>
          </a:prstGeom>
          <a:solidFill>
            <a:srgbClr val="EC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542471" y="1645920"/>
            <a:ext cx="82296" cy="932688"/>
          </a:xfrm>
          <a:prstGeom prst="rect">
            <a:avLst/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53328" y="1645920"/>
            <a:ext cx="5278831" cy="93268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جمع شدن </a:t>
            </a:r>
            <a:r>
              <a:rPr sz="21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۸ تا ۱۲ نفر</a:t>
            </a:r>
            <a:r>
              <a:rPr sz="210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 از همکاران در یک جلسه </a:t>
            </a:r>
            <a:r>
              <a:rPr sz="21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۹۰ دقیقه‌ای</a:t>
            </a:r>
            <a:r>
              <a:rPr sz="210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، برای اینکه: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79008" y="2788920"/>
            <a:ext cx="5845759" cy="658368"/>
          </a:xfrm>
          <a:prstGeom prst="roundRect">
            <a:avLst>
              <a:gd name="adj" fmla="val 16000"/>
            </a:avLst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057839" y="2962656"/>
            <a:ext cx="310896" cy="310896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2788920"/>
            <a:ext cx="4931359" cy="65836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تجربه‌های واقعی خود را </a:t>
            </a:r>
            <a:r>
              <a:rPr sz="2100" b="1">
                <a:solidFill>
                  <a:srgbClr val="D94E1F"/>
                </a:solidFill>
                <a:latin typeface="IRANSans"/>
                <a:cs typeface="IRANSans"/>
                <a:ea typeface="IRANSans"/>
              </a:rPr>
              <a:t>به اشتراک</a:t>
            </a:r>
            <a:r>
              <a:rPr sz="210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 بگذارند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79008" y="3557016"/>
            <a:ext cx="5845759" cy="658368"/>
          </a:xfrm>
          <a:prstGeom prst="roundRect">
            <a:avLst>
              <a:gd name="adj" fmla="val 16000"/>
            </a:avLst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57839" y="3730752"/>
            <a:ext cx="310896" cy="310896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3557016"/>
            <a:ext cx="4931359" cy="65836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به‌جای نصیحت، </a:t>
            </a:r>
            <a:r>
              <a:rPr sz="2100" b="1">
                <a:solidFill>
                  <a:srgbClr val="D94E1F"/>
                </a:solidFill>
                <a:latin typeface="IRANSans"/>
                <a:cs typeface="IRANSans"/>
                <a:ea typeface="IRANSans"/>
              </a:rPr>
              <a:t>سؤال</a:t>
            </a:r>
            <a:r>
              <a:rPr sz="210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 بپرسند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79008" y="4325112"/>
            <a:ext cx="5845759" cy="658368"/>
          </a:xfrm>
          <a:prstGeom prst="roundRect">
            <a:avLst>
              <a:gd name="adj" fmla="val 16000"/>
            </a:avLst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057839" y="4498848"/>
            <a:ext cx="310896" cy="310896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4325112"/>
            <a:ext cx="4931359" cy="65836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به‌جای قضاوت، </a:t>
            </a:r>
            <a:r>
              <a:rPr sz="2100" b="1">
                <a:solidFill>
                  <a:srgbClr val="D94E1F"/>
                </a:solidFill>
                <a:latin typeface="IRANSans"/>
                <a:cs typeface="IRANSans"/>
                <a:ea typeface="IRANSans"/>
              </a:rPr>
              <a:t>گوش</a:t>
            </a:r>
            <a:r>
              <a:rPr sz="210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 بدهند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79008" y="5093208"/>
            <a:ext cx="5845759" cy="658368"/>
          </a:xfrm>
          <a:prstGeom prst="roundRect">
            <a:avLst>
              <a:gd name="adj" fmla="val 16000"/>
            </a:avLst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057839" y="5266944"/>
            <a:ext cx="310896" cy="310896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0" y="5093208"/>
            <a:ext cx="4931359" cy="65836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به‌جای رقابت، </a:t>
            </a:r>
            <a:r>
              <a:rPr sz="2100" b="1">
                <a:solidFill>
                  <a:srgbClr val="D94E1F"/>
                </a:solidFill>
                <a:latin typeface="IRANSans"/>
                <a:cs typeface="IRANSans"/>
                <a:ea typeface="IRANSans"/>
              </a:rPr>
              <a:t>همکاری</a:t>
            </a:r>
            <a:r>
              <a:rPr sz="210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 کنند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382512"/>
            <a:ext cx="3657600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از گفتگو تا سازمان یادگیرنده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61727" y="6382512"/>
            <a:ext cx="1463040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۵ / ۱۲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1057839" cy="329184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علم پشت ماجرا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057839" cy="658368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چگونه واقعاً یاد می‌گیریم؟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90327" y="1316736"/>
            <a:ext cx="1234440" cy="5715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7546106" y="2012626"/>
            <a:ext cx="3015207" cy="3106725"/>
          </a:xfrm>
          <a:custGeom>
            <a:avLst/>
            <a:gdLst/>
            <a:ahLst/>
            <a:cxnLst/>
            <a:rect l="l" t="t" r="r" b="b"/>
            <a:pathLst>
              <a:path w="3015207" h="3106725">
                <a:moveTo>
                  <a:pt x="1514984" y="0"/>
                </a:moveTo>
                <a:lnTo>
                  <a:pt x="1654664" y="11198"/>
                </a:lnTo>
                <a:lnTo>
                  <a:pt x="1792769" y="34929"/>
                </a:lnTo>
                <a:lnTo>
                  <a:pt x="1928175" y="71000"/>
                </a:lnTo>
                <a:lnTo>
                  <a:pt x="2059782" y="119118"/>
                </a:lnTo>
                <a:lnTo>
                  <a:pt x="2186522" y="178892"/>
                </a:lnTo>
                <a:lnTo>
                  <a:pt x="2307364" y="249837"/>
                </a:lnTo>
                <a:lnTo>
                  <a:pt x="2421326" y="331376"/>
                </a:lnTo>
                <a:lnTo>
                  <a:pt x="2527482" y="422846"/>
                </a:lnTo>
                <a:lnTo>
                  <a:pt x="2624970" y="523504"/>
                </a:lnTo>
                <a:lnTo>
                  <a:pt x="2712997" y="632532"/>
                </a:lnTo>
                <a:lnTo>
                  <a:pt x="2790848" y="749045"/>
                </a:lnTo>
                <a:lnTo>
                  <a:pt x="2857891" y="872094"/>
                </a:lnTo>
                <a:lnTo>
                  <a:pt x="2913580" y="1000682"/>
                </a:lnTo>
                <a:lnTo>
                  <a:pt x="2957463" y="1133761"/>
                </a:lnTo>
                <a:lnTo>
                  <a:pt x="2989184" y="1270252"/>
                </a:lnTo>
                <a:lnTo>
                  <a:pt x="3008484" y="1409045"/>
                </a:lnTo>
                <a:lnTo>
                  <a:pt x="3015207" y="1549012"/>
                </a:lnTo>
                <a:lnTo>
                  <a:pt x="3009298" y="1689015"/>
                </a:lnTo>
                <a:lnTo>
                  <a:pt x="2990806" y="1827918"/>
                </a:lnTo>
                <a:lnTo>
                  <a:pt x="2959880" y="1964591"/>
                </a:lnTo>
                <a:lnTo>
                  <a:pt x="2916772" y="2097924"/>
                </a:lnTo>
                <a:lnTo>
                  <a:pt x="2861832" y="2226833"/>
                </a:lnTo>
                <a:lnTo>
                  <a:pt x="2795506" y="2350271"/>
                </a:lnTo>
                <a:lnTo>
                  <a:pt x="2718334" y="2467234"/>
                </a:lnTo>
                <a:lnTo>
                  <a:pt x="2630943" y="2576772"/>
                </a:lnTo>
                <a:lnTo>
                  <a:pt x="2534042" y="2677996"/>
                </a:lnTo>
                <a:lnTo>
                  <a:pt x="2428420" y="2770082"/>
                </a:lnTo>
                <a:lnTo>
                  <a:pt x="2314934" y="2852283"/>
                </a:lnTo>
                <a:lnTo>
                  <a:pt x="2194507" y="2923929"/>
                </a:lnTo>
                <a:lnTo>
                  <a:pt x="2068117" y="2984440"/>
                </a:lnTo>
                <a:lnTo>
                  <a:pt x="1936792" y="3033323"/>
                </a:lnTo>
                <a:lnTo>
                  <a:pt x="1801598" y="3070181"/>
                </a:lnTo>
                <a:lnTo>
                  <a:pt x="1663634" y="3094715"/>
                </a:lnTo>
                <a:lnTo>
                  <a:pt x="1524021" y="3106725"/>
                </a:lnTo>
                <a:lnTo>
                  <a:pt x="1383894" y="3106113"/>
                </a:lnTo>
                <a:lnTo>
                  <a:pt x="1244392" y="3092885"/>
                </a:lnTo>
                <a:lnTo>
                  <a:pt x="1106647" y="3067149"/>
                </a:lnTo>
                <a:lnTo>
                  <a:pt x="971780" y="3029112"/>
                </a:lnTo>
                <a:lnTo>
                  <a:pt x="840886" y="2979085"/>
                </a:lnTo>
                <a:lnTo>
                  <a:pt x="715029" y="2917474"/>
                </a:lnTo>
                <a:lnTo>
                  <a:pt x="595232" y="2844779"/>
                </a:lnTo>
                <a:lnTo>
                  <a:pt x="482468" y="2761591"/>
                </a:lnTo>
                <a:lnTo>
                  <a:pt x="377653" y="2668587"/>
                </a:lnTo>
                <a:lnTo>
                  <a:pt x="281639" y="2566522"/>
                </a:lnTo>
                <a:lnTo>
                  <a:pt x="195207" y="2456225"/>
                </a:lnTo>
                <a:lnTo>
                  <a:pt x="119059" y="2338592"/>
                </a:lnTo>
                <a:lnTo>
                  <a:pt x="53813" y="2214580"/>
                </a:lnTo>
                <a:lnTo>
                  <a:pt x="0" y="2085197"/>
                </a:lnTo>
                <a:lnTo>
                  <a:pt x="584293" y="1872532"/>
                </a:lnTo>
                <a:lnTo>
                  <a:pt x="616581" y="1950162"/>
                </a:lnTo>
                <a:lnTo>
                  <a:pt x="655729" y="2024569"/>
                </a:lnTo>
                <a:lnTo>
                  <a:pt x="701418" y="2095148"/>
                </a:lnTo>
                <a:lnTo>
                  <a:pt x="753277" y="2161326"/>
                </a:lnTo>
                <a:lnTo>
                  <a:pt x="810885" y="2222566"/>
                </a:lnTo>
                <a:lnTo>
                  <a:pt x="873774" y="2278368"/>
                </a:lnTo>
                <a:lnTo>
                  <a:pt x="941432" y="2328281"/>
                </a:lnTo>
                <a:lnTo>
                  <a:pt x="1013311" y="2371898"/>
                </a:lnTo>
                <a:lnTo>
                  <a:pt x="1088825" y="2408864"/>
                </a:lnTo>
                <a:lnTo>
                  <a:pt x="1167361" y="2438881"/>
                </a:lnTo>
                <a:lnTo>
                  <a:pt x="1248282" y="2461703"/>
                </a:lnTo>
                <a:lnTo>
                  <a:pt x="1330928" y="2477145"/>
                </a:lnTo>
                <a:lnTo>
                  <a:pt x="1414630" y="2485081"/>
                </a:lnTo>
                <a:lnTo>
                  <a:pt x="1498706" y="2485448"/>
                </a:lnTo>
                <a:lnTo>
                  <a:pt x="1582474" y="2478242"/>
                </a:lnTo>
                <a:lnTo>
                  <a:pt x="1665252" y="2463522"/>
                </a:lnTo>
                <a:lnTo>
                  <a:pt x="1746368" y="2441407"/>
                </a:lnTo>
                <a:lnTo>
                  <a:pt x="1825164" y="2412077"/>
                </a:lnTo>
                <a:lnTo>
                  <a:pt x="1900998" y="2375771"/>
                </a:lnTo>
                <a:lnTo>
                  <a:pt x="1973254" y="2332783"/>
                </a:lnTo>
                <a:lnTo>
                  <a:pt x="2041345" y="2283463"/>
                </a:lnTo>
                <a:lnTo>
                  <a:pt x="2104719" y="2228211"/>
                </a:lnTo>
                <a:lnTo>
                  <a:pt x="2162859" y="2167477"/>
                </a:lnTo>
                <a:lnTo>
                  <a:pt x="2215294" y="2101754"/>
                </a:lnTo>
                <a:lnTo>
                  <a:pt x="2261597" y="2031576"/>
                </a:lnTo>
                <a:lnTo>
                  <a:pt x="2301392" y="1957513"/>
                </a:lnTo>
                <a:lnTo>
                  <a:pt x="2334356" y="1880168"/>
                </a:lnTo>
                <a:lnTo>
                  <a:pt x="2360221" y="1800168"/>
                </a:lnTo>
                <a:lnTo>
                  <a:pt x="2378777" y="1718164"/>
                </a:lnTo>
                <a:lnTo>
                  <a:pt x="2389872" y="1634823"/>
                </a:lnTo>
                <a:lnTo>
                  <a:pt x="2393418" y="1550820"/>
                </a:lnTo>
                <a:lnTo>
                  <a:pt x="2389384" y="1466840"/>
                </a:lnTo>
                <a:lnTo>
                  <a:pt x="2377804" y="1383565"/>
                </a:lnTo>
                <a:lnTo>
                  <a:pt x="2358771" y="1301670"/>
                </a:lnTo>
                <a:lnTo>
                  <a:pt x="2332441" y="1221822"/>
                </a:lnTo>
                <a:lnTo>
                  <a:pt x="2299028" y="1144670"/>
                </a:lnTo>
                <a:lnTo>
                  <a:pt x="2258802" y="1070840"/>
                </a:lnTo>
                <a:lnTo>
                  <a:pt x="2212092" y="1000933"/>
                </a:lnTo>
                <a:lnTo>
                  <a:pt x="2159276" y="935516"/>
                </a:lnTo>
                <a:lnTo>
                  <a:pt x="2100783" y="875121"/>
                </a:lnTo>
                <a:lnTo>
                  <a:pt x="2037089" y="820239"/>
                </a:lnTo>
                <a:lnTo>
                  <a:pt x="1968712" y="771316"/>
                </a:lnTo>
                <a:lnTo>
                  <a:pt x="1896207" y="728749"/>
                </a:lnTo>
                <a:lnTo>
                  <a:pt x="1820163" y="692884"/>
                </a:lnTo>
                <a:lnTo>
                  <a:pt x="1741198" y="664013"/>
                </a:lnTo>
                <a:lnTo>
                  <a:pt x="1659955" y="642371"/>
                </a:lnTo>
                <a:lnTo>
                  <a:pt x="1577092" y="628132"/>
                </a:lnTo>
                <a:lnTo>
                  <a:pt x="1493284" y="621414"/>
                </a:lnTo>
                <a:close/>
              </a:path>
            </a:pathLst>
          </a:cu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7333532" y="2247540"/>
            <a:ext cx="1062495" cy="1779858"/>
          </a:xfrm>
          <a:custGeom>
            <a:avLst/>
            <a:gdLst/>
            <a:ahLst/>
            <a:cxnLst/>
            <a:rect l="l" t="t" r="r" b="b"/>
            <a:pathLst>
              <a:path w="1062495" h="1779858">
                <a:moveTo>
                  <a:pt x="64778" y="1779858"/>
                </a:moveTo>
                <a:lnTo>
                  <a:pt x="53867" y="1739949"/>
                </a:lnTo>
                <a:lnTo>
                  <a:pt x="43945" y="1699783"/>
                </a:lnTo>
                <a:lnTo>
                  <a:pt x="35020" y="1659384"/>
                </a:lnTo>
                <a:lnTo>
                  <a:pt x="27096" y="1618776"/>
                </a:lnTo>
                <a:lnTo>
                  <a:pt x="20178" y="1577985"/>
                </a:lnTo>
                <a:lnTo>
                  <a:pt x="14271" y="1537036"/>
                </a:lnTo>
                <a:lnTo>
                  <a:pt x="9378" y="1495953"/>
                </a:lnTo>
                <a:lnTo>
                  <a:pt x="5503" y="1454761"/>
                </a:lnTo>
                <a:lnTo>
                  <a:pt x="2647" y="1413486"/>
                </a:lnTo>
                <a:lnTo>
                  <a:pt x="812" y="1372154"/>
                </a:lnTo>
                <a:lnTo>
                  <a:pt x="0" y="1330788"/>
                </a:lnTo>
                <a:lnTo>
                  <a:pt x="210" y="1289415"/>
                </a:lnTo>
                <a:lnTo>
                  <a:pt x="1444" y="1248060"/>
                </a:lnTo>
                <a:lnTo>
                  <a:pt x="3699" y="1206749"/>
                </a:lnTo>
                <a:lnTo>
                  <a:pt x="6975" y="1165505"/>
                </a:lnTo>
                <a:lnTo>
                  <a:pt x="11270" y="1124355"/>
                </a:lnTo>
                <a:lnTo>
                  <a:pt x="16581" y="1083324"/>
                </a:lnTo>
                <a:lnTo>
                  <a:pt x="22905" y="1042437"/>
                </a:lnTo>
                <a:lnTo>
                  <a:pt x="30237" y="1001718"/>
                </a:lnTo>
                <a:lnTo>
                  <a:pt x="38574" y="961194"/>
                </a:lnTo>
                <a:lnTo>
                  <a:pt x="47910" y="920887"/>
                </a:lnTo>
                <a:lnTo>
                  <a:pt x="58240" y="880824"/>
                </a:lnTo>
                <a:lnTo>
                  <a:pt x="69558" y="841029"/>
                </a:lnTo>
                <a:lnTo>
                  <a:pt x="81855" y="801525"/>
                </a:lnTo>
                <a:lnTo>
                  <a:pt x="95126" y="762338"/>
                </a:lnTo>
                <a:lnTo>
                  <a:pt x="109361" y="723491"/>
                </a:lnTo>
                <a:lnTo>
                  <a:pt x="124552" y="685007"/>
                </a:lnTo>
                <a:lnTo>
                  <a:pt x="140691" y="646911"/>
                </a:lnTo>
                <a:lnTo>
                  <a:pt x="157766" y="609225"/>
                </a:lnTo>
                <a:lnTo>
                  <a:pt x="175767" y="571973"/>
                </a:lnTo>
                <a:lnTo>
                  <a:pt x="194684" y="535178"/>
                </a:lnTo>
                <a:lnTo>
                  <a:pt x="214505" y="498862"/>
                </a:lnTo>
                <a:lnTo>
                  <a:pt x="235218" y="463046"/>
                </a:lnTo>
                <a:lnTo>
                  <a:pt x="256810" y="427754"/>
                </a:lnTo>
                <a:lnTo>
                  <a:pt x="279268" y="393006"/>
                </a:lnTo>
                <a:lnTo>
                  <a:pt x="302578" y="358824"/>
                </a:lnTo>
                <a:lnTo>
                  <a:pt x="326726" y="325229"/>
                </a:lnTo>
                <a:lnTo>
                  <a:pt x="351697" y="292241"/>
                </a:lnTo>
                <a:lnTo>
                  <a:pt x="377476" y="259881"/>
                </a:lnTo>
                <a:lnTo>
                  <a:pt x="404047" y="228168"/>
                </a:lnTo>
                <a:lnTo>
                  <a:pt x="431394" y="197121"/>
                </a:lnTo>
                <a:lnTo>
                  <a:pt x="459501" y="166760"/>
                </a:lnTo>
                <a:lnTo>
                  <a:pt x="488349" y="137103"/>
                </a:lnTo>
                <a:lnTo>
                  <a:pt x="517922" y="108169"/>
                </a:lnTo>
                <a:lnTo>
                  <a:pt x="548201" y="79974"/>
                </a:lnTo>
                <a:lnTo>
                  <a:pt x="579168" y="52537"/>
                </a:lnTo>
                <a:lnTo>
                  <a:pt x="610804" y="25873"/>
                </a:lnTo>
                <a:lnTo>
                  <a:pt x="643089" y="0"/>
                </a:lnTo>
                <a:lnTo>
                  <a:pt x="1062495" y="536815"/>
                </a:lnTo>
                <a:lnTo>
                  <a:pt x="1043353" y="552155"/>
                </a:lnTo>
                <a:lnTo>
                  <a:pt x="1024596" y="567964"/>
                </a:lnTo>
                <a:lnTo>
                  <a:pt x="1006236" y="584231"/>
                </a:lnTo>
                <a:lnTo>
                  <a:pt x="988284" y="600948"/>
                </a:lnTo>
                <a:lnTo>
                  <a:pt x="970750" y="618103"/>
                </a:lnTo>
                <a:lnTo>
                  <a:pt x="953646" y="635686"/>
                </a:lnTo>
                <a:lnTo>
                  <a:pt x="936982" y="653687"/>
                </a:lnTo>
                <a:lnTo>
                  <a:pt x="920768" y="672095"/>
                </a:lnTo>
                <a:lnTo>
                  <a:pt x="905014" y="690897"/>
                </a:lnTo>
                <a:lnTo>
                  <a:pt x="889730" y="710084"/>
                </a:lnTo>
                <a:lnTo>
                  <a:pt x="874924" y="729642"/>
                </a:lnTo>
                <a:lnTo>
                  <a:pt x="860607" y="749561"/>
                </a:lnTo>
                <a:lnTo>
                  <a:pt x="846787" y="769827"/>
                </a:lnTo>
                <a:lnTo>
                  <a:pt x="833472" y="790429"/>
                </a:lnTo>
                <a:lnTo>
                  <a:pt x="820670" y="811353"/>
                </a:lnTo>
                <a:lnTo>
                  <a:pt x="808389" y="832588"/>
                </a:lnTo>
                <a:lnTo>
                  <a:pt x="796637" y="854120"/>
                </a:lnTo>
                <a:lnTo>
                  <a:pt x="785422" y="875936"/>
                </a:lnTo>
                <a:lnTo>
                  <a:pt x="774749" y="898022"/>
                </a:lnTo>
                <a:lnTo>
                  <a:pt x="764625" y="920366"/>
                </a:lnTo>
                <a:lnTo>
                  <a:pt x="755057" y="942953"/>
                </a:lnTo>
                <a:lnTo>
                  <a:pt x="746050" y="965770"/>
                </a:lnTo>
                <a:lnTo>
                  <a:pt x="737610" y="988802"/>
                </a:lnTo>
                <a:lnTo>
                  <a:pt x="729742" y="1012036"/>
                </a:lnTo>
                <a:lnTo>
                  <a:pt x="722450" y="1035458"/>
                </a:lnTo>
                <a:lnTo>
                  <a:pt x="715740" y="1059052"/>
                </a:lnTo>
                <a:lnTo>
                  <a:pt x="709616" y="1082806"/>
                </a:lnTo>
                <a:lnTo>
                  <a:pt x="704080" y="1106703"/>
                </a:lnTo>
                <a:lnTo>
                  <a:pt x="699137" y="1130730"/>
                </a:lnTo>
                <a:lnTo>
                  <a:pt x="694790" y="1154872"/>
                </a:lnTo>
                <a:lnTo>
                  <a:pt x="691041" y="1179114"/>
                </a:lnTo>
                <a:lnTo>
                  <a:pt x="687892" y="1203441"/>
                </a:lnTo>
                <a:lnTo>
                  <a:pt x="685346" y="1227839"/>
                </a:lnTo>
                <a:lnTo>
                  <a:pt x="683403" y="1252292"/>
                </a:lnTo>
                <a:lnTo>
                  <a:pt x="682066" y="1276785"/>
                </a:lnTo>
                <a:lnTo>
                  <a:pt x="681335" y="1301305"/>
                </a:lnTo>
                <a:lnTo>
                  <a:pt x="681210" y="1325834"/>
                </a:lnTo>
                <a:lnTo>
                  <a:pt x="681691" y="1350360"/>
                </a:lnTo>
                <a:lnTo>
                  <a:pt x="682779" y="1374866"/>
                </a:lnTo>
                <a:lnTo>
                  <a:pt x="684473" y="1399337"/>
                </a:lnTo>
                <a:lnTo>
                  <a:pt x="686770" y="1423760"/>
                </a:lnTo>
                <a:lnTo>
                  <a:pt x="689671" y="1448118"/>
                </a:lnTo>
                <a:lnTo>
                  <a:pt x="693173" y="1472397"/>
                </a:lnTo>
                <a:lnTo>
                  <a:pt x="697275" y="1496581"/>
                </a:lnTo>
                <a:lnTo>
                  <a:pt x="701973" y="1520657"/>
                </a:lnTo>
                <a:lnTo>
                  <a:pt x="707265" y="1544610"/>
                </a:lnTo>
                <a:lnTo>
                  <a:pt x="713147" y="1568424"/>
                </a:lnTo>
                <a:lnTo>
                  <a:pt x="719617" y="1592086"/>
                </a:lnTo>
                <a:close/>
              </a:path>
            </a:pathLst>
          </a:cu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8137585" y="2012626"/>
            <a:ext cx="836704" cy="780300"/>
          </a:xfrm>
          <a:custGeom>
            <a:avLst/>
            <a:gdLst/>
            <a:ahLst/>
            <a:cxnLst/>
            <a:rect l="l" t="t" r="r" b="b"/>
            <a:pathLst>
              <a:path w="836704" h="780300">
                <a:moveTo>
                  <a:pt x="0" y="264811"/>
                </a:moveTo>
                <a:lnTo>
                  <a:pt x="15054" y="254784"/>
                </a:lnTo>
                <a:lnTo>
                  <a:pt x="30223" y="244933"/>
                </a:lnTo>
                <a:lnTo>
                  <a:pt x="45506" y="235260"/>
                </a:lnTo>
                <a:lnTo>
                  <a:pt x="60900" y="225764"/>
                </a:lnTo>
                <a:lnTo>
                  <a:pt x="76403" y="216449"/>
                </a:lnTo>
                <a:lnTo>
                  <a:pt x="92014" y="207314"/>
                </a:lnTo>
                <a:lnTo>
                  <a:pt x="107731" y="198362"/>
                </a:lnTo>
                <a:lnTo>
                  <a:pt x="123550" y="189593"/>
                </a:lnTo>
                <a:lnTo>
                  <a:pt x="139470" y="181009"/>
                </a:lnTo>
                <a:lnTo>
                  <a:pt x="155489" y="172611"/>
                </a:lnTo>
                <a:lnTo>
                  <a:pt x="171605" y="164399"/>
                </a:lnTo>
                <a:lnTo>
                  <a:pt x="187815" y="156376"/>
                </a:lnTo>
                <a:lnTo>
                  <a:pt x="204118" y="148542"/>
                </a:lnTo>
                <a:lnTo>
                  <a:pt x="220510" y="140898"/>
                </a:lnTo>
                <a:lnTo>
                  <a:pt x="236991" y="133445"/>
                </a:lnTo>
                <a:lnTo>
                  <a:pt x="253556" y="126185"/>
                </a:lnTo>
                <a:lnTo>
                  <a:pt x="270206" y="119118"/>
                </a:lnTo>
                <a:lnTo>
                  <a:pt x="286936" y="112245"/>
                </a:lnTo>
                <a:lnTo>
                  <a:pt x="303745" y="105567"/>
                </a:lnTo>
                <a:lnTo>
                  <a:pt x="320631" y="99085"/>
                </a:lnTo>
                <a:lnTo>
                  <a:pt x="337591" y="92800"/>
                </a:lnTo>
                <a:lnTo>
                  <a:pt x="354623" y="86713"/>
                </a:lnTo>
                <a:lnTo>
                  <a:pt x="371725" y="80824"/>
                </a:lnTo>
                <a:lnTo>
                  <a:pt x="388894" y="75135"/>
                </a:lnTo>
                <a:lnTo>
                  <a:pt x="406128" y="69646"/>
                </a:lnTo>
                <a:lnTo>
                  <a:pt x="423425" y="64358"/>
                </a:lnTo>
                <a:lnTo>
                  <a:pt x="440782" y="59271"/>
                </a:lnTo>
                <a:lnTo>
                  <a:pt x="458197" y="54387"/>
                </a:lnTo>
                <a:lnTo>
                  <a:pt x="475668" y="49706"/>
                </a:lnTo>
                <a:lnTo>
                  <a:pt x="493192" y="45228"/>
                </a:lnTo>
                <a:lnTo>
                  <a:pt x="510767" y="40955"/>
                </a:lnTo>
                <a:lnTo>
                  <a:pt x="528390" y="36886"/>
                </a:lnTo>
                <a:lnTo>
                  <a:pt x="546060" y="33023"/>
                </a:lnTo>
                <a:lnTo>
                  <a:pt x="563773" y="29365"/>
                </a:lnTo>
                <a:lnTo>
                  <a:pt x="581528" y="25914"/>
                </a:lnTo>
                <a:lnTo>
                  <a:pt x="599322" y="22670"/>
                </a:lnTo>
                <a:lnTo>
                  <a:pt x="617152" y="19632"/>
                </a:lnTo>
                <a:lnTo>
                  <a:pt x="635017" y="16803"/>
                </a:lnTo>
                <a:lnTo>
                  <a:pt x="652913" y="14182"/>
                </a:lnTo>
                <a:lnTo>
                  <a:pt x="670838" y="11769"/>
                </a:lnTo>
                <a:lnTo>
                  <a:pt x="688790" y="9564"/>
                </a:lnTo>
                <a:lnTo>
                  <a:pt x="706767" y="7569"/>
                </a:lnTo>
                <a:lnTo>
                  <a:pt x="724766" y="5783"/>
                </a:lnTo>
                <a:lnTo>
                  <a:pt x="742784" y="4207"/>
                </a:lnTo>
                <a:lnTo>
                  <a:pt x="760819" y="2840"/>
                </a:lnTo>
                <a:lnTo>
                  <a:pt x="778870" y="1683"/>
                </a:lnTo>
                <a:lnTo>
                  <a:pt x="796932" y="737"/>
                </a:lnTo>
                <a:lnTo>
                  <a:pt x="815004" y="0"/>
                </a:lnTo>
                <a:lnTo>
                  <a:pt x="836704" y="621414"/>
                </a:lnTo>
                <a:lnTo>
                  <a:pt x="825861" y="621855"/>
                </a:lnTo>
                <a:lnTo>
                  <a:pt x="815024" y="622423"/>
                </a:lnTo>
                <a:lnTo>
                  <a:pt x="804193" y="623117"/>
                </a:lnTo>
                <a:lnTo>
                  <a:pt x="793372" y="623937"/>
                </a:lnTo>
                <a:lnTo>
                  <a:pt x="782561" y="624883"/>
                </a:lnTo>
                <a:lnTo>
                  <a:pt x="771762" y="625955"/>
                </a:lnTo>
                <a:lnTo>
                  <a:pt x="760976" y="627152"/>
                </a:lnTo>
                <a:lnTo>
                  <a:pt x="750205" y="628475"/>
                </a:lnTo>
                <a:lnTo>
                  <a:pt x="739449" y="629922"/>
                </a:lnTo>
                <a:lnTo>
                  <a:pt x="728712" y="631495"/>
                </a:lnTo>
                <a:lnTo>
                  <a:pt x="717993" y="633193"/>
                </a:lnTo>
                <a:lnTo>
                  <a:pt x="707295" y="635015"/>
                </a:lnTo>
                <a:lnTo>
                  <a:pt x="696619" y="636962"/>
                </a:lnTo>
                <a:lnTo>
                  <a:pt x="685966" y="639032"/>
                </a:lnTo>
                <a:lnTo>
                  <a:pt x="675338" y="641227"/>
                </a:lnTo>
                <a:lnTo>
                  <a:pt x="664736" y="643545"/>
                </a:lnTo>
                <a:lnTo>
                  <a:pt x="654162" y="645986"/>
                </a:lnTo>
                <a:lnTo>
                  <a:pt x="643617" y="648550"/>
                </a:lnTo>
                <a:lnTo>
                  <a:pt x="633102" y="651237"/>
                </a:lnTo>
                <a:lnTo>
                  <a:pt x="622620" y="654046"/>
                </a:lnTo>
                <a:lnTo>
                  <a:pt x="612171" y="656976"/>
                </a:lnTo>
                <a:lnTo>
                  <a:pt x="601757" y="660028"/>
                </a:lnTo>
                <a:lnTo>
                  <a:pt x="591379" y="663201"/>
                </a:lnTo>
                <a:lnTo>
                  <a:pt x="581038" y="666494"/>
                </a:lnTo>
                <a:lnTo>
                  <a:pt x="570737" y="669908"/>
                </a:lnTo>
                <a:lnTo>
                  <a:pt x="560476" y="673441"/>
                </a:lnTo>
                <a:lnTo>
                  <a:pt x="550256" y="677093"/>
                </a:lnTo>
                <a:lnTo>
                  <a:pt x="540080" y="680864"/>
                </a:lnTo>
                <a:lnTo>
                  <a:pt x="529949" y="684754"/>
                </a:lnTo>
                <a:lnTo>
                  <a:pt x="519863" y="688760"/>
                </a:lnTo>
                <a:lnTo>
                  <a:pt x="509825" y="692884"/>
                </a:lnTo>
                <a:lnTo>
                  <a:pt x="499836" y="697124"/>
                </a:lnTo>
                <a:lnTo>
                  <a:pt x="489896" y="701481"/>
                </a:lnTo>
                <a:lnTo>
                  <a:pt x="480008" y="705952"/>
                </a:lnTo>
                <a:lnTo>
                  <a:pt x="470172" y="710539"/>
                </a:lnTo>
                <a:lnTo>
                  <a:pt x="460391" y="715239"/>
                </a:lnTo>
                <a:lnTo>
                  <a:pt x="450665" y="720053"/>
                </a:lnTo>
                <a:lnTo>
                  <a:pt x="440995" y="724980"/>
                </a:lnTo>
                <a:lnTo>
                  <a:pt x="431384" y="730019"/>
                </a:lnTo>
                <a:lnTo>
                  <a:pt x="421832" y="735169"/>
                </a:lnTo>
                <a:lnTo>
                  <a:pt x="412340" y="740431"/>
                </a:lnTo>
                <a:lnTo>
                  <a:pt x="402911" y="745802"/>
                </a:lnTo>
                <a:lnTo>
                  <a:pt x="393544" y="751283"/>
                </a:lnTo>
                <a:lnTo>
                  <a:pt x="384242" y="756872"/>
                </a:lnTo>
                <a:lnTo>
                  <a:pt x="375005" y="762569"/>
                </a:lnTo>
                <a:lnTo>
                  <a:pt x="365836" y="768373"/>
                </a:lnTo>
                <a:lnTo>
                  <a:pt x="356734" y="774284"/>
                </a:lnTo>
                <a:lnTo>
                  <a:pt x="347702" y="780300"/>
                </a:lnTo>
                <a:close/>
              </a:path>
            </a:pathLst>
          </a:cu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0" y="3063240"/>
            <a:ext cx="1920240" cy="100584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۷۰-۲۰-۱۰</a:t>
            </a:r>
          </a:p>
          <a:p>
            <a:pPr rtl="1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مدل یادگیری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6600" y="5431536"/>
            <a:ext cx="3840480" cy="36576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مرجع: مؤسسه CCL آمریکا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1664208"/>
            <a:ext cx="6720840" cy="786384"/>
          </a:xfrm>
          <a:prstGeom prst="roundRect">
            <a:avLst>
              <a:gd name="adj" fmla="val 12000"/>
            </a:avLst>
          </a:prstGeom>
          <a:solidFill>
            <a:srgbClr val="E8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205472" y="1664208"/>
            <a:ext cx="82296" cy="786384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79008" y="1664208"/>
            <a:ext cx="1325880" cy="786384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E8E5A"/>
                </a:solidFill>
                <a:latin typeface="IRANSans"/>
                <a:cs typeface="IRANSans"/>
                <a:ea typeface="IRANSans"/>
              </a:rPr>
              <a:t>۷۰٪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1664208"/>
            <a:ext cx="4800600" cy="786384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یادگیری از انجام کار واقعی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2596896"/>
            <a:ext cx="6720840" cy="932688"/>
          </a:xfrm>
          <a:prstGeom prst="roundRect">
            <a:avLst>
              <a:gd name="adj" fmla="val 12000"/>
            </a:avLst>
          </a:prstGeom>
          <a:solidFill>
            <a:srgbClr val="FFF3EC"/>
          </a:solidFill>
          <a:ln w="25400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205472" y="2596896"/>
            <a:ext cx="82296" cy="932688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79008" y="2596896"/>
            <a:ext cx="1325880" cy="93268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۲۰٪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2596896"/>
            <a:ext cx="4800600" cy="93268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D94E1F"/>
                </a:solidFill>
                <a:latin typeface="IRANSans"/>
                <a:cs typeface="IRANSans"/>
                <a:ea typeface="IRANSans"/>
              </a:rPr>
              <a:t>یادگیری از تعامل با دیگران</a:t>
            </a:r>
            <a:r>
              <a:rPr sz="17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      ← اینجا!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675888"/>
            <a:ext cx="6720840" cy="786384"/>
          </a:xfrm>
          <a:prstGeom prst="roundRect">
            <a:avLst>
              <a:gd name="adj" fmla="val 12000"/>
            </a:avLst>
          </a:prstGeom>
          <a:solidFill>
            <a:srgbClr val="EC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205472" y="3675888"/>
            <a:ext cx="82296" cy="786384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79008" y="3675888"/>
            <a:ext cx="1325880" cy="786384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2A6F97"/>
                </a:solidFill>
                <a:latin typeface="IRANSans"/>
                <a:cs typeface="IRANSans"/>
                <a:ea typeface="IRANSans"/>
              </a:rPr>
              <a:t>۱۰٪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" y="3675888"/>
            <a:ext cx="4800600" cy="786384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یادگیری از کلاس و کتاب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4864608"/>
            <a:ext cx="6720840" cy="1298448"/>
          </a:xfrm>
          <a:prstGeom prst="roundRect">
            <a:avLst>
              <a:gd name="adj" fmla="val 9000"/>
            </a:avLst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205472" y="4864608"/>
            <a:ext cx="82296" cy="1298448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" y="5010912"/>
            <a:ext cx="6172200" cy="100584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واقعیت تلخ</a:t>
            </a:r>
          </a:p>
          <a:p>
            <a:pPr rtl="1" algn="r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سازمان ما </a:t>
            </a:r>
            <a:r>
              <a:rPr sz="20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۹۰٪</a:t>
            </a:r>
            <a:r>
              <a:rPr sz="200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 بودجه آموزشی را روی همان </a:t>
            </a:r>
            <a:r>
              <a:rPr sz="20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۱۰٪</a:t>
            </a:r>
            <a:r>
              <a:rPr sz="200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 خرج می‌کند.</a:t>
            </a:r>
          </a:p>
          <a:p>
            <a:pPr rtl="1" algn="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منتورینگ گروهی، همان ۲۰٪ گمشده است.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382512"/>
            <a:ext cx="3657600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از گفتگو تا سازمان یادگیرنده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61727" y="6382512"/>
            <a:ext cx="1463040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۶ / ۱۲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1057839" cy="329184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سه‌گانه رشد — K S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057839" cy="658368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هر یادگیری واقعی، سه بُعد دارد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90327" y="1316736"/>
            <a:ext cx="1234440" cy="5715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99832" y="1719071"/>
            <a:ext cx="2596896" cy="2596896"/>
          </a:xfrm>
          <a:prstGeom prst="ellipse">
            <a:avLst/>
          </a:prstGeom>
          <a:solidFill>
            <a:srgbClr val="2A6F97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567928" y="2977285"/>
            <a:ext cx="2596896" cy="2596896"/>
          </a:xfrm>
          <a:prstGeom prst="ellipse">
            <a:avLst/>
          </a:prstGeom>
          <a:solidFill>
            <a:srgbClr val="F39C12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031736" y="2977285"/>
            <a:ext cx="2596896" cy="2596896"/>
          </a:xfrm>
          <a:prstGeom prst="ellipse">
            <a:avLst/>
          </a:prstGeom>
          <a:solidFill>
            <a:srgbClr val="C0392B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1865375"/>
            <a:ext cx="1645920" cy="82296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K</a:t>
            </a:r>
          </a:p>
          <a:p>
            <a:pPr rt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دانش</a:t>
            </a:r>
          </a:p>
          <a:p>
            <a:pPr rt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«می‌دانم»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43416" y="4614061"/>
            <a:ext cx="1645920" cy="82296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S</a:t>
            </a:r>
          </a:p>
          <a:p>
            <a:pPr rt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مهارت</a:t>
            </a:r>
          </a:p>
          <a:p>
            <a:pPr rt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«می‌توانم»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07224" y="4614061"/>
            <a:ext cx="1645920" cy="82296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A</a:t>
            </a:r>
          </a:p>
          <a:p>
            <a:pPr rt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نگرش</a:t>
            </a:r>
          </a:p>
          <a:p>
            <a:pPr rt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«می‌خواهم»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3877055"/>
            <a:ext cx="1554480" cy="54864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رشد واقعی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1664208"/>
            <a:ext cx="6537960" cy="621792"/>
          </a:xfrm>
          <a:prstGeom prst="roundRect">
            <a:avLst>
              <a:gd name="adj" fmla="val 16000"/>
            </a:avLst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" y="1664208"/>
            <a:ext cx="6080760" cy="62179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در جلسات منتورینگ گروهی، هر بُعد چطور رشد می‌کند؟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2487168"/>
            <a:ext cx="6537960" cy="950976"/>
          </a:xfrm>
          <a:prstGeom prst="roundRect">
            <a:avLst>
              <a:gd name="adj" fmla="val 12000"/>
            </a:avLst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971032" y="2624328"/>
            <a:ext cx="932688" cy="676656"/>
          </a:xfrm>
          <a:prstGeom prst="roundRect">
            <a:avLst>
              <a:gd name="adj" fmla="val 22000"/>
            </a:avLst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2487168"/>
            <a:ext cx="4983480" cy="95097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A6F97"/>
                </a:solidFill>
                <a:latin typeface="IRANSans"/>
                <a:cs typeface="IRANSans"/>
                <a:ea typeface="IRANSans"/>
              </a:rPr>
              <a:t>دانش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از حرف‌ها و تجربیات واقعی دیگران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566160"/>
            <a:ext cx="6537960" cy="950976"/>
          </a:xfrm>
          <a:prstGeom prst="roundRect">
            <a:avLst>
              <a:gd name="adj" fmla="val 12000"/>
            </a:avLst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971032" y="3703320"/>
            <a:ext cx="932688" cy="676656"/>
          </a:xfrm>
          <a:prstGeom prst="roundRect">
            <a:avLst>
              <a:gd name="adj" fmla="val 22000"/>
            </a:avLst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3566160"/>
            <a:ext cx="4983480" cy="95097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39C12"/>
                </a:solidFill>
                <a:latin typeface="IRANSans"/>
                <a:cs typeface="IRANSans"/>
                <a:ea typeface="IRANSans"/>
              </a:rPr>
              <a:t>مهارت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از تمرین گفتگو و پرسشگری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645152"/>
            <a:ext cx="6537960" cy="950976"/>
          </a:xfrm>
          <a:prstGeom prst="roundRect">
            <a:avLst>
              <a:gd name="adj" fmla="val 12000"/>
            </a:avLst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971032" y="4782312"/>
            <a:ext cx="932688" cy="676656"/>
          </a:xfrm>
          <a:prstGeom prst="roundRect">
            <a:avLst>
              <a:gd name="adj" fmla="val 22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" y="4645152"/>
            <a:ext cx="4983480" cy="95097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C0392B"/>
                </a:solidFill>
                <a:latin typeface="IRANSans"/>
                <a:cs typeface="IRANSans"/>
                <a:ea typeface="IRANSans"/>
              </a:rPr>
              <a:t>نگرش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از حس تعلق و شنیده شدن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5632704"/>
            <a:ext cx="6537960" cy="15875"/>
          </a:xfrm>
          <a:prstGeom prst="rect">
            <a:avLst/>
          </a:prstGeom>
          <a:solidFill>
            <a:srgbClr val="D8E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5779008"/>
            <a:ext cx="6537960" cy="45720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فقط </a:t>
            </a:r>
            <a:r>
              <a:rPr sz="17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K</a:t>
            </a:r>
            <a:r>
              <a:rPr sz="17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؟ می‌شود آموزش. هر سه با هم؟ می‌شود </a:t>
            </a:r>
            <a:r>
              <a:rPr sz="1700" b="1">
                <a:solidFill>
                  <a:srgbClr val="D94E1F"/>
                </a:solidFill>
                <a:latin typeface="IRANSans"/>
                <a:cs typeface="IRANSans"/>
                <a:ea typeface="IRANSans"/>
              </a:rPr>
              <a:t>توسعه</a:t>
            </a:r>
            <a:r>
              <a:rPr sz="17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382512"/>
            <a:ext cx="3657600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از گفتگو تا سازمان یادگیرنده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61727" y="6382512"/>
            <a:ext cx="1463040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۷ / ۱۲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1057839" cy="329184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چه چیزی به دست می‌آوریم؟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057839" cy="658368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دستاوردهای این طرح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90327" y="1316736"/>
            <a:ext cx="1234440" cy="5715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87871" y="1627632"/>
            <a:ext cx="5336895" cy="35661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87871" y="1627632"/>
            <a:ext cx="5336895" cy="603504"/>
          </a:xfrm>
          <a:prstGeom prst="roundRect">
            <a:avLst>
              <a:gd name="adj" fmla="val 11000"/>
            </a:avLst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87871" y="2084832"/>
            <a:ext cx="5336895" cy="146304"/>
          </a:xfrm>
          <a:prstGeom prst="rect">
            <a:avLst/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87871" y="1627632"/>
            <a:ext cx="5336895" cy="603504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برای من (فردی)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15887" y="2340864"/>
            <a:ext cx="5080863" cy="502920"/>
          </a:xfrm>
          <a:prstGeom prst="roundRect">
            <a:avLst>
              <a:gd name="adj" fmla="val 16000"/>
            </a:avLst>
          </a:prstGeom>
          <a:solidFill>
            <a:srgbClr val="EC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98767" y="2340864"/>
            <a:ext cx="4715103" cy="50292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✓  </a:t>
            </a:r>
            <a:r>
              <a:rPr sz="210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مهارت حل مسئله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98767" y="2889504"/>
            <a:ext cx="4715103" cy="50292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✓  </a:t>
            </a:r>
            <a:r>
              <a:rPr sz="210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اعتمادبه‌نفس بیشتر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15887" y="3438144"/>
            <a:ext cx="5080863" cy="502920"/>
          </a:xfrm>
          <a:prstGeom prst="roundRect">
            <a:avLst>
              <a:gd name="adj" fmla="val 16000"/>
            </a:avLst>
          </a:prstGeom>
          <a:solidFill>
            <a:srgbClr val="EC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98767" y="3438144"/>
            <a:ext cx="4715103" cy="50292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✓  </a:t>
            </a:r>
            <a:r>
              <a:rPr sz="210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کاهش استرس شغلی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98767" y="3986784"/>
            <a:ext cx="4715103" cy="50292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✓  </a:t>
            </a:r>
            <a:r>
              <a:rPr sz="210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گسترش شبکه ارتباطی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15887" y="4535424"/>
            <a:ext cx="5080863" cy="502920"/>
          </a:xfrm>
          <a:prstGeom prst="roundRect">
            <a:avLst>
              <a:gd name="adj" fmla="val 16000"/>
            </a:avLst>
          </a:prstGeom>
          <a:solidFill>
            <a:srgbClr val="EC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98767" y="4535424"/>
            <a:ext cx="4715103" cy="50292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✓  </a:t>
            </a:r>
            <a:r>
              <a:rPr sz="210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رشد شغلی سریع‌تر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1627632"/>
            <a:ext cx="5336895" cy="35661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66928" y="1627632"/>
            <a:ext cx="5336895" cy="603504"/>
          </a:xfrm>
          <a:prstGeom prst="roundRect">
            <a:avLst>
              <a:gd name="adj" fmla="val 11000"/>
            </a:avLst>
          </a:prstGeom>
          <a:solidFill>
            <a:srgbClr val="D94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6928" y="2084832"/>
            <a:ext cx="5336895" cy="146304"/>
          </a:xfrm>
          <a:prstGeom prst="rect">
            <a:avLst/>
          </a:prstGeom>
          <a:solidFill>
            <a:srgbClr val="D94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1627632"/>
            <a:ext cx="5336895" cy="603504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برای سازمان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4944" y="2340864"/>
            <a:ext cx="5080863" cy="502920"/>
          </a:xfrm>
          <a:prstGeom prst="roundRect">
            <a:avLst>
              <a:gd name="adj" fmla="val 16000"/>
            </a:avLst>
          </a:prstGeom>
          <a:solidFill>
            <a:srgbClr val="FF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7824" y="2340864"/>
            <a:ext cx="4715103" cy="50292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D94E1F"/>
                </a:solidFill>
                <a:latin typeface="IRANSans"/>
                <a:cs typeface="IRANSans"/>
                <a:ea typeface="IRANSans"/>
              </a:rPr>
              <a:t>✓  </a:t>
            </a:r>
            <a:r>
              <a:rPr sz="210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انتقال دانش بین‌نسلی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" y="2889504"/>
            <a:ext cx="4715103" cy="50292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D94E1F"/>
                </a:solidFill>
                <a:latin typeface="IRANSans"/>
                <a:cs typeface="IRANSans"/>
                <a:ea typeface="IRANSans"/>
              </a:rPr>
              <a:t>✓  </a:t>
            </a:r>
            <a:r>
              <a:rPr sz="210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کاهش تکرار اشتباهات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944" y="3438144"/>
            <a:ext cx="5080863" cy="502920"/>
          </a:xfrm>
          <a:prstGeom prst="roundRect">
            <a:avLst>
              <a:gd name="adj" fmla="val 16000"/>
            </a:avLst>
          </a:prstGeom>
          <a:solidFill>
            <a:srgbClr val="FF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7824" y="3438144"/>
            <a:ext cx="4715103" cy="50292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D94E1F"/>
                </a:solidFill>
                <a:latin typeface="IRANSans"/>
                <a:cs typeface="IRANSans"/>
                <a:ea typeface="IRANSans"/>
              </a:rPr>
              <a:t>✓  </a:t>
            </a:r>
            <a:r>
              <a:rPr sz="210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افزایش چابکی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" y="3986784"/>
            <a:ext cx="4715103" cy="50292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D94E1F"/>
                </a:solidFill>
                <a:latin typeface="IRANSans"/>
                <a:cs typeface="IRANSans"/>
                <a:ea typeface="IRANSans"/>
              </a:rPr>
              <a:t>✓  </a:t>
            </a:r>
            <a:r>
              <a:rPr sz="210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نگهداشت نیروها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4944" y="4535424"/>
            <a:ext cx="5080863" cy="502920"/>
          </a:xfrm>
          <a:prstGeom prst="roundRect">
            <a:avLst>
              <a:gd name="adj" fmla="val 16000"/>
            </a:avLst>
          </a:prstGeom>
          <a:solidFill>
            <a:srgbClr val="FF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7824" y="4535424"/>
            <a:ext cx="4715103" cy="50292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D94E1F"/>
                </a:solidFill>
                <a:latin typeface="IRANSans"/>
                <a:cs typeface="IRANSans"/>
                <a:ea typeface="IRANSans"/>
              </a:rPr>
              <a:t>✓  </a:t>
            </a:r>
            <a:r>
              <a:rPr sz="210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تغییر فرهنگ سازمانی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5431536"/>
            <a:ext cx="11057839" cy="768096"/>
          </a:xfrm>
          <a:prstGeom prst="roundRect">
            <a:avLst>
              <a:gd name="adj" fmla="val 11000"/>
            </a:avLst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6928" y="5431536"/>
            <a:ext cx="11057839" cy="76809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همه این‌ها، با فقط  </a:t>
            </a:r>
            <a:r>
              <a:rPr sz="25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۹۰ دقیقه در هفته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6382512"/>
            <a:ext cx="3657600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از گفتگو تا سازمان یادگیرنده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61727" y="6382512"/>
            <a:ext cx="1463040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۸ / ۱۲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1057839" cy="329184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چگونه اجرا می‌شود؟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057839" cy="658368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ساختار هر جلسه — ۹۰ دقیقه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90327" y="1316736"/>
            <a:ext cx="1234440" cy="5715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396118" y="1645920"/>
            <a:ext cx="1196644" cy="384048"/>
          </a:xfrm>
          <a:prstGeom prst="rect">
            <a:avLst/>
          </a:prstGeom>
          <a:solidFill>
            <a:srgbClr val="62B6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96118" y="1645920"/>
            <a:ext cx="1228648" cy="38404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۱۰</a:t>
            </a:r>
          </a:p>
        </p:txBody>
      </p:sp>
      <p:sp>
        <p:nvSpPr>
          <p:cNvPr id="8" name="Rectangle 7"/>
          <p:cNvSpPr/>
          <p:nvPr/>
        </p:nvSpPr>
        <p:spPr>
          <a:xfrm>
            <a:off x="9167469" y="1645920"/>
            <a:ext cx="1196644" cy="384048"/>
          </a:xfrm>
          <a:prstGeom prst="rect">
            <a:avLst/>
          </a:prstGeom>
          <a:solidFill>
            <a:srgbClr val="62B6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67469" y="1645920"/>
            <a:ext cx="1228648" cy="38404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۱۰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24496" y="1645920"/>
            <a:ext cx="1810969" cy="384048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24496" y="1645920"/>
            <a:ext cx="1842973" cy="38404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۱۵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1523" y="1645920"/>
            <a:ext cx="1810969" cy="384048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1523" y="1645920"/>
            <a:ext cx="1842973" cy="38404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۱۵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38549" y="1645920"/>
            <a:ext cx="1810969" cy="384048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38549" y="1645920"/>
            <a:ext cx="1842973" cy="38404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۱۵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795576" y="1645920"/>
            <a:ext cx="1810969" cy="384048"/>
          </a:xfrm>
          <a:prstGeom prst="rect">
            <a:avLst/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95576" y="1645920"/>
            <a:ext cx="1842973" cy="38404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۱۵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7" y="1645920"/>
            <a:ext cx="1196644" cy="384048"/>
          </a:xfrm>
          <a:prstGeom prst="rect">
            <a:avLst/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7" y="1645920"/>
            <a:ext cx="1228648" cy="38404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۱۰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2194560"/>
            <a:ext cx="11057839" cy="425196"/>
          </a:xfrm>
          <a:prstGeom prst="roundRect">
            <a:avLst>
              <a:gd name="adj" fmla="val 20000"/>
            </a:avLst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436047" y="2235708"/>
            <a:ext cx="1042415" cy="333756"/>
          </a:xfrm>
          <a:prstGeom prst="roundRect">
            <a:avLst>
              <a:gd name="adj" fmla="val 26000"/>
            </a:avLst>
          </a:prstGeom>
          <a:solidFill>
            <a:srgbClr val="62B6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۱۰ دقیقه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32727" y="2194560"/>
            <a:ext cx="3566160" cy="42519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خوش‌آمد و گرم‌کردن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2194560"/>
            <a:ext cx="6858000" cy="42519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یک سؤال ساده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436047" y="2697480"/>
            <a:ext cx="1042415" cy="333756"/>
          </a:xfrm>
          <a:prstGeom prst="roundRect">
            <a:avLst>
              <a:gd name="adj" fmla="val 26000"/>
            </a:avLst>
          </a:prstGeom>
          <a:solidFill>
            <a:srgbClr val="62B6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۱۰ دقیقه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32727" y="2656332"/>
            <a:ext cx="3566160" cy="42519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مرور جلسه قبل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2656332"/>
            <a:ext cx="6858000" cy="42519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تعهدات هفته گذشته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3118104"/>
            <a:ext cx="11057839" cy="425196"/>
          </a:xfrm>
          <a:prstGeom prst="roundRect">
            <a:avLst>
              <a:gd name="adj" fmla="val 20000"/>
            </a:avLst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0436047" y="3159252"/>
            <a:ext cx="1042415" cy="333756"/>
          </a:xfrm>
          <a:prstGeom prst="roundRect">
            <a:avLst>
              <a:gd name="adj" fmla="val 26000"/>
            </a:avLst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۱۵ دقیقه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32727" y="3118104"/>
            <a:ext cx="3566160" cy="42519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ارائه چالش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" y="3118104"/>
            <a:ext cx="6858000" cy="42519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یک نفر داوطلب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436047" y="3621024"/>
            <a:ext cx="1042415" cy="333756"/>
          </a:xfrm>
          <a:prstGeom prst="roundRect">
            <a:avLst>
              <a:gd name="adj" fmla="val 26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۱۵ دقیقه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32727" y="3579876"/>
            <a:ext cx="3566160" cy="42519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طوفان سؤالات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8" y="3579876"/>
            <a:ext cx="6858000" cy="42519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فقط سؤال، بدون راه‌حل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6928" y="4041648"/>
            <a:ext cx="11057839" cy="425196"/>
          </a:xfrm>
          <a:prstGeom prst="roundRect">
            <a:avLst>
              <a:gd name="adj" fmla="val 20000"/>
            </a:avLst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0436047" y="4082796"/>
            <a:ext cx="1042415" cy="333756"/>
          </a:xfrm>
          <a:prstGeom prst="roundRect">
            <a:avLst>
              <a:gd name="adj" fmla="val 26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۱۵ دقیقه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32727" y="4041648"/>
            <a:ext cx="3566160" cy="42519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تبادل تجربه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08" y="4041648"/>
            <a:ext cx="6858000" cy="42519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همه ایده بدهند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436047" y="4544568"/>
            <a:ext cx="1042415" cy="333756"/>
          </a:xfrm>
          <a:prstGeom prst="roundRect">
            <a:avLst>
              <a:gd name="adj" fmla="val 26000"/>
            </a:avLst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۱۵ دقیقه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32727" y="4503420"/>
            <a:ext cx="3566160" cy="42519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تعهد فردی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9808" y="4503420"/>
            <a:ext cx="6858000" cy="42519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۳ اقدام مشخص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66928" y="4965192"/>
            <a:ext cx="11057839" cy="425196"/>
          </a:xfrm>
          <a:prstGeom prst="roundRect">
            <a:avLst>
              <a:gd name="adj" fmla="val 20000"/>
            </a:avLst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10436047" y="5006340"/>
            <a:ext cx="1042415" cy="333756"/>
          </a:xfrm>
          <a:prstGeom prst="roundRect">
            <a:avLst>
              <a:gd name="adj" fmla="val 26000"/>
            </a:avLst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۱۰ دقیقه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32727" y="4965192"/>
            <a:ext cx="3566160" cy="42519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جمع‌بندی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9808" y="4965192"/>
            <a:ext cx="6858000" cy="42519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یک کلمه از هر نفر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66928" y="5541264"/>
            <a:ext cx="11057839" cy="640080"/>
          </a:xfrm>
          <a:prstGeom prst="roundRect">
            <a:avLst>
              <a:gd name="adj" fmla="val 13000"/>
            </a:avLst>
          </a:prstGeom>
          <a:solidFill>
            <a:srgbClr val="FFF3EC"/>
          </a:solidFill>
          <a:ln w="22225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66928" y="5541264"/>
            <a:ext cx="11057839" cy="64008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D94E1F"/>
                </a:solidFill>
                <a:latin typeface="IRANSans"/>
                <a:cs typeface="IRANSans"/>
                <a:ea typeface="IRANSans"/>
              </a:rPr>
              <a:t>قانون طلایی:   </a:t>
            </a:r>
            <a:r>
              <a:rPr sz="21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۷۰٪ گروه صحبت می‌کند، ۳۰٪ تسهیل‌گر.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6928" y="6382512"/>
            <a:ext cx="3657600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از گفتگو تا سازمان یادگیرنده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161727" y="6382512"/>
            <a:ext cx="1463040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۹ / ۱۲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1057839" cy="329184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قوانین طلایی جلسه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057839" cy="658368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قواعد بازی — تا فضا امن باشد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90327" y="1316736"/>
            <a:ext cx="1234440" cy="5715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080967" y="1627632"/>
            <a:ext cx="7543800" cy="841248"/>
          </a:xfrm>
          <a:prstGeom prst="roundRect">
            <a:avLst>
              <a:gd name="adj" fmla="val 11000"/>
            </a:avLst>
          </a:prstGeom>
          <a:solidFill>
            <a:srgbClr val="FF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533327" y="1627632"/>
            <a:ext cx="91440" cy="841248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746943" y="1828800"/>
            <a:ext cx="457200" cy="457200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55287" y="1627632"/>
            <a:ext cx="6309360" cy="84124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سلسله‌مراتب تعطیل است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همه هم‌فکریم، نه رئیس و زیردست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80967" y="2560320"/>
            <a:ext cx="7543800" cy="841248"/>
          </a:xfrm>
          <a:prstGeom prst="roundRect">
            <a:avLst>
              <a:gd name="adj" fmla="val 11000"/>
            </a:avLst>
          </a:prstGeom>
          <a:solidFill>
            <a:srgbClr val="EC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533327" y="2560320"/>
            <a:ext cx="91440" cy="841248"/>
          </a:xfrm>
          <a:prstGeom prst="rect">
            <a:avLst/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746943" y="2761488"/>
            <a:ext cx="457200" cy="457200"/>
          </a:xfrm>
          <a:prstGeom prst="ellipse">
            <a:avLst/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55287" y="2560320"/>
            <a:ext cx="6309360" cy="84124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محرمانگی کامل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هر چه اینجا گفته شود، همین‌جا می‌ماند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80967" y="3493008"/>
            <a:ext cx="7543800" cy="841248"/>
          </a:xfrm>
          <a:prstGeom prst="roundRect">
            <a:avLst>
              <a:gd name="adj" fmla="val 11000"/>
            </a:avLst>
          </a:prstGeom>
          <a:solidFill>
            <a:srgbClr val="E8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533327" y="3493008"/>
            <a:ext cx="91440" cy="841248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746943" y="3694176"/>
            <a:ext cx="457200" cy="457200"/>
          </a:xfrm>
          <a:prstGeom prst="ellipse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55287" y="3493008"/>
            <a:ext cx="6309360" cy="84124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E8E5A"/>
                </a:solidFill>
                <a:latin typeface="IRANSans"/>
                <a:cs typeface="IRANSans"/>
                <a:ea typeface="IRANSans"/>
              </a:rPr>
              <a:t>سؤال بپرس، جواب نده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به‌جای نصیحت، کنجکاوی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80967" y="4425696"/>
            <a:ext cx="7543800" cy="841248"/>
          </a:xfrm>
          <a:prstGeom prst="roundRect">
            <a:avLst>
              <a:gd name="adj" fmla="val 11000"/>
            </a:avLst>
          </a:prstGeom>
          <a:solidFill>
            <a:srgbClr val="F6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533327" y="4425696"/>
            <a:ext cx="91440" cy="841248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746943" y="4626864"/>
            <a:ext cx="457200" cy="45720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55287" y="4425696"/>
            <a:ext cx="6309360" cy="84124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8E44AD"/>
                </a:solidFill>
                <a:latin typeface="IRANSans"/>
                <a:cs typeface="IRANSans"/>
                <a:ea typeface="IRANSans"/>
              </a:rPr>
              <a:t>قضاوت ممنوع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هیچ سؤالی احمقانه نیست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80967" y="5358384"/>
            <a:ext cx="7543800" cy="841248"/>
          </a:xfrm>
          <a:prstGeom prst="roundRect">
            <a:avLst>
              <a:gd name="adj" fmla="val 11000"/>
            </a:avLst>
          </a:prstGeom>
          <a:solidFill>
            <a:srgbClr val="FD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1533327" y="5358384"/>
            <a:ext cx="91440" cy="84124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746943" y="5559552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55287" y="5358384"/>
            <a:ext cx="6309360" cy="84124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C0392B"/>
                </a:solidFill>
                <a:latin typeface="IRANSans"/>
                <a:cs typeface="IRANSans"/>
                <a:ea typeface="IRANSans"/>
              </a:rPr>
              <a:t>گوش بده تا بفهمی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نه اینکه گوش بدهی تا جواب بدهی</a:t>
            </a:r>
          </a:p>
        </p:txBody>
      </p:sp>
      <p:pic>
        <p:nvPicPr>
          <p:cNvPr id="26" name="Picture 25" descr="10-safe.jpg"/>
          <p:cNvPicPr>
            <a:picLocks noChangeAspect="1"/>
          </p:cNvPicPr>
          <p:nvPr/>
        </p:nvPicPr>
        <p:blipFill>
          <a:blip r:embed="rId2"/>
          <a:srcRect l="15213" r="15213"/>
          <a:stretch>
            <a:fillRect/>
          </a:stretch>
        </p:blipFill>
        <p:spPr>
          <a:xfrm>
            <a:off x="566928" y="1627632"/>
            <a:ext cx="3129991" cy="2999232"/>
          </a:xfrm>
          <a:prstGeom prst="round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566928" y="4791456"/>
            <a:ext cx="3129991" cy="1417320"/>
          </a:xfrm>
          <a:prstGeom prst="roundRect">
            <a:avLst>
              <a:gd name="adj" fmla="val 4500"/>
            </a:avLst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14623" y="4791456"/>
            <a:ext cx="82296" cy="141732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2" y="4992624"/>
            <a:ext cx="2627071" cy="105156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چرا این قوانین؟</a:t>
            </a:r>
          </a:p>
          <a:p>
            <a:pPr rtl="1" algn="r">
              <a:lnSpc>
                <a:spcPct val="125000"/>
              </a:lnSpc>
              <a:spcBef>
                <a:spcPts val="70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بدون امنیت روانی، هیچ‌کس از شکست‌هایش حرف نمی‌زند — و یادگیری آنجاست.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382512"/>
            <a:ext cx="3657600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از گفتگو تا سازمان یادگیرنده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61727" y="6382512"/>
            <a:ext cx="1463040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۱۰ / ۱۲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1057839" cy="329184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از یادگیری به اقدام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057839" cy="658368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پایان هر جلسه: سه تعهد شخصی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90327" y="1316736"/>
            <a:ext cx="1234440" cy="5715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146084" y="1645920"/>
            <a:ext cx="3478682" cy="30175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46084" y="1645920"/>
            <a:ext cx="3478682" cy="841248"/>
          </a:xfrm>
          <a:prstGeom prst="roundRect">
            <a:avLst>
              <a:gd name="adj" fmla="val 10000"/>
            </a:avLst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146084" y="2340864"/>
            <a:ext cx="3478682" cy="146304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46084" y="1645920"/>
            <a:ext cx="3478682" cy="84124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K</a:t>
            </a:r>
            <a:r>
              <a:rPr sz="200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   </a:t>
            </a:r>
            <a:r>
              <a:rPr sz="21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دانش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3828" y="2688335"/>
            <a:ext cx="3003194" cy="91440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یک چیز جدید یاد می‌گیرم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47252" y="3657600"/>
            <a:ext cx="3076346" cy="804672"/>
          </a:xfrm>
          <a:prstGeom prst="roundRect">
            <a:avLst>
              <a:gd name="adj" fmla="val 12000"/>
            </a:avLst>
          </a:prstGeom>
          <a:solidFill>
            <a:srgbClr val="EC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75268" y="3657600"/>
            <a:ext cx="2820314" cy="80467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مثلاً: از تجربه فلانی درباره آن پروژه می‌پرسم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56506" y="1645920"/>
            <a:ext cx="3478682" cy="30175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56506" y="1645920"/>
            <a:ext cx="3478682" cy="841248"/>
          </a:xfrm>
          <a:prstGeom prst="roundRect">
            <a:avLst>
              <a:gd name="adj" fmla="val 10000"/>
            </a:avLst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56506" y="2340864"/>
            <a:ext cx="3478682" cy="146304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56506" y="1645920"/>
            <a:ext cx="3478682" cy="84124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S</a:t>
            </a:r>
            <a:r>
              <a:rPr sz="200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   </a:t>
            </a:r>
            <a:r>
              <a:rPr sz="21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مهارت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4250" y="2688335"/>
            <a:ext cx="3003194" cy="91440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یک رفتار جدید تمرین می‌کنم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57674" y="3657600"/>
            <a:ext cx="3076346" cy="804672"/>
          </a:xfrm>
          <a:prstGeom prst="roundRect">
            <a:avLst>
              <a:gd name="adj" fmla="val 12000"/>
            </a:avLst>
          </a:prstGeom>
          <a:solidFill>
            <a:srgbClr val="FDF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85690" y="3657600"/>
            <a:ext cx="2820314" cy="80467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مثلاً: به‌جای دستور دادن، سؤال می‌پرسم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7" y="1645920"/>
            <a:ext cx="3478682" cy="30175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66927" y="1645920"/>
            <a:ext cx="3478682" cy="841248"/>
          </a:xfrm>
          <a:prstGeom prst="roundRect">
            <a:avLst>
              <a:gd name="adj" fmla="val 1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7" y="2340864"/>
            <a:ext cx="3478682" cy="14630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7" y="1645920"/>
            <a:ext cx="3478682" cy="84124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A</a:t>
            </a:r>
            <a:r>
              <a:rPr sz="200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   </a:t>
            </a:r>
            <a:r>
              <a:rPr sz="21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نگرش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1" y="2688335"/>
            <a:ext cx="3003194" cy="91440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یک نگرش را تغییر می‌دهم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8095" y="3657600"/>
            <a:ext cx="3076346" cy="804672"/>
          </a:xfrm>
          <a:prstGeom prst="roundRect">
            <a:avLst>
              <a:gd name="adj" fmla="val 12000"/>
            </a:avLst>
          </a:prstGeom>
          <a:solidFill>
            <a:srgbClr val="FD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1" y="3657600"/>
            <a:ext cx="2820314" cy="80467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مثلاً: از یک همکار صادقانه تشکر می‌کنم</a:t>
            </a:r>
          </a:p>
        </p:txBody>
      </p:sp>
      <p:pic>
        <p:nvPicPr>
          <p:cNvPr id="27" name="Picture 26" descr="11-commit.jpg"/>
          <p:cNvPicPr>
            <a:picLocks noChangeAspect="1"/>
          </p:cNvPicPr>
          <p:nvPr/>
        </p:nvPicPr>
        <p:blipFill>
          <a:blip r:embed="rId2"/>
          <a:srcRect t="15082" b="15082"/>
          <a:stretch>
            <a:fillRect/>
          </a:stretch>
        </p:blipFill>
        <p:spPr>
          <a:xfrm>
            <a:off x="566928" y="4956048"/>
            <a:ext cx="2788920" cy="1298448"/>
          </a:xfrm>
          <a:prstGeom prst="round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3630168" y="4956048"/>
            <a:ext cx="7994599" cy="1298448"/>
          </a:xfrm>
          <a:prstGeom prst="roundRect">
            <a:avLst>
              <a:gd name="adj" fmla="val 10000"/>
            </a:avLst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542471" y="4956048"/>
            <a:ext cx="82296" cy="1298448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904488" y="5120640"/>
            <a:ext cx="7427671" cy="100584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هفته بعد</a:t>
            </a:r>
          </a:p>
          <a:p>
            <a:pPr rtl="1" algn="r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</a:pPr>
            <a:r>
              <a:rPr sz="190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۵ دقیقه اول جلسه مرور می‌کنیم که تعهدات را چطور اجرا کردیم.</a:t>
            </a:r>
          </a:p>
          <a:p>
            <a:pPr rtl="1" algn="r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</a:pPr>
            <a:r>
              <a:rPr sz="19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نه برای بازخواست — برای یادگیری از تجربه شما.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382512"/>
            <a:ext cx="3657600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از گفتگو تا سازمان یادگیرنده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61727" y="6382512"/>
            <a:ext cx="1463040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۱۱ / ۱۲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-road.jpg"/>
          <p:cNvPicPr>
            <a:picLocks noChangeAspect="1"/>
          </p:cNvPicPr>
          <p:nvPr/>
        </p:nvPicPr>
        <p:blipFill>
          <a:blip r:embed="rId2"/>
          <a:srcRect t="7811" b="781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E2C40">
                  <a:alpha val="88000"/>
                </a:srgbClr>
              </a:gs>
              <a:gs pos="100000">
                <a:srgbClr val="D94E1F">
                  <a:alpha val="34000"/>
                </a:srgbClr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C4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566928"/>
            <a:ext cx="11057839" cy="45720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دعوت به سفر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987552"/>
            <a:ext cx="11057839" cy="7315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آماده‌اید؟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1883664"/>
            <a:ext cx="8716975" cy="146304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«ما سال‌ها هزینه کردیم تا افراد متخصص جذب کنیم.</a:t>
            </a:r>
          </a:p>
          <a:p>
            <a:pPr rtl="1"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حالا وقت آن است که اجازه دهیم</a:t>
            </a:r>
          </a:p>
          <a:p>
            <a:pPr rtl="1"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این متخصصان از هم یاد بگیرند.»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52331" y="3749039"/>
            <a:ext cx="2572435" cy="1115568"/>
          </a:xfrm>
          <a:prstGeom prst="roundRect">
            <a:avLst>
              <a:gd name="adj" fmla="val 10000"/>
            </a:avLst>
          </a:prstGeom>
          <a:solidFill>
            <a:srgbClr val="FFFFFF">
              <a:alpha val="13000"/>
            </a:srgbClr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98635" y="3749039"/>
            <a:ext cx="2279827" cy="111556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اولین جلسه رسمی</a:t>
            </a:r>
          </a:p>
          <a:p>
            <a:pPr rtl="1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[تاریخ]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23863" y="3749039"/>
            <a:ext cx="2572435" cy="1115568"/>
          </a:xfrm>
          <a:prstGeom prst="roundRect">
            <a:avLst>
              <a:gd name="adj" fmla="val 10000"/>
            </a:avLst>
          </a:prstGeom>
          <a:solidFill>
            <a:srgbClr val="FFFFFF">
              <a:alpha val="13000"/>
            </a:srgbClr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0167" y="3749039"/>
            <a:ext cx="2279827" cy="111556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ساعت</a:t>
            </a:r>
          </a:p>
          <a:p>
            <a:pPr rtl="1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[ساعت]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95395" y="3749039"/>
            <a:ext cx="2572435" cy="1115568"/>
          </a:xfrm>
          <a:prstGeom prst="roundRect">
            <a:avLst>
              <a:gd name="adj" fmla="val 10000"/>
            </a:avLst>
          </a:prstGeom>
          <a:solidFill>
            <a:srgbClr val="FFFFFF">
              <a:alpha val="13000"/>
            </a:srgbClr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41699" y="3749039"/>
            <a:ext cx="2279827" cy="111556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مکان</a:t>
            </a:r>
          </a:p>
          <a:p>
            <a:pPr rtl="1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[مکان]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749039"/>
            <a:ext cx="2572435" cy="1115568"/>
          </a:xfrm>
          <a:prstGeom prst="roundRect">
            <a:avLst>
              <a:gd name="adj" fmla="val 10000"/>
            </a:avLst>
          </a:prstGeom>
          <a:solidFill>
            <a:srgbClr val="FFFFFF">
              <a:alpha val="13000"/>
            </a:srgbClr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3749039"/>
            <a:ext cx="2279827" cy="111556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ظرفیت</a:t>
            </a:r>
          </a:p>
          <a:p>
            <a:pPr rtl="1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۱۲ نفر داوطلب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32807" y="5230368"/>
            <a:ext cx="2926080" cy="3175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5468112"/>
            <a:ext cx="11057839" cy="91440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بهترین زمان برای شروع، الان است.</a:t>
            </a:r>
          </a:p>
          <a:p>
            <a:pPr rtl="1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بهترین مکان، همین‌جاست.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