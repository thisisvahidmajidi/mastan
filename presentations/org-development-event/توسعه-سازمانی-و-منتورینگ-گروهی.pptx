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 rtl="1" algn="r"/>
            <a:r>
              <a:rPr sz="1300">
                <a:latin typeface="IRANSans"/>
              </a:rPr>
              <a:t>جمله شروع: «امروز دو کار می‌کنیم. اول می‌فهمیم سازمان ما کجای تاریخ</a:t>
            </a:r>
          </a:p>
          <a:p>
            <a:pPr rtl="1" algn="r"/>
            <a:r>
              <a:rPr sz="1300">
                <a:latin typeface="IRANSans"/>
              </a:rPr>
              <a:t>ایستاده، بعد یک ابزار مشخص برای حرکت به جلو تمرین می‌کنیم.»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 rtl="1" algn="r"/>
            <a:r>
              <a:rPr sz="1300">
                <a:latin typeface="IRANSans"/>
              </a:rPr>
              <a:t>تأکید کنید که بخش دوم عملی است، نه سخنرانی.</a:t>
            </a:r>
          </a:p>
          <a:p>
            <a:pPr rtl="1" algn="r"/>
            <a:r>
              <a:rPr sz="1300">
                <a:latin typeface="IRANSans"/>
              </a:rPr>
              <a:t>درخواست «یک چالش واقعی در ذهن نگه دارید» را همین‌جا مطرح کنید.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 rtl="1" algn="r"/>
            <a:r>
              <a:rPr sz="1300">
                <a:latin typeface="IRANSans"/>
              </a:rPr>
              <a:t>سه ثانیه سکوت، بعد اسلاید بعد.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 rtl="1" algn="r"/>
            <a:r>
              <a:rPr sz="1300">
                <a:latin typeface="IRANSans"/>
              </a:rPr>
              <a:t>این جمله از «ریوانز» است: وقتی نرخ یادگیری از نرخ تغییر کمتر شود، سازمان</a:t>
            </a:r>
          </a:p>
          <a:p>
            <a:pPr rtl="1" algn="r"/>
            <a:r>
              <a:rPr sz="1300">
                <a:latin typeface="IRANSans"/>
              </a:rPr>
              <a:t>رو به زوال می‌رود. یک مثال واقعی از صنعت خودمان بزنید.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 rtl="1" algn="r"/>
            <a:r>
              <a:rPr sz="1300">
                <a:latin typeface="IRANSans"/>
              </a:rPr>
              <a:t>تافلر در کتاب «موج سوم» (۱۹۸۰) این چارچوب را معرفی کرد.</a:t>
            </a:r>
          </a:p>
          <a:p>
            <a:pPr rtl="1" algn="r"/>
            <a:r>
              <a:rPr sz="1300">
                <a:latin typeface="IRANSans"/>
              </a:rPr>
              <a:t>تأکید: موج دوم بد نیست — برای زمان خودش درست بود. مسئله، ماندن در آن است.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 rtl="1" algn="r"/>
            <a:r>
              <a:rPr sz="1300">
                <a:latin typeface="IRANSans"/>
              </a:rPr>
              <a:t>این اسلاید ستون فقرات بخش اول است — روی آن وقت بگذارید.</a:t>
            </a:r>
          </a:p>
          <a:p>
            <a:pPr rtl="1" algn="r"/>
            <a:r>
              <a:rPr sz="1300">
                <a:latin typeface="IRANSans"/>
              </a:rPr>
              <a:t>پیام: ستون آبی (موج دوم) هنوز شیوه غالب مدیریت در سازمان‌های ماست،</a:t>
            </a:r>
          </a:p>
          <a:p>
            <a:pPr rtl="1" algn="r"/>
            <a:r>
              <a:rPr sz="1300">
                <a:latin typeface="IRANSans"/>
              </a:rPr>
              <a:t>در حالی که محیط کسب‌وکار وارد ستون نارنجی شده است.</a:t>
            </a:r>
          </a:p>
          <a:p>
            <a:pPr rtl="1" algn="r"/>
            <a:r>
              <a:rPr sz="1300">
                <a:latin typeface="IRANSans"/>
              </a:rPr>
              <a:t>از مخاطب بپرسید: «کدام ردیف‌ها را در سازمان خودمان می‌بینید؟»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 rtl="1" algn="r"/>
            <a:r>
              <a:rPr sz="1300">
                <a:latin typeface="IRANSans"/>
              </a:rPr>
              <a:t>این اسلاید را با احتیاط و بدون سرزنش ارائه کنید.</a:t>
            </a:r>
          </a:p>
          <a:p>
            <a:pPr rtl="1" algn="r"/>
            <a:r>
              <a:rPr sz="1300">
                <a:latin typeface="IRANSans"/>
              </a:rPr>
              <a:t>پیام: ما ضعیف نیستیم؛ ما در حال گذاریم و گذار، مدیریت می‌خواهد.</a:t>
            </a:r>
          </a:p>
          <a:p>
            <a:pPr rtl="1" algn="r"/>
            <a:r>
              <a:rPr sz="1300">
                <a:latin typeface="IRANSans"/>
              </a:rPr>
              <a:t>اگر داده واقعی از سازمان دارید، نوارها را با آن تنظیم کنید.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 rtl="1" algn="r"/>
            <a:r>
              <a:rPr sz="1300">
                <a:latin typeface="IRANSans"/>
              </a:rPr>
              <a:t>از مخاطب بپرسید کدام مورد را بیشتر می‌بینند و رأی‌گیری دستی کنید.</a:t>
            </a:r>
          </a:p>
          <a:p>
            <a:pPr rtl="1" algn="r"/>
            <a:r>
              <a:rPr sz="1300">
                <a:latin typeface="IRANSans"/>
              </a:rPr>
              <a:t>این مشارکت، مقاومت را کم می‌کند چون خودشان تشخیص را تأیید کرده‌اند.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 rtl="1" algn="r"/>
            <a:r>
              <a:rPr sz="1300">
                <a:latin typeface="IRANSans"/>
              </a:rPr>
              <a:t>ترتیب گام‌ها مهم است. اگر مدیری پرسید چرا از ساختار شروع نمی‌کنیم،</a:t>
            </a:r>
          </a:p>
          <a:p>
            <a:pPr rtl="1" algn="r"/>
            <a:r>
              <a:rPr sz="1300">
                <a:latin typeface="IRANSans"/>
              </a:rPr>
              <a:t>بگویید: ساختار جدید با رفتار قدیمی، همان سازمان قبلی است با نمودار نو.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 rtl="1" algn="r"/>
            <a:r>
              <a:rPr sz="1300">
                <a:latin typeface="IRANSans"/>
              </a:rPr>
              <a:t>این اسلاید پل بخش اول به بخش دوم است.</a:t>
            </a:r>
          </a:p>
          <a:p>
            <a:pPr rtl="1" algn="r"/>
            <a:r>
              <a:rPr sz="1300">
                <a:latin typeface="IRANSans"/>
              </a:rPr>
              <a:t>جمله انتقال: «حالا برویم سراغ ابزاری که این حلقه اول را می‌سازد.»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 rtl="1" algn="r"/>
            <a:r>
              <a:rPr sz="1300">
                <a:latin typeface="IRANSans"/>
              </a:rPr>
              <a:t>اینجا یک استراحت کوتاه بدهید و بعد بخش دوم را شروع کنید.</a:t>
            </a:r>
          </a:p>
          <a:p>
            <a:pPr rtl="1" algn="r"/>
            <a:r>
              <a:rPr sz="1300">
                <a:latin typeface="IRANSans"/>
              </a:rPr>
              <a:t>اگر جلسه فشرده است، مستقیم رد شوید ولی لحن را عوض کنید:</a:t>
            </a:r>
          </a:p>
          <a:p>
            <a:pPr rtl="1" algn="r"/>
            <a:r>
              <a:rPr sz="1300">
                <a:latin typeface="IRANSans"/>
              </a:rPr>
              <a:t>از تحلیل به عمل.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 rtl="1" algn="r"/>
            <a:r>
              <a:rPr sz="1300">
                <a:latin typeface="IRANSans"/>
              </a:rPr>
              <a:t>روی بخش ۵ مکث کنید: مخاطب باید بداند این سخنرانی نیست.</a:t>
            </a:r>
          </a:p>
          <a:p>
            <a:pPr rtl="1" algn="r"/>
            <a:r>
              <a:rPr sz="1300">
                <a:latin typeface="IRANSans"/>
              </a:rPr>
              <a:t>درخواست «یک چالش واقعی در ذهن نگه دارید» را آرام و جدی بگویید.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 rtl="1" algn="r"/>
            <a:r>
              <a:rPr sz="1300">
                <a:latin typeface="IRANSans"/>
              </a:rPr>
              <a:t>این اسلاید را سریع رد نکنید. سه ثانیه سکوت، بعد بروید به اسلاید بعد.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 rtl="1" algn="r"/>
            <a:r>
              <a:rPr sz="1300">
                <a:latin typeface="IRANSans"/>
              </a:rPr>
              <a:t>واقعاً ۶۰ ثانیه سکوت بدهید و از سه چهار نفر بپرسید.</a:t>
            </a:r>
          </a:p>
          <a:p>
            <a:pPr rtl="1" algn="r"/>
            <a:r>
              <a:rPr sz="1300">
                <a:latin typeface="IRANSans"/>
              </a:rPr>
              <a:t>وقتی همه یک اسم گفتند: «توجه کردید؟ هیچ‌کس اسم یک دوره را نبرد.»</a:t>
            </a:r>
          </a:p>
          <a:p>
            <a:pPr rtl="1" algn="r"/>
            <a:r>
              <a:rPr sz="1300">
                <a:latin typeface="IRANSans"/>
              </a:rPr>
              <a:t>این جواب، کل استدلال ارائه را می‌سازد.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 rtl="1" algn="r"/>
            <a:r>
              <a:rPr sz="1300">
                <a:latin typeface="IRANSans"/>
              </a:rPr>
              <a:t>اینجا حتماً یک مثال واقعی از سازمان خودتان بزنید، بدون بردن نام کسی.</a:t>
            </a:r>
          </a:p>
          <a:p>
            <a:pPr rtl="1" algn="r"/>
            <a:r>
              <a:rPr sz="1300">
                <a:latin typeface="IRANSans"/>
              </a:rPr>
              <a:t>یک مثال واقعی از هر چهار مورد این فهرست مؤثرتر است.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 rtl="1" algn="r"/>
            <a:r>
              <a:rPr sz="1300">
                <a:latin typeface="IRANSans"/>
              </a:rPr>
              <a:t>این اسلاید پشتوانه علمی طرح است، مخصوصاً برای مدیران.</a:t>
            </a:r>
          </a:p>
          <a:p>
            <a:pPr rtl="1" algn="r"/>
            <a:r>
              <a:rPr sz="1300">
                <a:latin typeface="IRANSans"/>
              </a:rPr>
              <a:t>اگر عدد واقعی بودجه سازمان را دارید، جایگزین کنید.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 rtl="1" algn="r"/>
            <a:r>
              <a:rPr sz="1300">
                <a:latin typeface="IRANSans"/>
              </a:rPr>
              <a:t>از اینجا لحن عوض می‌شود: از مسئله به راه‌حل.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 rtl="1" algn="r"/>
            <a:r>
              <a:rPr sz="1300">
                <a:latin typeface="IRANSans"/>
              </a:rPr>
              <a:t>«پرسش، نه نسخه‌پیچی» را دو بار تکرار کنید — کل تفاوت روش همین است.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 rtl="1" algn="r"/>
            <a:r>
              <a:rPr sz="1300">
                <a:latin typeface="IRANSans"/>
              </a:rPr>
              <a:t>ستون «نیست» مهم‌تر از «هست» است. بیشترین مقاومت از همین سوءتفاهم‌ها می‌آید.</a:t>
            </a:r>
          </a:p>
          <a:p>
            <a:pPr rtl="1" algn="r"/>
            <a:r>
              <a:rPr sz="1300">
                <a:latin typeface="IRANSans"/>
              </a:rPr>
              <a:t>روی «هیچ صورت‌جلسه‌ای به بالا نمی‌رود» مکث کنید و در چشم افراد نگاه کنید.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 rtl="1" algn="r"/>
            <a:r>
              <a:rPr sz="1300">
                <a:latin typeface="IRANSans"/>
              </a:rPr>
              <a:t>تسهیل‌گری چرخشی است — این طرح مالِ یک نفر نیست، مالِ گروه است.</a:t>
            </a:r>
          </a:p>
          <a:p>
            <a:pPr rtl="1" algn="r"/>
            <a:r>
              <a:rPr sz="1300">
                <a:latin typeface="IRANSans"/>
              </a:rPr>
              <a:t>اگر پرسیدند «مدیر هم هست؟» بگویید بله، ولی به‌عنوان عضو گروه همتا.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 rtl="1" algn="r"/>
            <a:r>
              <a:rPr sz="1300">
                <a:latin typeface="IRANSans"/>
              </a:rPr>
              <a:t>از اینجا وارد جزئیات عملی می‌شویم.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 rtl="1" algn="r"/>
            <a:r>
              <a:rPr sz="1300">
                <a:latin typeface="IRANSans"/>
              </a:rPr>
              <a:t>بخش «فقط سؤال» بیشترین مقاومت را دارد.</a:t>
            </a:r>
          </a:p>
          <a:p>
            <a:pPr rtl="1" algn="r"/>
            <a:r>
              <a:rPr sz="1300">
                <a:latin typeface="IRANSans"/>
              </a:rPr>
              <a:t>بگویید: «می‌دانم سخت است. اسلاید بعد نشان می‌دهم چرا ارزشش را دارد.»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 rtl="1" algn="r"/>
            <a:r>
              <a:rPr sz="1300">
                <a:latin typeface="IRANSans"/>
              </a:rPr>
              <a:t>مهم‌ترین اسلاید ارائه. آرام بخوانید، بعد از هر جفت مکث کوتاه کنید.</a:t>
            </a:r>
          </a:p>
          <a:p>
            <a:pPr rtl="1" algn="r"/>
            <a:r>
              <a:rPr sz="1300">
                <a:latin typeface="IRANSans"/>
              </a:rPr>
              <a:t>از گروه بخواهید یک نمونه دیگر بسازند — اگر توانستند، روش را گرفته‌اند.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 rtl="1" algn="r"/>
            <a:r>
              <a:rPr sz="1300">
                <a:latin typeface="IRANSans"/>
              </a:rPr>
              <a:t>این قواعد را نخوانید — از گروه بخواهید بلند بخوانند و تأیید کنند.</a:t>
            </a:r>
          </a:p>
          <a:p>
            <a:pPr rtl="1" algn="r"/>
            <a:r>
              <a:rPr sz="1300">
                <a:latin typeface="IRANSans"/>
              </a:rPr>
              <a:t>روی یک برگه بزرگ بنویسید و هر جلسه روی دیوار بزنید.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 rtl="1" algn="r"/>
            <a:r>
              <a:rPr sz="1300">
                <a:latin typeface="IRANSans"/>
              </a:rPr>
              <a:t>جمله «بدون توضیح می‌توانید کنار بکشید» را حتماً بگویید.</a:t>
            </a:r>
          </a:p>
          <a:p>
            <a:pPr rtl="1" algn="r"/>
            <a:r>
              <a:rPr sz="1300">
                <a:latin typeface="IRANSans"/>
              </a:rPr>
              <a:t>داوطلبانه بودن شرط کارکردن این روش است، نه یک تعارف.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 rtl="1" algn="r"/>
            <a:r>
              <a:rPr sz="1300">
                <a:latin typeface="IRANSans"/>
              </a:rPr>
              <a:t>لحن اینجا امیدوارانه می‌شود. سرعت را کمی بالا ببرید.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 rtl="1" algn="r"/>
            <a:r>
              <a:rPr sz="1300">
                <a:latin typeface="IRANSans"/>
              </a:rPr>
              <a:t>اگر مخاطب بیشتر کارشناس است، ستون راست را کامل بخوانید و چپ را سریع رد شوید.</a:t>
            </a:r>
          </a:p>
          <a:p>
            <a:pPr rtl="1" algn="r"/>
            <a:r>
              <a:rPr sz="1300">
                <a:latin typeface="IRANSans"/>
              </a:rPr>
              <a:t>اگر مدیران حاضرند، برعکس.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 rtl="1" algn="r"/>
            <a:r>
              <a:rPr sz="1300">
                <a:latin typeface="IRANSans"/>
              </a:rPr>
              <a:t>اینجا انرژی جلسه باید بالا برود. بلند شوید و راه بروید.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 rtl="1" algn="r"/>
            <a:r>
              <a:rPr sz="1300">
                <a:latin typeface="IRANSans"/>
              </a:rPr>
              <a:t>مهم‌ترین ۳۰ دقیقه امروز. تایمر بگذارید و سفت نگه دارید.</a:t>
            </a:r>
          </a:p>
          <a:p>
            <a:pPr rtl="1" algn="r"/>
            <a:r>
              <a:rPr sz="1300">
                <a:latin typeface="IRANSans"/>
              </a:rPr>
              <a:t>اگر کسی در «فقط سؤال» راه‌حل داد، با لبخند وسط حرفش بروید:</a:t>
            </a:r>
          </a:p>
          <a:p>
            <a:pPr rtl="1" algn="r"/>
            <a:r>
              <a:rPr sz="1300">
                <a:latin typeface="IRANSans"/>
              </a:rPr>
              <a:t>«این را نگه دار برای ده دقیقه بعد.»</a:t>
            </a:r>
          </a:p>
          <a:p>
            <a:pPr rtl="1" algn="r"/>
            <a:r>
              <a:rPr sz="1300">
                <a:latin typeface="IRANSans"/>
              </a:rPr>
              <a:t>اگر داوطلب پیدا نشد، خودتان یک چالش واقعی بیاورید.</a:t>
            </a:r>
          </a:p>
          <a:p>
            <a:pPr rtl="1" algn="r"/>
            <a:r>
              <a:rPr sz="1300">
                <a:latin typeface="IRANSans"/>
              </a:rPr>
              <a:t>در پایان از صاحب چالش بپرسید: «الان چیزی می‌دانی که نیم‌ساعت پیش نمی‌دانستی؟»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 rtl="1" algn="r"/>
            <a:r>
              <a:rPr sz="1300">
                <a:latin typeface="IRANSans"/>
              </a:rPr>
              <a:t>نگویید «سؤالی نیست؟». بگویید «چه کسی می‌خواهد نفر اول باشد؟» و</a:t>
            </a:r>
          </a:p>
          <a:p>
            <a:pPr rtl="1" algn="r"/>
            <a:r>
              <a:rPr sz="1300">
                <a:latin typeface="IRANSans"/>
              </a:rPr>
              <a:t>خودتان دستتان را بالا ببرید تا اولین داوطلب راحت‌تر بلند شود.</a:t>
            </a:r>
          </a:p>
          <a:p>
            <a:pPr rtl="1" algn="r"/>
            <a:r>
              <a:rPr sz="1300">
                <a:latin typeface="IRANSans"/>
              </a:rPr>
              <a:t>برگه ثبت‌نام را همان لحظه دست به دست کنید — نه ایمیل، نه فردا.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Relationship Id="rId3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Relationship Id="rId3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jpg"/><Relationship Id="rId3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jpg"/><Relationship Id="rId3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jpg"/><Relationship Id="rId3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jpg"/><Relationship Id="rId3" Type="http://schemas.openxmlformats.org/officeDocument/2006/relationships/image" Target="../media/image16.jpg"/><Relationship Id="rId4" Type="http://schemas.openxmlformats.org/officeDocument/2006/relationships/image" Target="../media/image9.jpg"/><Relationship Id="rId5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jpg"/><Relationship Id="rId3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jpg"/><Relationship Id="rId3" Type="http://schemas.openxmlformats.org/officeDocument/2006/relationships/notesSlide" Target="../notesSlides/notesSlide3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over-wave.jpg"/>
          <p:cNvPicPr>
            <a:picLocks noChangeAspect="1"/>
          </p:cNvPicPr>
          <p:nvPr/>
        </p:nvPicPr>
        <p:blipFill>
          <a:blip r:embed="rId2"/>
          <a:srcRect t="7811" b="781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0E2C40">
                  <a:alpha val="6000"/>
                </a:srgbClr>
              </a:gs>
              <a:gs pos="100000">
                <a:srgbClr val="0E2C40">
                  <a:alpha val="95000"/>
                </a:srgbClr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2C40">
              <a:alpha val="2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344607" y="1481328"/>
            <a:ext cx="1280160" cy="63500"/>
          </a:xfrm>
          <a:prstGeom prst="rect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315407" y="1755648"/>
            <a:ext cx="6309360" cy="3200400"/>
          </a:xfrm>
          <a:prstGeom prst="rect">
            <a:avLst/>
          </a:prstGeom>
          <a:noFill/>
        </p:spPr>
        <p:txBody>
          <a:bodyPr wrap="square" lIns="36576" rIns="36576" tIns="0" bIns="0" anchor="t">
            <a:spAutoFit/>
          </a:bodyPr>
          <a:lstStyle/>
          <a:p>
            <a:pPr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62B6CB"/>
                </a:solidFill>
                <a:latin typeface="IRANSans"/>
                <a:cs typeface="IRANSans"/>
                <a:ea typeface="IRANSans"/>
              </a:rPr>
              <a:t>جلسه توسعه فردی و سازمانی</a:t>
            </a:r>
          </a:p>
          <a:p>
            <a:pPr rtl="1" algn="r">
              <a:lnSpc>
                <a:spcPct val="122000"/>
              </a:lnSpc>
              <a:spcBef>
                <a:spcPts val="1400"/>
              </a:spcBef>
              <a:spcAft>
                <a:spcPts val="0"/>
              </a:spcAft>
            </a:pPr>
            <a:r>
              <a:rPr sz="4500" b="1">
                <a:solidFill>
                  <a:srgbClr val="FFFFFF"/>
                </a:solidFill>
                <a:latin typeface="IRANSans"/>
                <a:cs typeface="IRANSans"/>
                <a:ea typeface="IRANSans"/>
              </a:rPr>
              <a:t>موج بعدی را</a:t>
            </a:r>
          </a:p>
          <a:p>
            <a:pPr rtl="1" algn="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4500" b="1">
                <a:solidFill>
                  <a:srgbClr val="FFFFFF"/>
                </a:solidFill>
                <a:latin typeface="IRANSans"/>
                <a:cs typeface="IRANSans"/>
                <a:ea typeface="IRANSans"/>
              </a:rPr>
              <a:t>چه کسی </a:t>
            </a:r>
            <a:r>
              <a:rPr sz="4500" b="1">
                <a:solidFill>
                  <a:srgbClr val="FF6B35"/>
                </a:solidFill>
                <a:latin typeface="IRANSans"/>
                <a:cs typeface="IRANSans"/>
                <a:ea typeface="IRANSans"/>
              </a:rPr>
              <a:t>می‌سازد؟</a:t>
            </a:r>
          </a:p>
          <a:p>
            <a:pPr rtl="1" algn="r">
              <a:lnSpc>
                <a:spcPct val="130000"/>
              </a:lnSpc>
              <a:spcBef>
                <a:spcPts val="1800"/>
              </a:spcBef>
              <a:spcAft>
                <a:spcPts val="0"/>
              </a:spcAft>
            </a:pPr>
            <a:r>
              <a:rPr sz="1900" b="0">
                <a:solidFill>
                  <a:srgbClr val="ECF3F7"/>
                </a:solidFill>
                <a:latin typeface="IRANSans"/>
                <a:cs typeface="IRANSans"/>
                <a:ea typeface="IRANSans"/>
              </a:rPr>
              <a:t>از موج دوم تا سازمان یادگیرنده — و نقطه شروع ما</a:t>
            </a:r>
          </a:p>
        </p:txBody>
      </p:sp>
      <p:sp>
        <p:nvSpPr>
          <p:cNvPr id="7" name="Rectangle 6"/>
          <p:cNvSpPr/>
          <p:nvPr/>
        </p:nvSpPr>
        <p:spPr>
          <a:xfrm>
            <a:off x="8698687" y="5047488"/>
            <a:ext cx="2926080" cy="15875"/>
          </a:xfrm>
          <a:prstGeom prst="rect">
            <a:avLst/>
          </a:prstGeom>
          <a:solidFill>
            <a:srgbClr val="62B6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315407" y="5230368"/>
            <a:ext cx="6309360" cy="566928"/>
          </a:xfrm>
          <a:prstGeom prst="rect">
            <a:avLst/>
          </a:prstGeom>
          <a:noFill/>
        </p:spPr>
        <p:txBody>
          <a:bodyPr wrap="square" lIns="36576" rIns="36576" tIns="0" bIns="0" anchor="t">
            <a:spAutoFit/>
          </a:bodyPr>
          <a:lstStyle/>
          <a:p>
            <a:pPr rtl="1"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50" b="0">
                <a:solidFill>
                  <a:srgbClr val="62B6CB"/>
                </a:solidFill>
                <a:latin typeface="IRANSans"/>
                <a:cs typeface="IRANSans"/>
                <a:ea typeface="IRANSans"/>
              </a:rPr>
              <a:t>تهیه و تنظیم:  </a:t>
            </a:r>
            <a:r>
              <a:rPr sz="1900" b="1">
                <a:solidFill>
                  <a:srgbClr val="FFFFFF"/>
                </a:solidFill>
                <a:latin typeface="IRANSans"/>
                <a:cs typeface="IRANSans"/>
                <a:ea typeface="IRANSans"/>
              </a:rPr>
              <a:t>وحید مجیدی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15407" y="5760720"/>
            <a:ext cx="6309360" cy="365760"/>
          </a:xfrm>
          <a:prstGeom prst="rect">
            <a:avLst/>
          </a:prstGeom>
          <a:noFill/>
        </p:spPr>
        <p:txBody>
          <a:bodyPr wrap="square" lIns="36576" rIns="36576" tIns="0" bIns="0" anchor="t">
            <a:spAutoFit/>
          </a:bodyPr>
          <a:lstStyle/>
          <a:p>
            <a:pPr rtl="1"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62B6CB"/>
                </a:solidFill>
                <a:latin typeface="IRANSans"/>
                <a:cs typeface="IRANSans"/>
                <a:ea typeface="IRANSans"/>
              </a:rPr>
              <a:t>تاریخ:  </a:t>
            </a:r>
            <a:r>
              <a:rPr sz="1400" b="1">
                <a:solidFill>
                  <a:srgbClr val="FFFFFF"/>
                </a:solidFill>
                <a:latin typeface="IRANSans"/>
                <a:cs typeface="IRANSans"/>
                <a:ea typeface="IRANSans"/>
              </a:rPr>
              <a:t>[تاریخ]</a:t>
            </a:r>
            <a:r>
              <a:rPr sz="1400" b="0">
                <a:solidFill>
                  <a:srgbClr val="62B6CB"/>
                </a:solidFill>
                <a:latin typeface="IRANSans"/>
                <a:cs typeface="IRANSans"/>
                <a:ea typeface="IRANSans"/>
              </a:rPr>
              <a:t>        </a:t>
            </a:r>
            <a:r>
              <a:rPr sz="1400" b="0">
                <a:solidFill>
                  <a:srgbClr val="62B6CB"/>
                </a:solidFill>
                <a:latin typeface="IRANSans"/>
                <a:cs typeface="IRANSans"/>
                <a:ea typeface="IRANSans"/>
              </a:rPr>
              <a:t>[نام واحد / سازمان]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229039" y="6181344"/>
            <a:ext cx="2395728" cy="420624"/>
          </a:xfrm>
          <a:prstGeom prst="roundRect">
            <a:avLst>
              <a:gd name="adj" fmla="val 22000"/>
            </a:avLst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229039" y="6181344"/>
            <a:ext cx="2395728" cy="420624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pPr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IRANSans"/>
                <a:cs typeface="IRANSans"/>
                <a:ea typeface="IRANSans"/>
              </a:rPr>
              <a:t>www.coachroom.ir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1057839" cy="310896"/>
          </a:xfrm>
          <a:prstGeom prst="rect">
            <a:avLst/>
          </a:prstGeom>
          <a:noFill/>
        </p:spPr>
        <p:txBody>
          <a:bodyPr wrap="square" lIns="36576" rIns="36576" tIns="0" bIns="0" anchor="t">
            <a:spAutoFit/>
          </a:bodyPr>
          <a:lstStyle/>
          <a:p>
            <a:pPr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>
                <a:solidFill>
                  <a:srgbClr val="FF6B35"/>
                </a:solidFill>
                <a:latin typeface="IRANSans"/>
                <a:cs typeface="IRANSans"/>
                <a:ea typeface="IRANSans"/>
              </a:rPr>
              <a:t>دو بخش، یک هدف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21792"/>
            <a:ext cx="11057839" cy="640080"/>
          </a:xfrm>
          <a:prstGeom prst="rect">
            <a:avLst/>
          </a:prstGeom>
          <a:noFill/>
        </p:spPr>
        <p:txBody>
          <a:bodyPr wrap="square" lIns="36576" rIns="36576" tIns="0" bIns="0" anchor="t">
            <a:spAutoFit/>
          </a:bodyPr>
          <a:lstStyle/>
          <a:p>
            <a:pPr rtl="1"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100" b="1">
                <a:solidFill>
                  <a:srgbClr val="1B4965"/>
                </a:solidFill>
                <a:latin typeface="IRANSans"/>
                <a:cs typeface="IRANSans"/>
                <a:ea typeface="IRANSans"/>
              </a:rPr>
              <a:t>مسیر امروز</a:t>
            </a:r>
          </a:p>
        </p:txBody>
      </p:sp>
      <p:sp>
        <p:nvSpPr>
          <p:cNvPr id="5" name="Rectangle 4"/>
          <p:cNvSpPr/>
          <p:nvPr/>
        </p:nvSpPr>
        <p:spPr>
          <a:xfrm>
            <a:off x="10527487" y="1243584"/>
            <a:ext cx="1097280" cy="57150"/>
          </a:xfrm>
          <a:prstGeom prst="rect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287871" y="1572768"/>
            <a:ext cx="5336895" cy="306324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2700">
            <a:solidFill>
              <a:srgbClr val="D8E2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287871" y="1572768"/>
            <a:ext cx="5336895" cy="786384"/>
          </a:xfrm>
          <a:prstGeom prst="roundRect">
            <a:avLst>
              <a:gd name="adj" fmla="val 10000"/>
            </a:avLst>
          </a:prstGeom>
          <a:solidFill>
            <a:srgbClr val="1B49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287871" y="2212848"/>
            <a:ext cx="5336895" cy="146304"/>
          </a:xfrm>
          <a:prstGeom prst="rect">
            <a:avLst/>
          </a:prstGeom>
          <a:solidFill>
            <a:srgbClr val="1B49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62191" y="1627632"/>
            <a:ext cx="4788255" cy="676656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pPr rtl="1"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FFFFFF"/>
                </a:solidFill>
                <a:latin typeface="IRANSans"/>
                <a:cs typeface="IRANSans"/>
                <a:ea typeface="IRANSans"/>
              </a:rPr>
              <a:t>بخش اول  ·  </a:t>
            </a:r>
            <a:r>
              <a:rPr sz="2100" b="1">
                <a:solidFill>
                  <a:srgbClr val="FFFFFF"/>
                </a:solidFill>
                <a:latin typeface="IRANSans"/>
                <a:cs typeface="IRANSans"/>
                <a:ea typeface="IRANSans"/>
              </a:rPr>
              <a:t>چرا باید تغییر کنیم؟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62191" y="2578608"/>
            <a:ext cx="4788255" cy="566928"/>
          </a:xfrm>
          <a:prstGeom prst="rect">
            <a:avLst/>
          </a:prstGeom>
          <a:noFill/>
        </p:spPr>
        <p:txBody>
          <a:bodyPr wrap="square" lIns="36576" rIns="36576" tIns="0" bIns="0" anchor="t">
            <a:spAutoFit/>
          </a:bodyPr>
          <a:lstStyle/>
          <a:p>
            <a:pPr rtl="1"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B4965"/>
                </a:solidFill>
                <a:latin typeface="IRANSans"/>
                <a:cs typeface="IRANSans"/>
                <a:ea typeface="IRANSans"/>
              </a:rPr>
              <a:t>◂  </a:t>
            </a:r>
            <a:r>
              <a:rPr sz="1650" b="0">
                <a:solidFill>
                  <a:srgbClr val="1F2D38"/>
                </a:solidFill>
                <a:latin typeface="IRANSans"/>
                <a:cs typeface="IRANSans"/>
                <a:ea typeface="IRANSans"/>
              </a:rPr>
              <a:t>سه موج تمدنی و مکاتب مدیریتی هر موج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62191" y="3182112"/>
            <a:ext cx="4788255" cy="566928"/>
          </a:xfrm>
          <a:prstGeom prst="rect">
            <a:avLst/>
          </a:prstGeom>
          <a:noFill/>
        </p:spPr>
        <p:txBody>
          <a:bodyPr wrap="square" lIns="36576" rIns="36576" tIns="0" bIns="0" anchor="t">
            <a:spAutoFit/>
          </a:bodyPr>
          <a:lstStyle/>
          <a:p>
            <a:pPr rtl="1"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B4965"/>
                </a:solidFill>
                <a:latin typeface="IRANSans"/>
                <a:cs typeface="IRANSans"/>
                <a:ea typeface="IRANSans"/>
              </a:rPr>
              <a:t>◂  </a:t>
            </a:r>
            <a:r>
              <a:rPr sz="1650" b="0">
                <a:solidFill>
                  <a:srgbClr val="1F2D38"/>
                </a:solidFill>
                <a:latin typeface="IRANSans"/>
                <a:cs typeface="IRANSans"/>
                <a:ea typeface="IRANSans"/>
              </a:rPr>
              <a:t>سازمان ما دقیقاً کجای این نقشه است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3785616"/>
            <a:ext cx="4788255" cy="566928"/>
          </a:xfrm>
          <a:prstGeom prst="rect">
            <a:avLst/>
          </a:prstGeom>
          <a:noFill/>
        </p:spPr>
        <p:txBody>
          <a:bodyPr wrap="square" lIns="36576" rIns="36576" tIns="0" bIns="0" anchor="t">
            <a:spAutoFit/>
          </a:bodyPr>
          <a:lstStyle/>
          <a:p>
            <a:pPr rtl="1"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B4965"/>
                </a:solidFill>
                <a:latin typeface="IRANSans"/>
                <a:cs typeface="IRANSans"/>
                <a:ea typeface="IRANSans"/>
              </a:rPr>
              <a:t>◂  </a:t>
            </a:r>
            <a:r>
              <a:rPr sz="1650" b="0">
                <a:solidFill>
                  <a:srgbClr val="1F2D38"/>
                </a:solidFill>
                <a:latin typeface="IRANSans"/>
                <a:cs typeface="IRANSans"/>
                <a:ea typeface="IRANSans"/>
              </a:rPr>
              <a:t>مسیر گذار به موج بالاتر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562191" y="3977640"/>
            <a:ext cx="1371600" cy="402336"/>
          </a:xfrm>
          <a:prstGeom prst="roundRect">
            <a:avLst>
              <a:gd name="adj" fmla="val 24000"/>
            </a:avLst>
          </a:prstGeom>
          <a:solidFill>
            <a:srgbClr val="1B49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IRANSans"/>
                <a:cs typeface="IRANSans"/>
                <a:ea typeface="IRANSans"/>
              </a:rPr>
              <a:t>۳۰ دقیقه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1572768"/>
            <a:ext cx="5336895" cy="306324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2700">
            <a:solidFill>
              <a:srgbClr val="D8E2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66928" y="1572768"/>
            <a:ext cx="5336895" cy="786384"/>
          </a:xfrm>
          <a:prstGeom prst="roundRect">
            <a:avLst>
              <a:gd name="adj" fmla="val 10000"/>
            </a:avLst>
          </a:prstGeom>
          <a:solidFill>
            <a:srgbClr val="D94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66928" y="2212848"/>
            <a:ext cx="5336895" cy="146304"/>
          </a:xfrm>
          <a:prstGeom prst="rect">
            <a:avLst/>
          </a:prstGeom>
          <a:solidFill>
            <a:srgbClr val="D94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1248" y="1627632"/>
            <a:ext cx="4788255" cy="676656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pPr rtl="1"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FFFFFF"/>
                </a:solidFill>
                <a:latin typeface="IRANSans"/>
                <a:cs typeface="IRANSans"/>
                <a:ea typeface="IRANSans"/>
              </a:rPr>
              <a:t>بخش دوم  ·  </a:t>
            </a:r>
            <a:r>
              <a:rPr sz="2100" b="1">
                <a:solidFill>
                  <a:srgbClr val="FFFFFF"/>
                </a:solidFill>
                <a:latin typeface="IRANSans"/>
                <a:cs typeface="IRANSans"/>
                <a:ea typeface="IRANSans"/>
              </a:rPr>
              <a:t>از کجا شروع کنیم؟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1248" y="2578608"/>
            <a:ext cx="4788255" cy="566928"/>
          </a:xfrm>
          <a:prstGeom prst="rect">
            <a:avLst/>
          </a:prstGeom>
          <a:noFill/>
        </p:spPr>
        <p:txBody>
          <a:bodyPr wrap="square" lIns="36576" rIns="36576" tIns="0" bIns="0" anchor="t">
            <a:spAutoFit/>
          </a:bodyPr>
          <a:lstStyle/>
          <a:p>
            <a:pPr rtl="1"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D94E1F"/>
                </a:solidFill>
                <a:latin typeface="IRANSans"/>
                <a:cs typeface="IRANSans"/>
                <a:ea typeface="IRANSans"/>
              </a:rPr>
              <a:t>◂  </a:t>
            </a:r>
            <a:r>
              <a:rPr sz="1650" b="0">
                <a:solidFill>
                  <a:srgbClr val="1F2D38"/>
                </a:solidFill>
                <a:latin typeface="IRANSans"/>
                <a:cs typeface="IRANSans"/>
                <a:ea typeface="IRANSans"/>
              </a:rPr>
              <a:t>منتورینگ گروهی: چیستی، چرایی، نحوه اجرا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1248" y="3182112"/>
            <a:ext cx="4788255" cy="566928"/>
          </a:xfrm>
          <a:prstGeom prst="rect">
            <a:avLst/>
          </a:prstGeom>
          <a:noFill/>
        </p:spPr>
        <p:txBody>
          <a:bodyPr wrap="square" lIns="36576" rIns="36576" tIns="0" bIns="0" anchor="t">
            <a:spAutoFit/>
          </a:bodyPr>
          <a:lstStyle/>
          <a:p>
            <a:pPr rtl="1"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D94E1F"/>
                </a:solidFill>
                <a:latin typeface="IRANSans"/>
                <a:cs typeface="IRANSans"/>
                <a:ea typeface="IRANSans"/>
              </a:rPr>
              <a:t>◂  </a:t>
            </a:r>
            <a:r>
              <a:rPr sz="1650" b="0">
                <a:solidFill>
                  <a:srgbClr val="1F2D38"/>
                </a:solidFill>
                <a:latin typeface="IRANSans"/>
                <a:cs typeface="IRANSans"/>
                <a:ea typeface="IRANSans"/>
              </a:rPr>
              <a:t>قواعد فضای امن و مهارت پرسیدن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1248" y="3785616"/>
            <a:ext cx="4788255" cy="566928"/>
          </a:xfrm>
          <a:prstGeom prst="rect">
            <a:avLst/>
          </a:prstGeom>
          <a:noFill/>
        </p:spPr>
        <p:txBody>
          <a:bodyPr wrap="square" lIns="36576" rIns="36576" tIns="0" bIns="0" anchor="t">
            <a:spAutoFit/>
          </a:bodyPr>
          <a:lstStyle/>
          <a:p>
            <a:pPr rtl="1"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D94E1F"/>
                </a:solidFill>
                <a:latin typeface="IRANSans"/>
                <a:cs typeface="IRANSans"/>
                <a:ea typeface="IRANSans"/>
              </a:rPr>
              <a:t>◂  </a:t>
            </a:r>
            <a:r>
              <a:rPr sz="1650" b="0">
                <a:solidFill>
                  <a:srgbClr val="1F2D38"/>
                </a:solidFill>
                <a:latin typeface="IRANSans"/>
                <a:cs typeface="IRANSans"/>
                <a:ea typeface="IRANSans"/>
              </a:rPr>
              <a:t>یک دور تمرین واقعی، همین امروز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41248" y="3977640"/>
            <a:ext cx="1371600" cy="402336"/>
          </a:xfrm>
          <a:prstGeom prst="roundRect">
            <a:avLst>
              <a:gd name="adj" fmla="val 24000"/>
            </a:avLst>
          </a:prstGeom>
          <a:solidFill>
            <a:srgbClr val="D94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IRANSans"/>
                <a:cs typeface="IRANSans"/>
                <a:ea typeface="IRANSans"/>
              </a:rPr>
              <a:t>۹۰ دقیقه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66928" y="4901184"/>
            <a:ext cx="11057839" cy="786384"/>
          </a:xfrm>
          <a:prstGeom prst="roundRect">
            <a:avLst>
              <a:gd name="adj" fmla="val 10000"/>
            </a:avLst>
          </a:prstGeom>
          <a:solidFill>
            <a:srgbClr val="1B49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11542471" y="4901184"/>
            <a:ext cx="82296" cy="786384"/>
          </a:xfrm>
          <a:prstGeom prst="rect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77824" y="4901184"/>
            <a:ext cx="10436047" cy="786384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pPr rtl="1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FF6B35"/>
                </a:solidFill>
                <a:latin typeface="IRANSans"/>
                <a:cs typeface="IRANSans"/>
                <a:ea typeface="IRANSans"/>
              </a:rPr>
              <a:t>پیوند دو بخش:  </a:t>
            </a:r>
            <a:r>
              <a:rPr sz="2000" b="0">
                <a:solidFill>
                  <a:srgbClr val="FFFFFF"/>
                </a:solidFill>
                <a:latin typeface="IRANSans"/>
                <a:cs typeface="IRANSans"/>
                <a:ea typeface="IRANSans"/>
              </a:rPr>
              <a:t>سازمان وقتی به موج بالاتر می‌رود که آدم‌هایش یاد بگیرند از هم یاد بگیرند.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66928" y="5815584"/>
            <a:ext cx="11057839" cy="457200"/>
          </a:xfrm>
          <a:prstGeom prst="rect">
            <a:avLst/>
          </a:prstGeom>
          <a:noFill/>
        </p:spPr>
        <p:txBody>
          <a:bodyPr wrap="square" lIns="36576" rIns="36576" tIns="0" bIns="0" anchor="t">
            <a:spAutoFit/>
          </a:bodyPr>
          <a:lstStyle/>
          <a:p>
            <a:pPr rtl="1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B4965"/>
                </a:solidFill>
                <a:latin typeface="IRANSans"/>
                <a:cs typeface="IRANSans"/>
                <a:ea typeface="IRANSans"/>
              </a:rPr>
              <a:t>یک چالش کاری واقعی و حل‌نشده را از همین حالا در ذهنتان نگه دارید — در بخش دوم به آن برمی‌گردیم.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66928" y="6382512"/>
            <a:ext cx="3657600" cy="274320"/>
          </a:xfrm>
          <a:prstGeom prst="rect">
            <a:avLst/>
          </a:prstGeom>
          <a:noFill/>
        </p:spPr>
        <p:txBody>
          <a:bodyPr wrap="square" lIns="36576" rIns="36576" tIns="0" bIns="0" anchor="t">
            <a:spAutoFit/>
          </a:bodyPr>
          <a:lstStyle/>
          <a:p>
            <a:pPr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5A6B77"/>
                </a:solidFill>
                <a:latin typeface="IRANSans"/>
                <a:cs typeface="IRANSans"/>
                <a:ea typeface="IRANSans"/>
              </a:rPr>
              <a:t>توسعه سازمانی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161727" y="6382512"/>
            <a:ext cx="1463040" cy="274320"/>
          </a:xfrm>
          <a:prstGeom prst="rect">
            <a:avLst/>
          </a:prstGeom>
          <a:noFill/>
        </p:spPr>
        <p:txBody>
          <a:bodyPr wrap="square" lIns="36576" rIns="36576" tIns="0" bIns="0" anchor="t">
            <a:spAutoFit/>
          </a:bodyPr>
          <a:lstStyle/>
          <a:p>
            <a:pPr rt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5A6B77"/>
                </a:solidFill>
                <a:latin typeface="IRANSans"/>
                <a:cs typeface="IRANSans"/>
                <a:ea typeface="IRANSans"/>
              </a:rPr>
              <a:t>۲ / ۳۰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ersonal-growth.jpg"/>
          <p:cNvPicPr>
            <a:picLocks noChangeAspect="1"/>
          </p:cNvPicPr>
          <p:nvPr/>
        </p:nvPicPr>
        <p:blipFill>
          <a:blip r:embed="rId2"/>
          <a:srcRect t="7811" b="781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0E2C40">
                  <a:alpha val="10000"/>
                </a:srgbClr>
              </a:gs>
              <a:gs pos="100000">
                <a:srgbClr val="0E2C40">
                  <a:alpha val="94000"/>
                </a:srgbClr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2C40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864047" y="1993392"/>
            <a:ext cx="5760720" cy="566928"/>
          </a:xfrm>
          <a:prstGeom prst="rect">
            <a:avLst/>
          </a:prstGeom>
          <a:noFill/>
        </p:spPr>
        <p:txBody>
          <a:bodyPr wrap="square" lIns="36576" rIns="36576" tIns="0" bIns="0" anchor="t">
            <a:spAutoFit/>
          </a:bodyPr>
          <a:lstStyle/>
          <a:p>
            <a:pPr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FF6B35"/>
                </a:solidFill>
                <a:latin typeface="IRANSans"/>
                <a:cs typeface="IRANSans"/>
                <a:ea typeface="IRANSans"/>
              </a:rPr>
              <a:t>بخش اول</a:t>
            </a:r>
          </a:p>
        </p:txBody>
      </p:sp>
      <p:sp>
        <p:nvSpPr>
          <p:cNvPr id="6" name="Rectangle 5"/>
          <p:cNvSpPr/>
          <p:nvPr/>
        </p:nvSpPr>
        <p:spPr>
          <a:xfrm>
            <a:off x="10436047" y="2615184"/>
            <a:ext cx="1188720" cy="57150"/>
          </a:xfrm>
          <a:prstGeom prst="rect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864047" y="2852928"/>
            <a:ext cx="5760720" cy="1737360"/>
          </a:xfrm>
          <a:prstGeom prst="rect">
            <a:avLst/>
          </a:prstGeom>
          <a:noFill/>
        </p:spPr>
        <p:txBody>
          <a:bodyPr wrap="square" lIns="36576" rIns="36576" tIns="0" bIns="0" anchor="t">
            <a:spAutoFit/>
          </a:bodyPr>
          <a:lstStyle/>
          <a:p>
            <a:pPr rtl="1" algn="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4400" b="1">
                <a:solidFill>
                  <a:srgbClr val="FFFFFF"/>
                </a:solidFill>
                <a:latin typeface="IRANSans"/>
                <a:cs typeface="IRANSans"/>
                <a:ea typeface="IRANSans"/>
              </a:rPr>
              <a:t>چرا باید</a:t>
            </a:r>
          </a:p>
          <a:p>
            <a:pPr rtl="1" algn="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4400" b="1">
                <a:solidFill>
                  <a:srgbClr val="FFFFFF"/>
                </a:solidFill>
                <a:latin typeface="IRANSans"/>
                <a:cs typeface="IRANSans"/>
                <a:ea typeface="IRANSans"/>
              </a:rPr>
              <a:t>تغییر کنیم؟</a:t>
            </a:r>
          </a:p>
          <a:p>
            <a:pPr rtl="1" algn="r">
              <a:lnSpc>
                <a:spcPct val="130000"/>
              </a:lnSpc>
              <a:spcBef>
                <a:spcPts val="1400"/>
              </a:spcBef>
              <a:spcAft>
                <a:spcPts val="0"/>
              </a:spcAft>
            </a:pPr>
            <a:r>
              <a:rPr sz="1900" b="0">
                <a:solidFill>
                  <a:srgbClr val="ECF3F7"/>
                </a:solidFill>
                <a:latin typeface="IRANSans"/>
                <a:cs typeface="IRANSans"/>
                <a:ea typeface="IRANSans"/>
              </a:rPr>
              <a:t>سرعت تغییر بیرون، از سرعت یادگیری ما بیشتر شده است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0E2C40"/>
              </a:gs>
              <a:gs pos="100000">
                <a:srgbClr val="1B4965"/>
              </a:gs>
            </a:gsLst>
            <a:lin scaled="0" ang="27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786384"/>
            <a:ext cx="11057839" cy="384048"/>
          </a:xfrm>
          <a:prstGeom prst="rect">
            <a:avLst/>
          </a:prstGeom>
          <a:noFill/>
        </p:spPr>
        <p:txBody>
          <a:bodyPr wrap="square" lIns="36576" rIns="36576" tIns="0" bIns="0" anchor="t">
            <a:spAutoFit/>
          </a:bodyPr>
          <a:lstStyle/>
          <a:p>
            <a:pPr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6B35"/>
                </a:solidFill>
                <a:latin typeface="IRANSans"/>
                <a:cs typeface="IRANSans"/>
                <a:ea typeface="IRANSans"/>
              </a:rPr>
              <a:t>یک قانون ساده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298448"/>
            <a:ext cx="10362895" cy="1554480"/>
          </a:xfrm>
          <a:prstGeom prst="rect">
            <a:avLst/>
          </a:prstGeom>
          <a:noFill/>
        </p:spPr>
        <p:txBody>
          <a:bodyPr wrap="square" lIns="36576" rIns="36576" tIns="0" bIns="0" anchor="t">
            <a:spAutoFit/>
          </a:bodyPr>
          <a:lstStyle/>
          <a:p>
            <a:pPr rtl="1" algn="ctr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3100" b="1">
                <a:solidFill>
                  <a:srgbClr val="FFFFFF"/>
                </a:solidFill>
                <a:latin typeface="IRANSans"/>
                <a:cs typeface="IRANSans"/>
                <a:ea typeface="IRANSans"/>
              </a:rPr>
              <a:t>هر سازمانی که سرعت یادگیری‌اش</a:t>
            </a:r>
          </a:p>
          <a:p>
            <a:pPr rtl="1" algn="ctr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3100" b="1">
                <a:solidFill>
                  <a:srgbClr val="FF6B35"/>
                </a:solidFill>
                <a:latin typeface="IRANSans"/>
                <a:cs typeface="IRANSans"/>
                <a:ea typeface="IRANSans"/>
              </a:rPr>
              <a:t>کمتر از سرعت تغییر محیط</a:t>
            </a:r>
            <a:r>
              <a:rPr sz="3100" b="1">
                <a:solidFill>
                  <a:srgbClr val="FFFFFF"/>
                </a:solidFill>
                <a:latin typeface="IRANSans"/>
                <a:cs typeface="IRANSans"/>
                <a:ea typeface="IRANSans"/>
              </a:rPr>
              <a:t> باشد،</a:t>
            </a:r>
          </a:p>
          <a:p>
            <a:pPr rtl="1" algn="ctr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3100" b="1">
                <a:solidFill>
                  <a:srgbClr val="FFFFFF"/>
                </a:solidFill>
                <a:latin typeface="IRANSans"/>
                <a:cs typeface="IRANSans"/>
                <a:ea typeface="IRANSans"/>
              </a:rPr>
              <a:t>دیر یا زود حذف می‌شود.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87871" y="3145536"/>
            <a:ext cx="5336895" cy="2212848"/>
          </a:xfrm>
          <a:prstGeom prst="roundRect">
            <a:avLst>
              <a:gd name="adj" fmla="val 10000"/>
            </a:avLst>
          </a:prstGeom>
          <a:solidFill>
            <a:srgbClr val="FFFFFF">
              <a:alpha val="10000"/>
            </a:srgbClr>
          </a:solidFill>
          <a:ln w="19050">
            <a:solidFill>
              <a:srgbClr val="FF6B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43903" y="3291840"/>
            <a:ext cx="4824831" cy="457200"/>
          </a:xfrm>
          <a:prstGeom prst="rect">
            <a:avLst/>
          </a:prstGeom>
          <a:noFill/>
        </p:spPr>
        <p:txBody>
          <a:bodyPr wrap="square" lIns="36576" rIns="36576" tIns="0" bIns="0" anchor="t">
            <a:spAutoFit/>
          </a:bodyPr>
          <a:lstStyle/>
          <a:p>
            <a:pPr rtl="1"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>
                <a:solidFill>
                  <a:srgbClr val="FF6B35"/>
                </a:solidFill>
                <a:latin typeface="IRANSans"/>
                <a:cs typeface="IRANSans"/>
                <a:ea typeface="IRANSans"/>
              </a:rPr>
              <a:t>تغییر محیط</a:t>
            </a:r>
            <a:r>
              <a:rPr sz="1500" b="1">
                <a:solidFill>
                  <a:srgbClr val="FFFFFF"/>
                </a:solidFill>
                <a:latin typeface="IRANSans"/>
                <a:cs typeface="IRANSans"/>
                <a:ea typeface="IRANSans"/>
              </a:rPr>
              <a:t>     سریع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62191" y="3858768"/>
            <a:ext cx="4788255" cy="365760"/>
          </a:xfrm>
          <a:prstGeom prst="rect">
            <a:avLst/>
          </a:prstGeom>
          <a:noFill/>
        </p:spPr>
        <p:txBody>
          <a:bodyPr wrap="square" lIns="36576" rIns="36576" tIns="0" bIns="0" anchor="t">
            <a:spAutoFit/>
          </a:bodyPr>
          <a:lstStyle/>
          <a:p>
            <a:pPr rtl="1"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6B35"/>
                </a:solidFill>
                <a:latin typeface="IRANSans"/>
                <a:cs typeface="IRANSans"/>
                <a:ea typeface="IRANSans"/>
              </a:rPr>
              <a:t>◂  </a:t>
            </a:r>
            <a:r>
              <a:rPr sz="1600" b="0">
                <a:solidFill>
                  <a:srgbClr val="FFFFFF"/>
                </a:solidFill>
                <a:latin typeface="IRANSans"/>
                <a:cs typeface="IRANSans"/>
                <a:ea typeface="IRANSans"/>
              </a:rPr>
              <a:t>فناوری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62191" y="4224528"/>
            <a:ext cx="4788255" cy="365760"/>
          </a:xfrm>
          <a:prstGeom prst="rect">
            <a:avLst/>
          </a:prstGeom>
          <a:noFill/>
        </p:spPr>
        <p:txBody>
          <a:bodyPr wrap="square" lIns="36576" rIns="36576" tIns="0" bIns="0" anchor="t">
            <a:spAutoFit/>
          </a:bodyPr>
          <a:lstStyle/>
          <a:p>
            <a:pPr rtl="1"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6B35"/>
                </a:solidFill>
                <a:latin typeface="IRANSans"/>
                <a:cs typeface="IRANSans"/>
                <a:ea typeface="IRANSans"/>
              </a:rPr>
              <a:t>◂  </a:t>
            </a:r>
            <a:r>
              <a:rPr sz="1600" b="0">
                <a:solidFill>
                  <a:srgbClr val="FFFFFF"/>
                </a:solidFill>
                <a:latin typeface="IRANSans"/>
                <a:cs typeface="IRANSans"/>
                <a:ea typeface="IRANSans"/>
              </a:rPr>
              <a:t>انتظار ذی‌نفعان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62191" y="4590288"/>
            <a:ext cx="4788255" cy="365760"/>
          </a:xfrm>
          <a:prstGeom prst="rect">
            <a:avLst/>
          </a:prstGeom>
          <a:noFill/>
        </p:spPr>
        <p:txBody>
          <a:bodyPr wrap="square" lIns="36576" rIns="36576" tIns="0" bIns="0" anchor="t">
            <a:spAutoFit/>
          </a:bodyPr>
          <a:lstStyle/>
          <a:p>
            <a:pPr rtl="1"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6B35"/>
                </a:solidFill>
                <a:latin typeface="IRANSans"/>
                <a:cs typeface="IRANSans"/>
                <a:ea typeface="IRANSans"/>
              </a:rPr>
              <a:t>◂  </a:t>
            </a:r>
            <a:r>
              <a:rPr sz="1600" b="0">
                <a:solidFill>
                  <a:srgbClr val="FFFFFF"/>
                </a:solidFill>
                <a:latin typeface="IRANSans"/>
                <a:cs typeface="IRANSans"/>
                <a:ea typeface="IRANSans"/>
              </a:rPr>
              <a:t>قواعد بازار انرژی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62191" y="4956048"/>
            <a:ext cx="4788255" cy="365760"/>
          </a:xfrm>
          <a:prstGeom prst="rect">
            <a:avLst/>
          </a:prstGeom>
          <a:noFill/>
        </p:spPr>
        <p:txBody>
          <a:bodyPr wrap="square" lIns="36576" rIns="36576" tIns="0" bIns="0" anchor="t">
            <a:spAutoFit/>
          </a:bodyPr>
          <a:lstStyle/>
          <a:p>
            <a:pPr rtl="1"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6B35"/>
                </a:solidFill>
                <a:latin typeface="IRANSans"/>
                <a:cs typeface="IRANSans"/>
                <a:ea typeface="IRANSans"/>
              </a:rPr>
              <a:t>◂  </a:t>
            </a:r>
            <a:r>
              <a:rPr sz="1600" b="0">
                <a:solidFill>
                  <a:srgbClr val="FFFFFF"/>
                </a:solidFill>
                <a:latin typeface="IRANSans"/>
                <a:cs typeface="IRANSans"/>
                <a:ea typeface="IRANSans"/>
              </a:rPr>
              <a:t>نسل جدید نیروی کار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3145536"/>
            <a:ext cx="5336895" cy="2212848"/>
          </a:xfrm>
          <a:prstGeom prst="roundRect">
            <a:avLst>
              <a:gd name="adj" fmla="val 10000"/>
            </a:avLst>
          </a:prstGeom>
          <a:solidFill>
            <a:srgbClr val="FFFFFF">
              <a:alpha val="10000"/>
            </a:srgbClr>
          </a:solidFill>
          <a:ln w="19050">
            <a:solidFill>
              <a:srgbClr val="62B6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3291840"/>
            <a:ext cx="4824831" cy="457200"/>
          </a:xfrm>
          <a:prstGeom prst="rect">
            <a:avLst/>
          </a:prstGeom>
          <a:noFill/>
        </p:spPr>
        <p:txBody>
          <a:bodyPr wrap="square" lIns="36576" rIns="36576" tIns="0" bIns="0" anchor="t">
            <a:spAutoFit/>
          </a:bodyPr>
          <a:lstStyle/>
          <a:p>
            <a:pPr rtl="1"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>
                <a:solidFill>
                  <a:srgbClr val="62B6CB"/>
                </a:solidFill>
                <a:latin typeface="IRANSans"/>
                <a:cs typeface="IRANSans"/>
                <a:ea typeface="IRANSans"/>
              </a:rPr>
              <a:t>یادگیری ما</a:t>
            </a:r>
            <a:r>
              <a:rPr sz="1500" b="1">
                <a:solidFill>
                  <a:srgbClr val="FFFFFF"/>
                </a:solidFill>
                <a:latin typeface="IRANSans"/>
                <a:cs typeface="IRANSans"/>
                <a:ea typeface="IRANSans"/>
              </a:rPr>
              <a:t>     کند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8" y="3858768"/>
            <a:ext cx="4788255" cy="365760"/>
          </a:xfrm>
          <a:prstGeom prst="rect">
            <a:avLst/>
          </a:prstGeom>
          <a:noFill/>
        </p:spPr>
        <p:txBody>
          <a:bodyPr wrap="square" lIns="36576" rIns="36576" tIns="0" bIns="0" anchor="t">
            <a:spAutoFit/>
          </a:bodyPr>
          <a:lstStyle/>
          <a:p>
            <a:pPr rtl="1"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62B6CB"/>
                </a:solidFill>
                <a:latin typeface="IRANSans"/>
                <a:cs typeface="IRANSans"/>
                <a:ea typeface="IRANSans"/>
              </a:rPr>
              <a:t>◂  </a:t>
            </a:r>
            <a:r>
              <a:rPr sz="1600" b="0">
                <a:solidFill>
                  <a:srgbClr val="FFFFFF"/>
                </a:solidFill>
                <a:latin typeface="IRANSans"/>
                <a:cs typeface="IRANSans"/>
                <a:ea typeface="IRANSans"/>
              </a:rPr>
              <a:t>دوره‌های پراکنده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1248" y="4224528"/>
            <a:ext cx="4788255" cy="365760"/>
          </a:xfrm>
          <a:prstGeom prst="rect">
            <a:avLst/>
          </a:prstGeom>
          <a:noFill/>
        </p:spPr>
        <p:txBody>
          <a:bodyPr wrap="square" lIns="36576" rIns="36576" tIns="0" bIns="0" anchor="t">
            <a:spAutoFit/>
          </a:bodyPr>
          <a:lstStyle/>
          <a:p>
            <a:pPr rtl="1"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62B6CB"/>
                </a:solidFill>
                <a:latin typeface="IRANSans"/>
                <a:cs typeface="IRANSans"/>
                <a:ea typeface="IRANSans"/>
              </a:rPr>
              <a:t>◂  </a:t>
            </a:r>
            <a:r>
              <a:rPr sz="1600" b="0">
                <a:solidFill>
                  <a:srgbClr val="FFFFFF"/>
                </a:solidFill>
                <a:latin typeface="IRANSans"/>
                <a:cs typeface="IRANSans"/>
                <a:ea typeface="IRANSans"/>
              </a:rPr>
              <a:t>تجربه‌های ثبت‌نشده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8" y="4590288"/>
            <a:ext cx="4788255" cy="365760"/>
          </a:xfrm>
          <a:prstGeom prst="rect">
            <a:avLst/>
          </a:prstGeom>
          <a:noFill/>
        </p:spPr>
        <p:txBody>
          <a:bodyPr wrap="square" lIns="36576" rIns="36576" tIns="0" bIns="0" anchor="t">
            <a:spAutoFit/>
          </a:bodyPr>
          <a:lstStyle/>
          <a:p>
            <a:pPr rtl="1"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62B6CB"/>
                </a:solidFill>
                <a:latin typeface="IRANSans"/>
                <a:cs typeface="IRANSans"/>
                <a:ea typeface="IRANSans"/>
              </a:rPr>
              <a:t>◂  </a:t>
            </a:r>
            <a:r>
              <a:rPr sz="1600" b="0">
                <a:solidFill>
                  <a:srgbClr val="FFFFFF"/>
                </a:solidFill>
                <a:latin typeface="IRANSans"/>
                <a:cs typeface="IRANSans"/>
                <a:ea typeface="IRANSans"/>
              </a:rPr>
              <a:t>دانش در سیلوها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248" y="4956048"/>
            <a:ext cx="4788255" cy="365760"/>
          </a:xfrm>
          <a:prstGeom prst="rect">
            <a:avLst/>
          </a:prstGeom>
          <a:noFill/>
        </p:spPr>
        <p:txBody>
          <a:bodyPr wrap="square" lIns="36576" rIns="36576" tIns="0" bIns="0" anchor="t">
            <a:spAutoFit/>
          </a:bodyPr>
          <a:lstStyle/>
          <a:p>
            <a:pPr rtl="1"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62B6CB"/>
                </a:solidFill>
                <a:latin typeface="IRANSans"/>
                <a:cs typeface="IRANSans"/>
                <a:ea typeface="IRANSans"/>
              </a:rPr>
              <a:t>◂  </a:t>
            </a:r>
            <a:r>
              <a:rPr sz="1600" b="0">
                <a:solidFill>
                  <a:srgbClr val="FFFFFF"/>
                </a:solidFill>
                <a:latin typeface="IRANSans"/>
                <a:cs typeface="IRANSans"/>
                <a:ea typeface="IRANSans"/>
              </a:rPr>
              <a:t>آموزش به‌جای انتقال تجربه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" y="5596128"/>
            <a:ext cx="11057839" cy="566928"/>
          </a:xfrm>
          <a:prstGeom prst="rect">
            <a:avLst/>
          </a:prstGeom>
          <a:noFill/>
        </p:spPr>
        <p:txBody>
          <a:bodyPr wrap="square" lIns="36576" rIns="36576" tIns="0" bIns="0" anchor="t">
            <a:spAutoFit/>
          </a:bodyPr>
          <a:lstStyle/>
          <a:p>
            <a:pPr rtl="1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ECF3F7"/>
                </a:solidFill>
                <a:latin typeface="IRANSans"/>
                <a:cs typeface="IRANSans"/>
                <a:ea typeface="IRANSans"/>
              </a:rPr>
              <a:t>این فاصله، </a:t>
            </a:r>
            <a:r>
              <a:rPr sz="2000" b="1">
                <a:solidFill>
                  <a:srgbClr val="FF6B35"/>
                </a:solidFill>
                <a:latin typeface="IRANSans"/>
                <a:cs typeface="IRANSans"/>
                <a:ea typeface="IRANSans"/>
              </a:rPr>
              <a:t>همان شکاف توسعه</a:t>
            </a:r>
            <a:r>
              <a:rPr sz="1900" b="0">
                <a:solidFill>
                  <a:srgbClr val="ECF3F7"/>
                </a:solidFill>
                <a:latin typeface="IRANSans"/>
                <a:cs typeface="IRANSans"/>
                <a:ea typeface="IRANSans"/>
              </a:rPr>
              <a:t> است — و بستنش از توسعه فردی شروع می‌شود.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1057839" cy="310896"/>
          </a:xfrm>
          <a:prstGeom prst="rect">
            <a:avLst/>
          </a:prstGeom>
          <a:noFill/>
        </p:spPr>
        <p:txBody>
          <a:bodyPr wrap="square" lIns="36576" rIns="36576" tIns="0" bIns="0" anchor="t">
            <a:spAutoFit/>
          </a:bodyPr>
          <a:lstStyle/>
          <a:p>
            <a:pPr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>
                <a:solidFill>
                  <a:srgbClr val="FF6B35"/>
                </a:solidFill>
                <a:latin typeface="IRANSans"/>
                <a:cs typeface="IRANSans"/>
                <a:ea typeface="IRANSans"/>
              </a:rPr>
              <a:t>آلوین تافلر، ۱۹۸۰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21792"/>
            <a:ext cx="11057839" cy="640080"/>
          </a:xfrm>
          <a:prstGeom prst="rect">
            <a:avLst/>
          </a:prstGeom>
          <a:noFill/>
        </p:spPr>
        <p:txBody>
          <a:bodyPr wrap="square" lIns="36576" rIns="36576" tIns="0" bIns="0" anchor="t">
            <a:spAutoFit/>
          </a:bodyPr>
          <a:lstStyle/>
          <a:p>
            <a:pPr rtl="1"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100" b="1">
                <a:solidFill>
                  <a:srgbClr val="1B4965"/>
                </a:solidFill>
                <a:latin typeface="IRANSans"/>
                <a:cs typeface="IRANSans"/>
                <a:ea typeface="IRANSans"/>
              </a:rPr>
              <a:t>سه موجی که تمدن را ساخته‌اند</a:t>
            </a:r>
          </a:p>
        </p:txBody>
      </p:sp>
      <p:sp>
        <p:nvSpPr>
          <p:cNvPr id="5" name="Rectangle 4"/>
          <p:cNvSpPr/>
          <p:nvPr/>
        </p:nvSpPr>
        <p:spPr>
          <a:xfrm>
            <a:off x="10527487" y="1243584"/>
            <a:ext cx="1097280" cy="57150"/>
          </a:xfrm>
          <a:prstGeom prst="rect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121700" y="1517904"/>
            <a:ext cx="3503066" cy="3127248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2700">
            <a:solidFill>
              <a:srgbClr val="D8E2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21700" y="1517904"/>
            <a:ext cx="3503066" cy="969264"/>
          </a:xfrm>
          <a:prstGeom prst="roundRect">
            <a:avLst>
              <a:gd name="adj" fmla="val 10000"/>
            </a:avLst>
          </a:prstGeom>
          <a:solidFill>
            <a:srgbClr val="1E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121700" y="2340864"/>
            <a:ext cx="3503066" cy="146304"/>
          </a:xfrm>
          <a:prstGeom prst="rect">
            <a:avLst/>
          </a:prstGeom>
          <a:solidFill>
            <a:srgbClr val="1E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86292" y="1591056"/>
            <a:ext cx="3173882" cy="841248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pPr rtl="1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FFFFFF"/>
                </a:solidFill>
                <a:latin typeface="IRANSans"/>
                <a:cs typeface="IRANSans"/>
                <a:ea typeface="IRANSans"/>
              </a:rPr>
              <a:t>موج اول  ·  </a:t>
            </a:r>
            <a:r>
              <a:rPr sz="2200" b="1">
                <a:solidFill>
                  <a:srgbClr val="FFFFFF"/>
                </a:solidFill>
                <a:latin typeface="IRANSans"/>
                <a:cs typeface="IRANSans"/>
                <a:ea typeface="IRANSans"/>
              </a:rPr>
              <a:t>کشاورزی</a:t>
            </a:r>
          </a:p>
          <a:p>
            <a:pPr rtl="1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FFFFFF"/>
                </a:solidFill>
                <a:latin typeface="IRANSans"/>
                <a:cs typeface="IRANSans"/>
                <a:ea typeface="IRANSans"/>
              </a:rPr>
              <a:t>۸۰۰۰ ق.م تا ۱۷۵۰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164573" y="2651760"/>
            <a:ext cx="1417320" cy="457200"/>
          </a:xfrm>
          <a:prstGeom prst="roundRect">
            <a:avLst>
              <a:gd name="adj" fmla="val 24000"/>
            </a:avLst>
          </a:prstGeom>
          <a:solidFill>
            <a:srgbClr val="E8F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E8E5A"/>
                </a:solidFill>
                <a:latin typeface="IRANSans"/>
                <a:cs typeface="IRANSans"/>
                <a:ea typeface="IRANSans"/>
              </a:rPr>
              <a:t>موتور: زمین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22868" y="3273552"/>
            <a:ext cx="3100730" cy="420624"/>
          </a:xfrm>
          <a:prstGeom prst="rect">
            <a:avLst/>
          </a:prstGeom>
          <a:noFill/>
        </p:spPr>
        <p:txBody>
          <a:bodyPr wrap="square" lIns="36576" rIns="36576" tIns="0" bIns="0" anchor="t">
            <a:spAutoFit/>
          </a:bodyPr>
          <a:lstStyle/>
          <a:p>
            <a:pPr rtl="1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>
                <a:solidFill>
                  <a:srgbClr val="1F2D38"/>
                </a:solidFill>
                <a:latin typeface="IRANSans"/>
                <a:cs typeface="IRANSans"/>
                <a:ea typeface="IRANSans"/>
              </a:rPr>
              <a:t>نیروی کار: عضله انسان و دام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22868" y="3712464"/>
            <a:ext cx="3100730" cy="420624"/>
          </a:xfrm>
          <a:prstGeom prst="rect">
            <a:avLst/>
          </a:prstGeom>
          <a:noFill/>
        </p:spPr>
        <p:txBody>
          <a:bodyPr wrap="square" lIns="36576" rIns="36576" tIns="0" bIns="0" anchor="t">
            <a:spAutoFit/>
          </a:bodyPr>
          <a:lstStyle/>
          <a:p>
            <a:pPr rtl="1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>
                <a:solidFill>
                  <a:srgbClr val="1F2D38"/>
                </a:solidFill>
                <a:latin typeface="IRANSans"/>
                <a:cs typeface="IRANSans"/>
                <a:ea typeface="IRANSans"/>
              </a:rPr>
              <a:t>واحد کار: خانواده و روستا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22868" y="4151376"/>
            <a:ext cx="3100730" cy="420624"/>
          </a:xfrm>
          <a:prstGeom prst="rect">
            <a:avLst/>
          </a:prstGeom>
          <a:noFill/>
        </p:spPr>
        <p:txBody>
          <a:bodyPr wrap="square" lIns="36576" rIns="36576" tIns="0" bIns="0" anchor="t">
            <a:spAutoFit/>
          </a:bodyPr>
          <a:lstStyle/>
          <a:p>
            <a:pPr rtl="1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>
                <a:solidFill>
                  <a:srgbClr val="1F2D38"/>
                </a:solidFill>
                <a:latin typeface="IRANSans"/>
                <a:cs typeface="IRANSans"/>
                <a:ea typeface="IRANSans"/>
              </a:rPr>
              <a:t>دانش: سینه‌به‌سینه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44314" y="1517904"/>
            <a:ext cx="3503066" cy="3127248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2700">
            <a:solidFill>
              <a:srgbClr val="D8E2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4344314" y="1517904"/>
            <a:ext cx="3503066" cy="969264"/>
          </a:xfrm>
          <a:prstGeom prst="roundRect">
            <a:avLst>
              <a:gd name="adj" fmla="val 10000"/>
            </a:avLst>
          </a:prstGeom>
          <a:solidFill>
            <a:srgbClr val="2A6F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344314" y="2340864"/>
            <a:ext cx="3503066" cy="146304"/>
          </a:xfrm>
          <a:prstGeom prst="rect">
            <a:avLst/>
          </a:prstGeom>
          <a:solidFill>
            <a:srgbClr val="2A6F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08906" y="1591056"/>
            <a:ext cx="3173882" cy="841248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pPr rtl="1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FFFFFF"/>
                </a:solidFill>
                <a:latin typeface="IRANSans"/>
                <a:cs typeface="IRANSans"/>
                <a:ea typeface="IRANSans"/>
              </a:rPr>
              <a:t>موج دوم  ·  </a:t>
            </a:r>
            <a:r>
              <a:rPr sz="2200" b="1">
                <a:solidFill>
                  <a:srgbClr val="FFFFFF"/>
                </a:solidFill>
                <a:latin typeface="IRANSans"/>
                <a:cs typeface="IRANSans"/>
                <a:ea typeface="IRANSans"/>
              </a:rPr>
              <a:t>صنعتی</a:t>
            </a:r>
          </a:p>
          <a:p>
            <a:pPr rtl="1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FFFFFF"/>
                </a:solidFill>
                <a:latin typeface="IRANSans"/>
                <a:cs typeface="IRANSans"/>
                <a:ea typeface="IRANSans"/>
              </a:rPr>
              <a:t>۱۷۵۰ تا ۱۹۵۰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387187" y="2651760"/>
            <a:ext cx="1417320" cy="457200"/>
          </a:xfrm>
          <a:prstGeom prst="roundRect">
            <a:avLst>
              <a:gd name="adj" fmla="val 24000"/>
            </a:avLst>
          </a:prstGeom>
          <a:solidFill>
            <a:srgbClr val="ECF3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2A6F97"/>
                </a:solidFill>
                <a:latin typeface="IRANSans"/>
                <a:cs typeface="IRANSans"/>
                <a:ea typeface="IRANSans"/>
              </a:rPr>
              <a:t>موتور: ماشین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45482" y="3273552"/>
            <a:ext cx="3100730" cy="420624"/>
          </a:xfrm>
          <a:prstGeom prst="rect">
            <a:avLst/>
          </a:prstGeom>
          <a:noFill/>
        </p:spPr>
        <p:txBody>
          <a:bodyPr wrap="square" lIns="36576" rIns="36576" tIns="0" bIns="0" anchor="t">
            <a:spAutoFit/>
          </a:bodyPr>
          <a:lstStyle/>
          <a:p>
            <a:pPr rtl="1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>
                <a:solidFill>
                  <a:srgbClr val="1F2D38"/>
                </a:solidFill>
                <a:latin typeface="IRANSans"/>
                <a:cs typeface="IRANSans"/>
                <a:ea typeface="IRANSans"/>
              </a:rPr>
              <a:t>نیروی کار: کارگر متخصص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45482" y="3712464"/>
            <a:ext cx="3100730" cy="420624"/>
          </a:xfrm>
          <a:prstGeom prst="rect">
            <a:avLst/>
          </a:prstGeom>
          <a:noFill/>
        </p:spPr>
        <p:txBody>
          <a:bodyPr wrap="square" lIns="36576" rIns="36576" tIns="0" bIns="0" anchor="t">
            <a:spAutoFit/>
          </a:bodyPr>
          <a:lstStyle/>
          <a:p>
            <a:pPr rtl="1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>
                <a:solidFill>
                  <a:srgbClr val="1F2D38"/>
                </a:solidFill>
                <a:latin typeface="IRANSans"/>
                <a:cs typeface="IRANSans"/>
                <a:ea typeface="IRANSans"/>
              </a:rPr>
              <a:t>واحد کار: کارخانه و سلسله‌مراتب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45482" y="4151376"/>
            <a:ext cx="3100730" cy="420624"/>
          </a:xfrm>
          <a:prstGeom prst="rect">
            <a:avLst/>
          </a:prstGeom>
          <a:noFill/>
        </p:spPr>
        <p:txBody>
          <a:bodyPr wrap="square" lIns="36576" rIns="36576" tIns="0" bIns="0" anchor="t">
            <a:spAutoFit/>
          </a:bodyPr>
          <a:lstStyle/>
          <a:p>
            <a:pPr rtl="1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>
                <a:solidFill>
                  <a:srgbClr val="1F2D38"/>
                </a:solidFill>
                <a:latin typeface="IRANSans"/>
                <a:cs typeface="IRANSans"/>
                <a:ea typeface="IRANSans"/>
              </a:rPr>
              <a:t>دانش: در دستورالعمل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66927" y="1517904"/>
            <a:ext cx="3503066" cy="3127248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2700">
            <a:solidFill>
              <a:srgbClr val="D8E2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566927" y="1517904"/>
            <a:ext cx="3503066" cy="969264"/>
          </a:xfrm>
          <a:prstGeom prst="roundRect">
            <a:avLst>
              <a:gd name="adj" fmla="val 10000"/>
            </a:avLst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66927" y="2340864"/>
            <a:ext cx="3503066" cy="146304"/>
          </a:xfrm>
          <a:prstGeom prst="rect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31519" y="1591056"/>
            <a:ext cx="3173882" cy="841248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pPr rtl="1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FFFFFF"/>
                </a:solidFill>
                <a:latin typeface="IRANSans"/>
                <a:cs typeface="IRANSans"/>
                <a:ea typeface="IRANSans"/>
              </a:rPr>
              <a:t>موج سوم  ·  </a:t>
            </a:r>
            <a:r>
              <a:rPr sz="2200" b="1">
                <a:solidFill>
                  <a:srgbClr val="FFFFFF"/>
                </a:solidFill>
                <a:latin typeface="IRANSans"/>
                <a:cs typeface="IRANSans"/>
                <a:ea typeface="IRANSans"/>
              </a:rPr>
              <a:t>دانش</a:t>
            </a:r>
          </a:p>
          <a:p>
            <a:pPr rtl="1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FFFFFF"/>
                </a:solidFill>
                <a:latin typeface="IRANSans"/>
                <a:cs typeface="IRANSans"/>
                <a:ea typeface="IRANSans"/>
              </a:rPr>
              <a:t>۱۹۵۰ تا امروز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609801" y="2651760"/>
            <a:ext cx="1417320" cy="457200"/>
          </a:xfrm>
          <a:prstGeom prst="roundRect">
            <a:avLst>
              <a:gd name="adj" fmla="val 24000"/>
            </a:avLst>
          </a:prstGeom>
          <a:solidFill>
            <a:srgbClr val="FFF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FF6B35"/>
                </a:solidFill>
                <a:latin typeface="IRANSans"/>
                <a:cs typeface="IRANSans"/>
                <a:ea typeface="IRANSans"/>
              </a:rPr>
              <a:t>موتور: مغز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68095" y="3273552"/>
            <a:ext cx="3100730" cy="420624"/>
          </a:xfrm>
          <a:prstGeom prst="rect">
            <a:avLst/>
          </a:prstGeom>
          <a:noFill/>
        </p:spPr>
        <p:txBody>
          <a:bodyPr wrap="square" lIns="36576" rIns="36576" tIns="0" bIns="0" anchor="t">
            <a:spAutoFit/>
          </a:bodyPr>
          <a:lstStyle/>
          <a:p>
            <a:pPr rtl="1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>
                <a:solidFill>
                  <a:srgbClr val="1F2D38"/>
                </a:solidFill>
                <a:latin typeface="IRANSans"/>
                <a:cs typeface="IRANSans"/>
                <a:ea typeface="IRANSans"/>
              </a:rPr>
              <a:t>نیروی کار: کارکن دانشی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68095" y="3712464"/>
            <a:ext cx="3100730" cy="420624"/>
          </a:xfrm>
          <a:prstGeom prst="rect">
            <a:avLst/>
          </a:prstGeom>
          <a:noFill/>
        </p:spPr>
        <p:txBody>
          <a:bodyPr wrap="square" lIns="36576" rIns="36576" tIns="0" bIns="0" anchor="t">
            <a:spAutoFit/>
          </a:bodyPr>
          <a:lstStyle/>
          <a:p>
            <a:pPr rtl="1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>
                <a:solidFill>
                  <a:srgbClr val="1F2D38"/>
                </a:solidFill>
                <a:latin typeface="IRANSans"/>
                <a:cs typeface="IRANSans"/>
                <a:ea typeface="IRANSans"/>
              </a:rPr>
              <a:t>واحد کار: تیم و شبکه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68095" y="4151376"/>
            <a:ext cx="3100730" cy="420624"/>
          </a:xfrm>
          <a:prstGeom prst="rect">
            <a:avLst/>
          </a:prstGeom>
          <a:noFill/>
        </p:spPr>
        <p:txBody>
          <a:bodyPr wrap="square" lIns="36576" rIns="36576" tIns="0" bIns="0" anchor="t">
            <a:spAutoFit/>
          </a:bodyPr>
          <a:lstStyle/>
          <a:p>
            <a:pPr rtl="1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>
                <a:solidFill>
                  <a:srgbClr val="1F2D38"/>
                </a:solidFill>
                <a:latin typeface="IRANSans"/>
                <a:cs typeface="IRANSans"/>
                <a:ea typeface="IRANSans"/>
              </a:rPr>
              <a:t>دانش: سرمایه اصلی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66928" y="4864608"/>
            <a:ext cx="11057839" cy="768096"/>
          </a:xfrm>
          <a:prstGeom prst="roundRect">
            <a:avLst>
              <a:gd name="adj" fmla="val 10000"/>
            </a:avLst>
          </a:prstGeom>
          <a:solidFill>
            <a:srgbClr val="1B49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11542471" y="4864608"/>
            <a:ext cx="82296" cy="768096"/>
          </a:xfrm>
          <a:prstGeom prst="rect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77824" y="4864608"/>
            <a:ext cx="10436047" cy="768096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pPr rtl="1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FF6B35"/>
                </a:solidFill>
                <a:latin typeface="IRANSans"/>
                <a:cs typeface="IRANSans"/>
                <a:ea typeface="IRANSans"/>
              </a:rPr>
              <a:t>نکته کلیدی:  </a:t>
            </a:r>
            <a:r>
              <a:rPr sz="1950" b="0">
                <a:solidFill>
                  <a:srgbClr val="FFFFFF"/>
                </a:solidFill>
                <a:latin typeface="IRANSans"/>
                <a:cs typeface="IRANSans"/>
                <a:ea typeface="IRANSans"/>
              </a:rPr>
              <a:t>در هر موج، </a:t>
            </a:r>
            <a:r>
              <a:rPr sz="1950" b="1">
                <a:solidFill>
                  <a:srgbClr val="FF6B35"/>
                </a:solidFill>
                <a:latin typeface="IRANSans"/>
                <a:cs typeface="IRANSans"/>
                <a:ea typeface="IRANSans"/>
              </a:rPr>
              <a:t>شیوه مدیریت</a:t>
            </a:r>
            <a:r>
              <a:rPr sz="1950" b="0">
                <a:solidFill>
                  <a:srgbClr val="FFFFFF"/>
                </a:solidFill>
                <a:latin typeface="IRANSans"/>
                <a:cs typeface="IRANSans"/>
                <a:ea typeface="IRANSans"/>
              </a:rPr>
              <a:t> هم عوض شد — چون منبع اصلی ارزش عوض شده بود.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66928" y="5779008"/>
            <a:ext cx="11057839" cy="420624"/>
          </a:xfrm>
          <a:prstGeom prst="rect">
            <a:avLst/>
          </a:prstGeom>
          <a:noFill/>
        </p:spPr>
        <p:txBody>
          <a:bodyPr wrap="square" lIns="36576" rIns="36576" tIns="0" bIns="0" anchor="t">
            <a:spAutoFit/>
          </a:bodyPr>
          <a:lstStyle/>
          <a:p>
            <a:pPr rtl="1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550" b="0">
                <a:solidFill>
                  <a:srgbClr val="5A6B77"/>
                </a:solidFill>
                <a:latin typeface="IRANSans"/>
                <a:cs typeface="IRANSans"/>
                <a:ea typeface="IRANSans"/>
              </a:rPr>
              <a:t>امواج حذف نمی‌شوند؛ روی هم می‌افتند. امروز هر سه موج هم‌زمان در جریان‌اند.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66928" y="6382512"/>
            <a:ext cx="3657600" cy="274320"/>
          </a:xfrm>
          <a:prstGeom prst="rect">
            <a:avLst/>
          </a:prstGeom>
          <a:noFill/>
        </p:spPr>
        <p:txBody>
          <a:bodyPr wrap="square" lIns="36576" rIns="36576" tIns="0" bIns="0" anchor="t">
            <a:spAutoFit/>
          </a:bodyPr>
          <a:lstStyle/>
          <a:p>
            <a:pPr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5A6B77"/>
                </a:solidFill>
                <a:latin typeface="IRANSans"/>
                <a:cs typeface="IRANSans"/>
                <a:ea typeface="IRANSans"/>
              </a:rPr>
              <a:t>توسعه سازمانی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161727" y="6382512"/>
            <a:ext cx="1463040" cy="274320"/>
          </a:xfrm>
          <a:prstGeom prst="rect">
            <a:avLst/>
          </a:prstGeom>
          <a:noFill/>
        </p:spPr>
        <p:txBody>
          <a:bodyPr wrap="square" lIns="36576" rIns="36576" tIns="0" bIns="0" anchor="t">
            <a:spAutoFit/>
          </a:bodyPr>
          <a:lstStyle/>
          <a:p>
            <a:pPr rt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5A6B77"/>
                </a:solidFill>
                <a:latin typeface="IRANSans"/>
                <a:cs typeface="IRANSans"/>
                <a:ea typeface="IRANSans"/>
              </a:rPr>
              <a:t>۵ / ۳۰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1057839" cy="310896"/>
          </a:xfrm>
          <a:prstGeom prst="rect">
            <a:avLst/>
          </a:prstGeom>
          <a:noFill/>
        </p:spPr>
        <p:txBody>
          <a:bodyPr wrap="square" lIns="36576" rIns="36576" tIns="0" bIns="0" anchor="t">
            <a:spAutoFit/>
          </a:bodyPr>
          <a:lstStyle/>
          <a:p>
            <a:pPr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>
                <a:solidFill>
                  <a:srgbClr val="FF6B35"/>
                </a:solidFill>
                <a:latin typeface="IRANSans"/>
                <a:cs typeface="IRANSans"/>
                <a:ea typeface="IRANSans"/>
              </a:rPr>
              <a:t>نقشه تاریخی مکاتب مدیریت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21792"/>
            <a:ext cx="11057839" cy="640080"/>
          </a:xfrm>
          <a:prstGeom prst="rect">
            <a:avLst/>
          </a:prstGeom>
          <a:noFill/>
        </p:spPr>
        <p:txBody>
          <a:bodyPr wrap="square" lIns="36576" rIns="36576" tIns="0" bIns="0" anchor="t">
            <a:spAutoFit/>
          </a:bodyPr>
          <a:lstStyle/>
          <a:p>
            <a:pPr rtl="1"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100" b="1">
                <a:solidFill>
                  <a:srgbClr val="1B4965"/>
                </a:solidFill>
                <a:latin typeface="IRANSans"/>
                <a:cs typeface="IRANSans"/>
                <a:ea typeface="IRANSans"/>
              </a:rPr>
              <a:t>هر موج، مکتب مدیریتی خودش را ساخت</a:t>
            </a:r>
          </a:p>
        </p:txBody>
      </p:sp>
      <p:sp>
        <p:nvSpPr>
          <p:cNvPr id="5" name="Rectangle 4"/>
          <p:cNvSpPr/>
          <p:nvPr/>
        </p:nvSpPr>
        <p:spPr>
          <a:xfrm>
            <a:off x="10527487" y="1243584"/>
            <a:ext cx="1097280" cy="57150"/>
          </a:xfrm>
          <a:prstGeom prst="rect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855512" y="1481328"/>
            <a:ext cx="1741822" cy="310896"/>
          </a:xfrm>
          <a:prstGeom prst="rect">
            <a:avLst/>
          </a:prstGeom>
          <a:solidFill>
            <a:srgbClr val="1E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855512" y="1481328"/>
            <a:ext cx="1769254" cy="310896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pPr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IRANSans"/>
                <a:cs typeface="IRANSans"/>
                <a:ea typeface="IRANSans"/>
              </a:rPr>
              <a:t>موج اول</a:t>
            </a:r>
          </a:p>
        </p:txBody>
      </p:sp>
      <p:sp>
        <p:nvSpPr>
          <p:cNvPr id="8" name="Rectangle 7"/>
          <p:cNvSpPr/>
          <p:nvPr/>
        </p:nvSpPr>
        <p:spPr>
          <a:xfrm>
            <a:off x="5432377" y="1481328"/>
            <a:ext cx="4395703" cy="310896"/>
          </a:xfrm>
          <a:prstGeom prst="rect">
            <a:avLst/>
          </a:prstGeom>
          <a:solidFill>
            <a:srgbClr val="2A6F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32377" y="1481328"/>
            <a:ext cx="4423135" cy="310896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pPr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IRANSans"/>
                <a:cs typeface="IRANSans"/>
                <a:ea typeface="IRANSans"/>
              </a:rPr>
              <a:t>موج دوم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7" y="1481328"/>
            <a:ext cx="4838017" cy="310896"/>
          </a:xfrm>
          <a:prstGeom prst="rect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6927" y="1481328"/>
            <a:ext cx="4865449" cy="310896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pPr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IRANSans"/>
                <a:cs typeface="IRANSans"/>
                <a:ea typeface="IRANSans"/>
              </a:rPr>
              <a:t>موج سوم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293047" y="1975104"/>
            <a:ext cx="2331720" cy="3712463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2700">
            <a:solidFill>
              <a:srgbClr val="D8E2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9293047" y="1975104"/>
            <a:ext cx="2331720" cy="457200"/>
          </a:xfrm>
          <a:prstGeom prst="roundRect">
            <a:avLst>
              <a:gd name="adj" fmla="val 12000"/>
            </a:avLst>
          </a:prstGeom>
          <a:solidFill>
            <a:srgbClr val="1E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9293047" y="2286000"/>
            <a:ext cx="2331720" cy="146304"/>
          </a:xfrm>
          <a:prstGeom prst="rect">
            <a:avLst/>
          </a:prstGeom>
          <a:solidFill>
            <a:srgbClr val="1E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293047" y="1975104"/>
            <a:ext cx="2331720" cy="457200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pPr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>
                <a:solidFill>
                  <a:srgbClr val="FFFFFF"/>
                </a:solidFill>
                <a:latin typeface="IRANSans"/>
                <a:cs typeface="IRANSans"/>
                <a:ea typeface="IRANSans"/>
              </a:rPr>
              <a:t>تا ۱۷۵۰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384487" y="2542032"/>
            <a:ext cx="2148840" cy="480060"/>
          </a:xfrm>
          <a:prstGeom prst="roundRect">
            <a:avLst>
              <a:gd name="adj" fmla="val 14000"/>
            </a:avLst>
          </a:prstGeom>
          <a:solidFill>
            <a:srgbClr val="E8F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494215" y="2542032"/>
            <a:ext cx="1929384" cy="480060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pPr rtl="1"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>
                <a:solidFill>
                  <a:srgbClr val="1F2D38"/>
                </a:solidFill>
                <a:latin typeface="IRANSans"/>
                <a:cs typeface="IRANSans"/>
                <a:ea typeface="IRANSans"/>
              </a:rPr>
              <a:t>مدیریت سنتی</a:t>
            </a:r>
          </a:p>
          <a:p>
            <a:pPr rtl="1"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A6B77"/>
                </a:solidFill>
                <a:latin typeface="IRANSans"/>
                <a:cs typeface="IRANSans"/>
                <a:ea typeface="IRANSans"/>
              </a:rPr>
              <a:t>استادـشاگردی، تجربه‌محور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494215" y="3067812"/>
            <a:ext cx="1929384" cy="480060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pPr rtl="1"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>
                <a:solidFill>
                  <a:srgbClr val="1F2D38"/>
                </a:solidFill>
                <a:latin typeface="IRANSans"/>
                <a:cs typeface="IRANSans"/>
                <a:ea typeface="IRANSans"/>
              </a:rPr>
              <a:t>نظام صنفی</a:t>
            </a:r>
          </a:p>
          <a:p>
            <a:pPr rtl="1"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A6B77"/>
                </a:solidFill>
                <a:latin typeface="IRANSans"/>
                <a:cs typeface="IRANSans"/>
                <a:ea typeface="IRANSans"/>
              </a:rPr>
              <a:t>انتقال مهارت در کارگاه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730191" y="1975104"/>
            <a:ext cx="4343400" cy="3712463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2700">
            <a:solidFill>
              <a:srgbClr val="D8E2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4730191" y="1975104"/>
            <a:ext cx="4343400" cy="457200"/>
          </a:xfrm>
          <a:prstGeom prst="roundRect">
            <a:avLst>
              <a:gd name="adj" fmla="val 12000"/>
            </a:avLst>
          </a:prstGeom>
          <a:solidFill>
            <a:srgbClr val="2A6F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730191" y="2286000"/>
            <a:ext cx="4343400" cy="146304"/>
          </a:xfrm>
          <a:prstGeom prst="rect">
            <a:avLst/>
          </a:prstGeom>
          <a:solidFill>
            <a:srgbClr val="2A6F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730191" y="1975104"/>
            <a:ext cx="4343400" cy="457200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pPr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>
                <a:solidFill>
                  <a:srgbClr val="FFFFFF"/>
                </a:solidFill>
                <a:latin typeface="IRANSans"/>
                <a:cs typeface="IRANSans"/>
                <a:ea typeface="IRANSans"/>
              </a:rPr>
              <a:t>۱۹۱۱ تا ۱۹۷۰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821631" y="2542032"/>
            <a:ext cx="4160520" cy="480060"/>
          </a:xfrm>
          <a:prstGeom prst="roundRect">
            <a:avLst>
              <a:gd name="adj" fmla="val 14000"/>
            </a:avLst>
          </a:prstGeom>
          <a:solidFill>
            <a:srgbClr val="ECF3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931359" y="2542032"/>
            <a:ext cx="3941064" cy="480060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pPr rtl="1"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>
                <a:solidFill>
                  <a:srgbClr val="1F2D38"/>
                </a:solidFill>
                <a:latin typeface="IRANSans"/>
                <a:cs typeface="IRANSans"/>
                <a:ea typeface="IRANSans"/>
              </a:rPr>
              <a:t>مدیریت علمی — تیلور ۱۹۱۱</a:t>
            </a:r>
          </a:p>
          <a:p>
            <a:pPr rtl="1"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A6B77"/>
                </a:solidFill>
                <a:latin typeface="IRANSans"/>
                <a:cs typeface="IRANSans"/>
                <a:ea typeface="IRANSans"/>
              </a:rPr>
              <a:t>بهترین راه انجام کار، زمان‌سنجی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931359" y="3067812"/>
            <a:ext cx="3941064" cy="480060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pPr rtl="1"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>
                <a:solidFill>
                  <a:srgbClr val="1F2D38"/>
                </a:solidFill>
                <a:latin typeface="IRANSans"/>
                <a:cs typeface="IRANSans"/>
                <a:ea typeface="IRANSans"/>
              </a:rPr>
              <a:t>مدیریت اداری — فایول ۱۹۱۶</a:t>
            </a:r>
          </a:p>
          <a:p>
            <a:pPr rtl="1"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A6B77"/>
                </a:solidFill>
                <a:latin typeface="IRANSans"/>
                <a:cs typeface="IRANSans"/>
                <a:ea typeface="IRANSans"/>
              </a:rPr>
              <a:t>برنامه‌ریزی، سازمان‌دهی، کنترل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821631" y="3593592"/>
            <a:ext cx="4160520" cy="480060"/>
          </a:xfrm>
          <a:prstGeom prst="roundRect">
            <a:avLst>
              <a:gd name="adj" fmla="val 14000"/>
            </a:avLst>
          </a:prstGeom>
          <a:solidFill>
            <a:srgbClr val="ECF3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931359" y="3593592"/>
            <a:ext cx="3941064" cy="480060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pPr rtl="1"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>
                <a:solidFill>
                  <a:srgbClr val="1F2D38"/>
                </a:solidFill>
                <a:latin typeface="IRANSans"/>
                <a:cs typeface="IRANSans"/>
                <a:ea typeface="IRANSans"/>
              </a:rPr>
              <a:t>بوروکراسی — وبر ۱۹۲۲</a:t>
            </a:r>
          </a:p>
          <a:p>
            <a:pPr rtl="1"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A6B77"/>
                </a:solidFill>
                <a:latin typeface="IRANSans"/>
                <a:cs typeface="IRANSans"/>
                <a:ea typeface="IRANSans"/>
              </a:rPr>
              <a:t>سلسله‌مراتب، قاعده، غیرشخصی بودن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931359" y="4119372"/>
            <a:ext cx="3941064" cy="480060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pPr rtl="1"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>
                <a:solidFill>
                  <a:srgbClr val="1F2D38"/>
                </a:solidFill>
                <a:latin typeface="IRANSans"/>
                <a:cs typeface="IRANSans"/>
                <a:ea typeface="IRANSans"/>
              </a:rPr>
              <a:t>روابط انسانی — مِیو ۱۹۳۲</a:t>
            </a:r>
          </a:p>
          <a:p>
            <a:pPr rtl="1"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A6B77"/>
                </a:solidFill>
                <a:latin typeface="IRANSans"/>
                <a:cs typeface="IRANSans"/>
                <a:ea typeface="IRANSans"/>
              </a:rPr>
              <a:t>انسان فقط ماشین نیست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821631" y="4645152"/>
            <a:ext cx="4160520" cy="480060"/>
          </a:xfrm>
          <a:prstGeom prst="roundRect">
            <a:avLst>
              <a:gd name="adj" fmla="val 14000"/>
            </a:avLst>
          </a:prstGeom>
          <a:solidFill>
            <a:srgbClr val="ECF3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931359" y="4645152"/>
            <a:ext cx="3941064" cy="480060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pPr rtl="1"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>
                <a:solidFill>
                  <a:srgbClr val="1F2D38"/>
                </a:solidFill>
                <a:latin typeface="IRANSans"/>
                <a:cs typeface="IRANSans"/>
                <a:ea typeface="IRANSans"/>
              </a:rPr>
              <a:t>نظریه X و Y — مک‌گرگور ۱۹۶۰</a:t>
            </a:r>
          </a:p>
          <a:p>
            <a:pPr rtl="1"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A6B77"/>
                </a:solidFill>
                <a:latin typeface="IRANSans"/>
                <a:cs typeface="IRANSans"/>
                <a:ea typeface="IRANSans"/>
              </a:rPr>
              <a:t>دو نگاه به انگیزه کارکنان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931359" y="5170932"/>
            <a:ext cx="3941064" cy="480060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pPr rtl="1"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>
                <a:solidFill>
                  <a:srgbClr val="1F2D38"/>
                </a:solidFill>
                <a:latin typeface="IRANSans"/>
                <a:cs typeface="IRANSans"/>
                <a:ea typeface="IRANSans"/>
              </a:rPr>
              <a:t>نگرش سیستمی و اقتضایی ۱۹۷۰</a:t>
            </a:r>
          </a:p>
          <a:p>
            <a:pPr rtl="1"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A6B77"/>
                </a:solidFill>
                <a:latin typeface="IRANSans"/>
                <a:cs typeface="IRANSans"/>
                <a:ea typeface="IRANSans"/>
              </a:rPr>
              <a:t>یک نسخه برای همه وجود ندارد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67335" y="1975104"/>
            <a:ext cx="4343400" cy="3712463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2700">
            <a:solidFill>
              <a:srgbClr val="D8E2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167335" y="1975104"/>
            <a:ext cx="4343400" cy="457200"/>
          </a:xfrm>
          <a:prstGeom prst="roundRect">
            <a:avLst>
              <a:gd name="adj" fmla="val 12000"/>
            </a:avLst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167335" y="2286000"/>
            <a:ext cx="4343400" cy="146304"/>
          </a:xfrm>
          <a:prstGeom prst="rect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67335" y="1975104"/>
            <a:ext cx="4343400" cy="457200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pPr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>
                <a:solidFill>
                  <a:srgbClr val="FFFFFF"/>
                </a:solidFill>
                <a:latin typeface="IRANSans"/>
                <a:cs typeface="IRANSans"/>
                <a:ea typeface="IRANSans"/>
              </a:rPr>
              <a:t>۱۹۸۰ تا امروز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258775" y="2542032"/>
            <a:ext cx="4160520" cy="480060"/>
          </a:xfrm>
          <a:prstGeom prst="roundRect">
            <a:avLst>
              <a:gd name="adj" fmla="val 14000"/>
            </a:avLst>
          </a:prstGeom>
          <a:solidFill>
            <a:srgbClr val="FFF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68503" y="2542032"/>
            <a:ext cx="3941064" cy="480060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pPr rtl="1"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>
                <a:solidFill>
                  <a:srgbClr val="1F2D38"/>
                </a:solidFill>
                <a:latin typeface="IRANSans"/>
                <a:cs typeface="IRANSans"/>
                <a:ea typeface="IRANSans"/>
              </a:rPr>
              <a:t>مدیریت کیفیت جامع ۱۹۸۰</a:t>
            </a:r>
          </a:p>
          <a:p>
            <a:pPr rtl="1"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A6B77"/>
                </a:solidFill>
                <a:latin typeface="IRANSans"/>
                <a:cs typeface="IRANSans"/>
                <a:ea typeface="IRANSans"/>
              </a:rPr>
              <a:t>بهبود مستمر، مشارکت همه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68503" y="3067812"/>
            <a:ext cx="3941064" cy="480060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pPr rtl="1"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>
                <a:solidFill>
                  <a:srgbClr val="1F2D38"/>
                </a:solidFill>
                <a:latin typeface="IRANSans"/>
                <a:cs typeface="IRANSans"/>
                <a:ea typeface="IRANSans"/>
              </a:rPr>
              <a:t>سازمان یادگیرنده — سنگه ۱۹۹۰</a:t>
            </a:r>
          </a:p>
          <a:p>
            <a:pPr rtl="1"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A6B77"/>
                </a:solidFill>
                <a:latin typeface="IRANSans"/>
                <a:cs typeface="IRANSans"/>
                <a:ea typeface="IRANSans"/>
              </a:rPr>
              <a:t>یادگیری، مزیت رقابتی پایدار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258775" y="3593592"/>
            <a:ext cx="4160520" cy="480060"/>
          </a:xfrm>
          <a:prstGeom prst="roundRect">
            <a:avLst>
              <a:gd name="adj" fmla="val 14000"/>
            </a:avLst>
          </a:prstGeom>
          <a:solidFill>
            <a:srgbClr val="FFF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68503" y="3593592"/>
            <a:ext cx="3941064" cy="480060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pPr rtl="1"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>
                <a:solidFill>
                  <a:srgbClr val="1F2D38"/>
                </a:solidFill>
                <a:latin typeface="IRANSans"/>
                <a:cs typeface="IRANSans"/>
                <a:ea typeface="IRANSans"/>
              </a:rPr>
              <a:t>مدیریت دانش — نوناکا ۱۹۹۵</a:t>
            </a:r>
          </a:p>
          <a:p>
            <a:pPr rtl="1"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A6B77"/>
                </a:solidFill>
                <a:latin typeface="IRANSans"/>
                <a:cs typeface="IRANSans"/>
                <a:ea typeface="IRANSans"/>
              </a:rPr>
              <a:t>تبدیل تجربه ضمنی به دانش سازمانی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68503" y="4119372"/>
            <a:ext cx="3941064" cy="480060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pPr rtl="1"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>
                <a:solidFill>
                  <a:srgbClr val="1F2D38"/>
                </a:solidFill>
                <a:latin typeface="IRANSans"/>
                <a:cs typeface="IRANSans"/>
                <a:ea typeface="IRANSans"/>
              </a:rPr>
              <a:t>سازمان چابک ۲۰۰۱</a:t>
            </a:r>
          </a:p>
          <a:p>
            <a:pPr rtl="1"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A6B77"/>
                </a:solidFill>
                <a:latin typeface="IRANSans"/>
                <a:cs typeface="IRANSans"/>
                <a:ea typeface="IRANSans"/>
              </a:rPr>
              <a:t>تیم‌های کوچک، چرخه کوتاه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258775" y="4645152"/>
            <a:ext cx="4160520" cy="480060"/>
          </a:xfrm>
          <a:prstGeom prst="roundRect">
            <a:avLst>
              <a:gd name="adj" fmla="val 14000"/>
            </a:avLst>
          </a:prstGeom>
          <a:solidFill>
            <a:srgbClr val="FFF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368503" y="4645152"/>
            <a:ext cx="3941064" cy="480060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pPr rtl="1"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>
                <a:solidFill>
                  <a:srgbClr val="1F2D38"/>
                </a:solidFill>
                <a:latin typeface="IRANSans"/>
                <a:cs typeface="IRANSans"/>
                <a:ea typeface="IRANSans"/>
              </a:rPr>
              <a:t>رهبری مربی‌گرا ۲۰۱۰+</a:t>
            </a:r>
          </a:p>
          <a:p>
            <a:pPr rtl="1"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A6B77"/>
                </a:solidFill>
                <a:latin typeface="IRANSans"/>
                <a:cs typeface="IRANSans"/>
                <a:ea typeface="IRANSans"/>
              </a:rPr>
              <a:t>مدیر به‌جای دستور، سؤال می‌پرسد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68503" y="5170932"/>
            <a:ext cx="3941064" cy="480060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pPr rtl="1"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>
                <a:solidFill>
                  <a:srgbClr val="1F2D38"/>
                </a:solidFill>
                <a:latin typeface="IRANSans"/>
                <a:cs typeface="IRANSans"/>
                <a:ea typeface="IRANSans"/>
              </a:rPr>
              <a:t>تیم‌های خودگردان</a:t>
            </a:r>
          </a:p>
          <a:p>
            <a:pPr rtl="1"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A6B77"/>
                </a:solidFill>
                <a:latin typeface="IRANSans"/>
                <a:cs typeface="IRANSans"/>
                <a:ea typeface="IRANSans"/>
              </a:rPr>
              <a:t>تصمیم نزدیک به محل کار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66928" y="6382512"/>
            <a:ext cx="3657600" cy="274320"/>
          </a:xfrm>
          <a:prstGeom prst="rect">
            <a:avLst/>
          </a:prstGeom>
          <a:noFill/>
        </p:spPr>
        <p:txBody>
          <a:bodyPr wrap="square" lIns="36576" rIns="36576" tIns="0" bIns="0" anchor="t">
            <a:spAutoFit/>
          </a:bodyPr>
          <a:lstStyle/>
          <a:p>
            <a:pPr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5A6B77"/>
                </a:solidFill>
                <a:latin typeface="IRANSans"/>
                <a:cs typeface="IRANSans"/>
                <a:ea typeface="IRANSans"/>
              </a:rPr>
              <a:t>توسعه سازمانی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161727" y="6382512"/>
            <a:ext cx="1463040" cy="274320"/>
          </a:xfrm>
          <a:prstGeom prst="rect">
            <a:avLst/>
          </a:prstGeom>
          <a:noFill/>
        </p:spPr>
        <p:txBody>
          <a:bodyPr wrap="square" lIns="36576" rIns="36576" tIns="0" bIns="0" anchor="t">
            <a:spAutoFit/>
          </a:bodyPr>
          <a:lstStyle/>
          <a:p>
            <a:pPr rt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5A6B77"/>
                </a:solidFill>
                <a:latin typeface="IRANSans"/>
                <a:cs typeface="IRANSans"/>
                <a:ea typeface="IRANSans"/>
              </a:rPr>
              <a:t>۶ / ۳۰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w1-refinery.jpg"/>
          <p:cNvPicPr>
            <a:picLocks noChangeAspect="1"/>
          </p:cNvPicPr>
          <p:nvPr/>
        </p:nvPicPr>
        <p:blipFill>
          <a:blip r:embed="rId2"/>
          <a:srcRect t="7839" b="7839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0E2C40">
                  <a:alpha val="14000"/>
                </a:srgbClr>
              </a:gs>
              <a:gs pos="100000">
                <a:srgbClr val="0E2C40">
                  <a:alpha val="95000"/>
                </a:srgbClr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2C40">
              <a:alpha val="3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475488"/>
            <a:ext cx="11057839" cy="365760"/>
          </a:xfrm>
          <a:prstGeom prst="rect">
            <a:avLst/>
          </a:prstGeom>
          <a:noFill/>
        </p:spPr>
        <p:txBody>
          <a:bodyPr wrap="square" lIns="36576" rIns="36576" tIns="0" bIns="0" anchor="t">
            <a:spAutoFit/>
          </a:bodyPr>
          <a:lstStyle/>
          <a:p>
            <a:pPr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>
                <a:solidFill>
                  <a:srgbClr val="FF6B35"/>
                </a:solidFill>
                <a:latin typeface="IRANSans"/>
                <a:cs typeface="IRANSans"/>
                <a:ea typeface="IRANSans"/>
              </a:rPr>
              <a:t>تشخیص وضعیت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841248"/>
            <a:ext cx="11057839" cy="603504"/>
          </a:xfrm>
          <a:prstGeom prst="rect">
            <a:avLst/>
          </a:prstGeom>
          <a:noFill/>
        </p:spPr>
        <p:txBody>
          <a:bodyPr wrap="square" lIns="36576" rIns="36576" tIns="0" bIns="0" anchor="t">
            <a:spAutoFit/>
          </a:bodyPr>
          <a:lstStyle/>
          <a:p>
            <a:pPr rtl="1"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100" b="1">
                <a:solidFill>
                  <a:srgbClr val="FFFFFF"/>
                </a:solidFill>
                <a:latin typeface="IRANSans"/>
                <a:cs typeface="IRANSans"/>
                <a:ea typeface="IRANSans"/>
              </a:rPr>
              <a:t>صنعت نفت و گاز ایران کجای این نقشه است؟</a:t>
            </a:r>
          </a:p>
        </p:txBody>
      </p:sp>
      <p:sp>
        <p:nvSpPr>
          <p:cNvPr id="7" name="Rectangle 6"/>
          <p:cNvSpPr/>
          <p:nvPr/>
        </p:nvSpPr>
        <p:spPr>
          <a:xfrm>
            <a:off x="10527487" y="1517904"/>
            <a:ext cx="1097280" cy="57150"/>
          </a:xfrm>
          <a:prstGeom prst="rect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086807" y="1828800"/>
            <a:ext cx="6537960" cy="749808"/>
          </a:xfrm>
          <a:prstGeom prst="roundRect">
            <a:avLst>
              <a:gd name="adj" fmla="val 10000"/>
            </a:avLst>
          </a:prstGeom>
          <a:solidFill>
            <a:srgbClr val="FFFFFF">
              <a:alpha val="1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293047" y="1828800"/>
            <a:ext cx="2148840" cy="749808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pPr rtl="1"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IRANSans"/>
                <a:cs typeface="IRANSans"/>
                <a:ea typeface="IRANSans"/>
              </a:rPr>
              <a:t>زیرساخت فنی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87007" y="1828800"/>
            <a:ext cx="2651760" cy="749808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pPr rtl="1"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ECF3F7"/>
                </a:solidFill>
                <a:latin typeface="IRANSans"/>
                <a:cs typeface="IRANSans"/>
                <a:ea typeface="IRANSans"/>
              </a:rPr>
              <a:t>موج دوم، با جزیره‌هایی از موج سوم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233111" y="2103120"/>
            <a:ext cx="1417320" cy="201168"/>
          </a:xfrm>
          <a:prstGeom prst="roundRect">
            <a:avLst>
              <a:gd name="adj" fmla="val 30000"/>
            </a:avLst>
          </a:prstGeom>
          <a:solidFill>
            <a:srgbClr val="FFFFFF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771692" y="2103120"/>
            <a:ext cx="878738" cy="201168"/>
          </a:xfrm>
          <a:prstGeom prst="roundRect">
            <a:avLst>
              <a:gd name="adj" fmla="val 30000"/>
            </a:avLst>
          </a:prstGeom>
          <a:solidFill>
            <a:srgbClr val="2A6F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5086807" y="2670048"/>
            <a:ext cx="6537960" cy="749808"/>
          </a:xfrm>
          <a:prstGeom prst="roundRect">
            <a:avLst>
              <a:gd name="adj" fmla="val 10000"/>
            </a:avLst>
          </a:prstGeom>
          <a:solidFill>
            <a:srgbClr val="FFFFFF">
              <a:alpha val="1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293047" y="2670048"/>
            <a:ext cx="2148840" cy="749808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pPr rtl="1"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IRANSans"/>
                <a:cs typeface="IRANSans"/>
                <a:ea typeface="IRANSans"/>
              </a:rPr>
              <a:t>ساختار سازمانی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87007" y="2670048"/>
            <a:ext cx="2651760" cy="749808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pPr rtl="1"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ECF3F7"/>
                </a:solidFill>
                <a:latin typeface="IRANSans"/>
                <a:cs typeface="IRANSans"/>
                <a:ea typeface="IRANSans"/>
              </a:rPr>
              <a:t>سلسله‌مراتبی، تصمیم متمرکز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233111" y="2944368"/>
            <a:ext cx="1417320" cy="201168"/>
          </a:xfrm>
          <a:prstGeom prst="roundRect">
            <a:avLst>
              <a:gd name="adj" fmla="val 30000"/>
            </a:avLst>
          </a:prstGeom>
          <a:solidFill>
            <a:srgbClr val="FFFFFF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225235" y="2944368"/>
            <a:ext cx="425196" cy="201168"/>
          </a:xfrm>
          <a:prstGeom prst="roundRect">
            <a:avLst>
              <a:gd name="adj" fmla="val 30000"/>
            </a:avLst>
          </a:prstGeom>
          <a:solidFill>
            <a:srgbClr val="2A6F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086807" y="3511296"/>
            <a:ext cx="6537960" cy="749808"/>
          </a:xfrm>
          <a:prstGeom prst="roundRect">
            <a:avLst>
              <a:gd name="adj" fmla="val 10000"/>
            </a:avLst>
          </a:prstGeom>
          <a:solidFill>
            <a:srgbClr val="FFFFFF">
              <a:alpha val="1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293047" y="3511296"/>
            <a:ext cx="2148840" cy="749808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pPr rtl="1"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IRANSans"/>
                <a:cs typeface="IRANSans"/>
                <a:ea typeface="IRANSans"/>
              </a:rPr>
              <a:t>شیوه انتقال دانش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87007" y="3511296"/>
            <a:ext cx="2651760" cy="749808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pPr rtl="1"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ECF3F7"/>
                </a:solidFill>
                <a:latin typeface="IRANSans"/>
                <a:cs typeface="IRANSans"/>
                <a:ea typeface="IRANSans"/>
              </a:rPr>
              <a:t>شفاهی، وابسته به افراد کلیدی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233111" y="3785616"/>
            <a:ext cx="1417320" cy="201168"/>
          </a:xfrm>
          <a:prstGeom prst="roundRect">
            <a:avLst>
              <a:gd name="adj" fmla="val 30000"/>
            </a:avLst>
          </a:prstGeom>
          <a:solidFill>
            <a:srgbClr val="FFFFFF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296101" y="3785616"/>
            <a:ext cx="354330" cy="201168"/>
          </a:xfrm>
          <a:prstGeom prst="roundRect">
            <a:avLst>
              <a:gd name="adj" fmla="val 30000"/>
            </a:avLst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5086807" y="4352544"/>
            <a:ext cx="6537960" cy="749808"/>
          </a:xfrm>
          <a:prstGeom prst="roundRect">
            <a:avLst>
              <a:gd name="adj" fmla="val 10000"/>
            </a:avLst>
          </a:prstGeom>
          <a:solidFill>
            <a:srgbClr val="FFFFFF">
              <a:alpha val="1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293047" y="4352544"/>
            <a:ext cx="2148840" cy="749808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pPr rtl="1"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IRANSans"/>
                <a:cs typeface="IRANSans"/>
                <a:ea typeface="IRANSans"/>
              </a:rPr>
              <a:t>سرمایه انسانی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87007" y="4352544"/>
            <a:ext cx="2651760" cy="749808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pPr rtl="1"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ECF3F7"/>
                </a:solidFill>
                <a:latin typeface="IRANSans"/>
                <a:cs typeface="IRANSans"/>
                <a:ea typeface="IRANSans"/>
              </a:rPr>
              <a:t>باتجربه، ولی تجربه‌اش ثبت‌نشده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233111" y="4626864"/>
            <a:ext cx="1417320" cy="201168"/>
          </a:xfrm>
          <a:prstGeom prst="roundRect">
            <a:avLst>
              <a:gd name="adj" fmla="val 30000"/>
            </a:avLst>
          </a:prstGeom>
          <a:solidFill>
            <a:srgbClr val="FFFFFF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6083503" y="4626864"/>
            <a:ext cx="566928" cy="201168"/>
          </a:xfrm>
          <a:prstGeom prst="roundRect">
            <a:avLst>
              <a:gd name="adj" fmla="val 30000"/>
            </a:avLst>
          </a:prstGeom>
          <a:solidFill>
            <a:srgbClr val="F39C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5086807" y="5266944"/>
            <a:ext cx="6537960" cy="969264"/>
          </a:xfrm>
          <a:prstGeom prst="roundRect">
            <a:avLst>
              <a:gd name="adj" fmla="val 10000"/>
            </a:avLst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361127" y="5266944"/>
            <a:ext cx="5989320" cy="969264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pPr rtl="1"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IRANSans"/>
                <a:cs typeface="IRANSans"/>
                <a:ea typeface="IRANSans"/>
              </a:rPr>
              <a:t>جمع‌بندی صادقانه:  </a:t>
            </a:r>
            <a:r>
              <a:rPr sz="1800" b="0">
                <a:solidFill>
                  <a:srgbClr val="FFFFFF"/>
                </a:solidFill>
                <a:latin typeface="IRANSans"/>
                <a:cs typeface="IRANSans"/>
                <a:ea typeface="IRANSans"/>
              </a:rPr>
              <a:t>یک پای ما در موج دوم است و یک پا در موج سوم — و این حالت، پرهزینه‌ترین وضعیت است.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1057839" cy="310896"/>
          </a:xfrm>
          <a:prstGeom prst="rect">
            <a:avLst/>
          </a:prstGeom>
          <a:noFill/>
        </p:spPr>
        <p:txBody>
          <a:bodyPr wrap="square" lIns="36576" rIns="36576" tIns="0" bIns="0" anchor="t">
            <a:spAutoFit/>
          </a:bodyPr>
          <a:lstStyle/>
          <a:p>
            <a:pPr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>
                <a:solidFill>
                  <a:srgbClr val="FF6B35"/>
                </a:solidFill>
                <a:latin typeface="IRANSans"/>
                <a:cs typeface="IRANSans"/>
                <a:ea typeface="IRANSans"/>
              </a:rPr>
              <a:t>این‌ها را می‌شناسید؟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21792"/>
            <a:ext cx="11057839" cy="640080"/>
          </a:xfrm>
          <a:prstGeom prst="rect">
            <a:avLst/>
          </a:prstGeom>
          <a:noFill/>
        </p:spPr>
        <p:txBody>
          <a:bodyPr wrap="square" lIns="36576" rIns="36576" tIns="0" bIns="0" anchor="t">
            <a:spAutoFit/>
          </a:bodyPr>
          <a:lstStyle/>
          <a:p>
            <a:pPr rtl="1"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100" b="1">
                <a:solidFill>
                  <a:srgbClr val="1B4965"/>
                </a:solidFill>
                <a:latin typeface="IRANSans"/>
                <a:cs typeface="IRANSans"/>
                <a:ea typeface="IRANSans"/>
              </a:rPr>
              <a:t>نشانه‌های ماندن در موج دوم</a:t>
            </a:r>
          </a:p>
        </p:txBody>
      </p:sp>
      <p:sp>
        <p:nvSpPr>
          <p:cNvPr id="5" name="Rectangle 4"/>
          <p:cNvSpPr/>
          <p:nvPr/>
        </p:nvSpPr>
        <p:spPr>
          <a:xfrm>
            <a:off x="10527487" y="1243584"/>
            <a:ext cx="1097280" cy="57150"/>
          </a:xfrm>
          <a:prstGeom prst="rect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223863" y="1517904"/>
            <a:ext cx="5400903" cy="859536"/>
          </a:xfrm>
          <a:prstGeom prst="roundRect">
            <a:avLst>
              <a:gd name="adj" fmla="val 11000"/>
            </a:avLst>
          </a:prstGeom>
          <a:solidFill>
            <a:srgbClr val="FFFFFF"/>
          </a:solidFill>
          <a:ln w="12700">
            <a:solidFill>
              <a:srgbClr val="D8E2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551615" y="1517904"/>
            <a:ext cx="73152" cy="859536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893247" y="1746504"/>
            <a:ext cx="384048" cy="384048"/>
          </a:xfrm>
          <a:prstGeom prst="ellipse">
            <a:avLst/>
          </a:prstGeom>
          <a:solidFill>
            <a:srgbClr val="FDEE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C0392B"/>
                </a:solidFill>
                <a:latin typeface="IRANSans"/>
                <a:cs typeface="IRANSans"/>
                <a:ea typeface="IRANSans"/>
              </a:rPr>
              <a:t>۱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43319" y="1517904"/>
            <a:ext cx="4340199" cy="859536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pPr rtl="1"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1B4965"/>
                </a:solidFill>
                <a:latin typeface="IRANSans"/>
                <a:cs typeface="IRANSans"/>
                <a:ea typeface="IRANSans"/>
              </a:rPr>
              <a:t>تصمیم فقط بالا گرفته می‌شود</a:t>
            </a:r>
          </a:p>
          <a:p>
            <a:pPr rtl="1" algn="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5A6B77"/>
                </a:solidFill>
                <a:latin typeface="IRANSans"/>
                <a:cs typeface="IRANSans"/>
                <a:ea typeface="IRANSans"/>
              </a:rPr>
              <a:t>کارشناس منتظر دستور می‌ماند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1517904"/>
            <a:ext cx="5400903" cy="859536"/>
          </a:xfrm>
          <a:prstGeom prst="roundRect">
            <a:avLst>
              <a:gd name="adj" fmla="val 11000"/>
            </a:avLst>
          </a:prstGeom>
          <a:solidFill>
            <a:srgbClr val="FFFFFF"/>
          </a:solidFill>
          <a:ln w="12700">
            <a:solidFill>
              <a:srgbClr val="D8E2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894679" y="1517904"/>
            <a:ext cx="73152" cy="859536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5236311" y="1746504"/>
            <a:ext cx="384048" cy="384048"/>
          </a:xfrm>
          <a:prstGeom prst="ellipse">
            <a:avLst/>
          </a:prstGeom>
          <a:solidFill>
            <a:srgbClr val="FDEE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C0392B"/>
                </a:solidFill>
                <a:latin typeface="IRANSans"/>
                <a:cs typeface="IRANSans"/>
                <a:ea typeface="IRANSans"/>
              </a:rPr>
              <a:t>۲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6384" y="1517904"/>
            <a:ext cx="4340199" cy="859536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pPr rtl="1"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1B4965"/>
                </a:solidFill>
                <a:latin typeface="IRANSans"/>
                <a:cs typeface="IRANSans"/>
                <a:ea typeface="IRANSans"/>
              </a:rPr>
              <a:t>دانش با بازنشستگی می‌رود</a:t>
            </a:r>
          </a:p>
          <a:p>
            <a:pPr rtl="1" algn="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5A6B77"/>
                </a:solidFill>
                <a:latin typeface="IRANSans"/>
                <a:cs typeface="IRANSans"/>
                <a:ea typeface="IRANSans"/>
              </a:rPr>
              <a:t>سی سال تجربه، بدون جانشین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23863" y="2505456"/>
            <a:ext cx="5400903" cy="859536"/>
          </a:xfrm>
          <a:prstGeom prst="roundRect">
            <a:avLst>
              <a:gd name="adj" fmla="val 11000"/>
            </a:avLst>
          </a:prstGeom>
          <a:solidFill>
            <a:srgbClr val="FFFFFF"/>
          </a:solidFill>
          <a:ln w="12700">
            <a:solidFill>
              <a:srgbClr val="D8E2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1551615" y="2505456"/>
            <a:ext cx="73152" cy="859536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0893247" y="2734056"/>
            <a:ext cx="384048" cy="384048"/>
          </a:xfrm>
          <a:prstGeom prst="ellipse">
            <a:avLst/>
          </a:prstGeom>
          <a:solidFill>
            <a:srgbClr val="FDEE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C0392B"/>
                </a:solidFill>
                <a:latin typeface="IRANSans"/>
                <a:cs typeface="IRANSans"/>
                <a:ea typeface="IRANSans"/>
              </a:rPr>
              <a:t>۳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43319" y="2505456"/>
            <a:ext cx="4340199" cy="859536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pPr rtl="1"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1B4965"/>
                </a:solidFill>
                <a:latin typeface="IRANSans"/>
                <a:cs typeface="IRANSans"/>
                <a:ea typeface="IRANSans"/>
              </a:rPr>
              <a:t>آموزش یعنی کلاس</a:t>
            </a:r>
          </a:p>
          <a:p>
            <a:pPr rtl="1" algn="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5A6B77"/>
                </a:solidFill>
                <a:latin typeface="IRANSans"/>
                <a:cs typeface="IRANSans"/>
                <a:ea typeface="IRANSans"/>
              </a:rPr>
              <a:t>دوره برگزار می‌شود، رفتار عوض نمی‌شود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2505456"/>
            <a:ext cx="5400903" cy="859536"/>
          </a:xfrm>
          <a:prstGeom prst="roundRect">
            <a:avLst>
              <a:gd name="adj" fmla="val 11000"/>
            </a:avLst>
          </a:prstGeom>
          <a:solidFill>
            <a:srgbClr val="FFFFFF"/>
          </a:solidFill>
          <a:ln w="12700">
            <a:solidFill>
              <a:srgbClr val="D8E2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894679" y="2505456"/>
            <a:ext cx="73152" cy="859536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5236311" y="2734056"/>
            <a:ext cx="384048" cy="384048"/>
          </a:xfrm>
          <a:prstGeom prst="ellipse">
            <a:avLst/>
          </a:prstGeom>
          <a:solidFill>
            <a:srgbClr val="FDEE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C0392B"/>
                </a:solidFill>
                <a:latin typeface="IRANSans"/>
                <a:cs typeface="IRANSans"/>
                <a:ea typeface="IRANSans"/>
              </a:rPr>
              <a:t>۴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86384" y="2505456"/>
            <a:ext cx="4340199" cy="859536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pPr rtl="1"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1B4965"/>
                </a:solidFill>
                <a:latin typeface="IRANSans"/>
                <a:cs typeface="IRANSans"/>
                <a:ea typeface="IRANSans"/>
              </a:rPr>
              <a:t>واحدها با هم حرف نمی‌زنند</a:t>
            </a:r>
          </a:p>
          <a:p>
            <a:pPr rtl="1" algn="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5A6B77"/>
                </a:solidFill>
                <a:latin typeface="IRANSans"/>
                <a:cs typeface="IRANSans"/>
                <a:ea typeface="IRANSans"/>
              </a:rPr>
              <a:t>هر واحد، جزیره‌ای مستقل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23863" y="3493008"/>
            <a:ext cx="5400903" cy="859536"/>
          </a:xfrm>
          <a:prstGeom prst="roundRect">
            <a:avLst>
              <a:gd name="adj" fmla="val 11000"/>
            </a:avLst>
          </a:prstGeom>
          <a:solidFill>
            <a:srgbClr val="FFFFFF"/>
          </a:solidFill>
          <a:ln w="12700">
            <a:solidFill>
              <a:srgbClr val="D8E2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11551615" y="3493008"/>
            <a:ext cx="73152" cy="859536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0893247" y="3721608"/>
            <a:ext cx="384048" cy="384048"/>
          </a:xfrm>
          <a:prstGeom prst="ellipse">
            <a:avLst/>
          </a:prstGeom>
          <a:solidFill>
            <a:srgbClr val="FDEE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C0392B"/>
                </a:solidFill>
                <a:latin typeface="IRANSans"/>
                <a:cs typeface="IRANSans"/>
                <a:ea typeface="IRANSans"/>
              </a:rPr>
              <a:t>۵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43319" y="3493008"/>
            <a:ext cx="4340199" cy="859536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pPr rtl="1"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1B4965"/>
                </a:solidFill>
                <a:latin typeface="IRANSans"/>
                <a:cs typeface="IRANSans"/>
                <a:ea typeface="IRANSans"/>
              </a:rPr>
              <a:t>خطا پنهان می‌شود</a:t>
            </a:r>
          </a:p>
          <a:p>
            <a:pPr rtl="1" algn="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5A6B77"/>
                </a:solidFill>
                <a:latin typeface="IRANSans"/>
                <a:cs typeface="IRANSans"/>
                <a:ea typeface="IRANSans"/>
              </a:rPr>
              <a:t>چون به‌جای درس، دنبال مقصر می‌گردیم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66928" y="3493008"/>
            <a:ext cx="5400903" cy="859536"/>
          </a:xfrm>
          <a:prstGeom prst="roundRect">
            <a:avLst>
              <a:gd name="adj" fmla="val 11000"/>
            </a:avLst>
          </a:prstGeom>
          <a:solidFill>
            <a:srgbClr val="FFFFFF"/>
          </a:solidFill>
          <a:ln w="12700">
            <a:solidFill>
              <a:srgbClr val="D8E2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5894679" y="3493008"/>
            <a:ext cx="73152" cy="859536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5236311" y="3721608"/>
            <a:ext cx="384048" cy="384048"/>
          </a:xfrm>
          <a:prstGeom prst="ellipse">
            <a:avLst/>
          </a:prstGeom>
          <a:solidFill>
            <a:srgbClr val="FDEE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C0392B"/>
                </a:solidFill>
                <a:latin typeface="IRANSans"/>
                <a:cs typeface="IRANSans"/>
                <a:ea typeface="IRANSans"/>
              </a:rPr>
              <a:t>۶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86384" y="3493008"/>
            <a:ext cx="4340199" cy="859536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pPr rtl="1"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1B4965"/>
                </a:solidFill>
                <a:latin typeface="IRANSans"/>
                <a:cs typeface="IRANSans"/>
                <a:ea typeface="IRANSans"/>
              </a:rPr>
              <a:t>جلسه یعنی گزارش‌دهی</a:t>
            </a:r>
          </a:p>
          <a:p>
            <a:pPr rtl="1" algn="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5A6B77"/>
                </a:solidFill>
                <a:latin typeface="IRANSans"/>
                <a:cs typeface="IRANSans"/>
                <a:ea typeface="IRANSans"/>
              </a:rPr>
              <a:t>نه حل مسئله مشترک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66928" y="4626864"/>
            <a:ext cx="11057839" cy="731520"/>
          </a:xfrm>
          <a:prstGeom prst="roundRect">
            <a:avLst>
              <a:gd name="adj" fmla="val 10000"/>
            </a:avLst>
          </a:prstGeom>
          <a:solidFill>
            <a:srgbClr val="1B49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11542471" y="4626864"/>
            <a:ext cx="82296" cy="731520"/>
          </a:xfrm>
          <a:prstGeom prst="rect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77824" y="4626864"/>
            <a:ext cx="10436047" cy="731520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pPr rtl="1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FFFFFF"/>
                </a:solidFill>
                <a:latin typeface="IRANSans"/>
                <a:cs typeface="IRANSans"/>
                <a:ea typeface="IRANSans"/>
              </a:rPr>
              <a:t>هیچ‌کدام از این‌ها نشانه بی‌کفایتی نیست — </a:t>
            </a:r>
            <a:r>
              <a:rPr sz="1950" b="1">
                <a:solidFill>
                  <a:srgbClr val="FF6B35"/>
                </a:solidFill>
                <a:latin typeface="IRANSans"/>
                <a:cs typeface="IRANSans"/>
                <a:ea typeface="IRANSans"/>
              </a:rPr>
              <a:t>نشانه یک سیستم قدیمی است.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66928" y="5522976"/>
            <a:ext cx="11057839" cy="658368"/>
          </a:xfrm>
          <a:prstGeom prst="rect">
            <a:avLst/>
          </a:prstGeom>
          <a:noFill/>
        </p:spPr>
        <p:txBody>
          <a:bodyPr wrap="square" lIns="36576" rIns="36576" tIns="0" bIns="0" anchor="t">
            <a:spAutoFit/>
          </a:bodyPr>
          <a:lstStyle/>
          <a:p>
            <a:pPr rtl="1"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1B4965"/>
                </a:solidFill>
                <a:latin typeface="IRANSans"/>
                <a:cs typeface="IRANSans"/>
                <a:ea typeface="IRANSans"/>
              </a:rPr>
              <a:t>و سیستم را نمی‌شود با بخشنامه عوض کرد؛ با تغییر رفتار روزمره آدم‌ها عوض می‌شود.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66928" y="6382512"/>
            <a:ext cx="3657600" cy="274320"/>
          </a:xfrm>
          <a:prstGeom prst="rect">
            <a:avLst/>
          </a:prstGeom>
          <a:noFill/>
        </p:spPr>
        <p:txBody>
          <a:bodyPr wrap="square" lIns="36576" rIns="36576" tIns="0" bIns="0" anchor="t">
            <a:spAutoFit/>
          </a:bodyPr>
          <a:lstStyle/>
          <a:p>
            <a:pPr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5A6B77"/>
                </a:solidFill>
                <a:latin typeface="IRANSans"/>
                <a:cs typeface="IRANSans"/>
                <a:ea typeface="IRANSans"/>
              </a:rPr>
              <a:t>توسعه سازمانی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161727" y="6382512"/>
            <a:ext cx="1463040" cy="274320"/>
          </a:xfrm>
          <a:prstGeom prst="rect">
            <a:avLst/>
          </a:prstGeom>
          <a:noFill/>
        </p:spPr>
        <p:txBody>
          <a:bodyPr wrap="square" lIns="36576" rIns="36576" tIns="0" bIns="0" anchor="t">
            <a:spAutoFit/>
          </a:bodyPr>
          <a:lstStyle/>
          <a:p>
            <a:pPr rt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5A6B77"/>
                </a:solidFill>
                <a:latin typeface="IRANSans"/>
                <a:cs typeface="IRANSans"/>
                <a:ea typeface="IRANSans"/>
              </a:rPr>
              <a:t>۸ / ۳۰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1057839" cy="310896"/>
          </a:xfrm>
          <a:prstGeom prst="rect">
            <a:avLst/>
          </a:prstGeom>
          <a:noFill/>
        </p:spPr>
        <p:txBody>
          <a:bodyPr wrap="square" lIns="36576" rIns="36576" tIns="0" bIns="0" anchor="t">
            <a:spAutoFit/>
          </a:bodyPr>
          <a:lstStyle/>
          <a:p>
            <a:pPr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>
                <a:solidFill>
                  <a:srgbClr val="FF6B35"/>
                </a:solidFill>
                <a:latin typeface="IRANSans"/>
                <a:cs typeface="IRANSans"/>
                <a:ea typeface="IRANSans"/>
              </a:rPr>
              <a:t>چهار گام، به ترتیب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21792"/>
            <a:ext cx="11057839" cy="640080"/>
          </a:xfrm>
          <a:prstGeom prst="rect">
            <a:avLst/>
          </a:prstGeom>
          <a:noFill/>
        </p:spPr>
        <p:txBody>
          <a:bodyPr wrap="square" lIns="36576" rIns="36576" tIns="0" bIns="0" anchor="t">
            <a:spAutoFit/>
          </a:bodyPr>
          <a:lstStyle/>
          <a:p>
            <a:pPr rtl="1"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100" b="1">
                <a:solidFill>
                  <a:srgbClr val="1B4965"/>
                </a:solidFill>
                <a:latin typeface="IRANSans"/>
                <a:cs typeface="IRANSans"/>
                <a:ea typeface="IRANSans"/>
              </a:rPr>
              <a:t>مسیر گذار به موج بالاتر</a:t>
            </a:r>
          </a:p>
        </p:txBody>
      </p:sp>
      <p:sp>
        <p:nvSpPr>
          <p:cNvPr id="5" name="Rectangle 4"/>
          <p:cNvSpPr/>
          <p:nvPr/>
        </p:nvSpPr>
        <p:spPr>
          <a:xfrm>
            <a:off x="10527487" y="1243584"/>
            <a:ext cx="1097280" cy="57150"/>
          </a:xfrm>
          <a:prstGeom prst="rect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w2-control.jpg"/>
          <p:cNvPicPr>
            <a:picLocks noChangeAspect="1"/>
          </p:cNvPicPr>
          <p:nvPr/>
        </p:nvPicPr>
        <p:blipFill>
          <a:blip r:embed="rId2"/>
          <a:srcRect t="6813" b="6813"/>
          <a:stretch>
            <a:fillRect/>
          </a:stretch>
        </p:blipFill>
        <p:spPr>
          <a:xfrm>
            <a:off x="566928" y="1517904"/>
            <a:ext cx="4160520" cy="2395728"/>
          </a:xfrm>
          <a:prstGeom prst="round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566928" y="3346704"/>
            <a:ext cx="4160520" cy="566928"/>
          </a:xfrm>
          <a:prstGeom prst="rect">
            <a:avLst/>
          </a:prstGeom>
          <a:solidFill>
            <a:srgbClr val="0E2C40">
              <a:alpha val="7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9808" y="3346704"/>
            <a:ext cx="3794760" cy="566928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pPr rtl="1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IRANSans"/>
                <a:cs typeface="IRANSans"/>
                <a:ea typeface="IRANSans"/>
              </a:rPr>
              <a:t>موج سوم یعنی تصمیم، نزدیک به محل کار گرفته شود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6928" y="4059936"/>
            <a:ext cx="4160520" cy="2139696"/>
          </a:xfrm>
          <a:prstGeom prst="roundRect">
            <a:avLst>
              <a:gd name="adj" fmla="val 4500"/>
            </a:avLst>
          </a:prstGeom>
          <a:solidFill>
            <a:srgbClr val="1B49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645152" y="4059936"/>
            <a:ext cx="82296" cy="2139696"/>
          </a:xfrm>
          <a:prstGeom prst="rect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4261104"/>
            <a:ext cx="3657600" cy="1783080"/>
          </a:xfrm>
          <a:prstGeom prst="rect">
            <a:avLst/>
          </a:prstGeom>
          <a:noFill/>
        </p:spPr>
        <p:txBody>
          <a:bodyPr wrap="square" lIns="36576" rIns="36576" tIns="0" bIns="0" anchor="t">
            <a:spAutoFit/>
          </a:bodyPr>
          <a:lstStyle/>
          <a:p>
            <a:pPr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>
                <a:solidFill>
                  <a:srgbClr val="FF6B35"/>
                </a:solidFill>
                <a:latin typeface="IRANSans"/>
                <a:cs typeface="IRANSans"/>
                <a:ea typeface="IRANSans"/>
              </a:rPr>
              <a:t>چرا از گام ۱ شروع می‌کنیم؟</a:t>
            </a:r>
          </a:p>
          <a:p>
            <a:pPr rtl="1" algn="r">
              <a:lnSpc>
                <a:spcPct val="130000"/>
              </a:lnSpc>
              <a:spcBef>
                <a:spcPts val="900"/>
              </a:spcBef>
              <a:spcAft>
                <a:spcPts val="0"/>
              </a:spcAft>
            </a:pPr>
            <a:r>
              <a:rPr sz="1600" b="0">
                <a:solidFill>
                  <a:srgbClr val="FFFFFF"/>
                </a:solidFill>
                <a:latin typeface="IRANSans"/>
                <a:cs typeface="IRANSans"/>
                <a:ea typeface="IRANSans"/>
              </a:rPr>
              <a:t>چون سه گام بعدی بدون تغییر رفتار روزمره، فقط سند و نمودار می‌ماند.</a:t>
            </a:r>
          </a:p>
          <a:p>
            <a:pPr rtl="1" algn="r">
              <a:lnSpc>
                <a:spcPct val="128000"/>
              </a:lnSpc>
              <a:spcBef>
                <a:spcPts val="700"/>
              </a:spcBef>
              <a:spcAft>
                <a:spcPts val="0"/>
              </a:spcAft>
            </a:pPr>
            <a:r>
              <a:rPr sz="1500" b="0">
                <a:solidFill>
                  <a:srgbClr val="ECF3F7"/>
                </a:solidFill>
                <a:latin typeface="IRANSans"/>
                <a:cs typeface="IRANSans"/>
                <a:ea typeface="IRANSans"/>
              </a:rPr>
              <a:t>ارزان‌ترین و سریع‌ترین گام هم همین اولی است.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111496" y="1517904"/>
            <a:ext cx="6513271" cy="1024128"/>
          </a:xfrm>
          <a:prstGeom prst="roundRect">
            <a:avLst>
              <a:gd name="adj" fmla="val 11000"/>
            </a:avLst>
          </a:prstGeom>
          <a:solidFill>
            <a:srgbClr val="FFF3EC"/>
          </a:solidFill>
          <a:ln w="25400">
            <a:solidFill>
              <a:srgbClr val="FF6B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551615" y="1517904"/>
            <a:ext cx="73152" cy="1024128"/>
          </a:xfrm>
          <a:prstGeom prst="rect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838383" y="1810512"/>
            <a:ext cx="420624" cy="420624"/>
          </a:xfrm>
          <a:prstGeom prst="ellipse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IRANSans"/>
                <a:cs typeface="IRANSans"/>
                <a:ea typeface="IRANSans"/>
              </a:rPr>
              <a:t>۱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49240" y="1572768"/>
            <a:ext cx="5379415" cy="914400"/>
          </a:xfrm>
          <a:prstGeom prst="rect">
            <a:avLst/>
          </a:prstGeom>
          <a:noFill/>
        </p:spPr>
        <p:txBody>
          <a:bodyPr wrap="square" lIns="36576" rIns="36576" tIns="0" bIns="0" anchor="t">
            <a:spAutoFit/>
          </a:bodyPr>
          <a:lstStyle/>
          <a:p>
            <a:pPr rtl="1"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FF6B35"/>
                </a:solidFill>
                <a:latin typeface="IRANSans"/>
                <a:cs typeface="IRANSans"/>
                <a:ea typeface="IRANSans"/>
              </a:rPr>
              <a:t>تغییر رفتار یادگیری</a:t>
            </a:r>
            <a:r>
              <a:rPr sz="1350" b="1">
                <a:solidFill>
                  <a:srgbClr val="FF6B35"/>
                </a:solidFill>
                <a:latin typeface="IRANSans"/>
                <a:cs typeface="IRANSans"/>
                <a:ea typeface="IRANSans"/>
              </a:rPr>
              <a:t>     ← از اینجا شروع می‌کنیم</a:t>
            </a:r>
          </a:p>
          <a:p>
            <a:pPr rtl="1" algn="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>
                <a:solidFill>
                  <a:srgbClr val="5A6B77"/>
                </a:solidFill>
                <a:latin typeface="IRANSans"/>
                <a:cs typeface="IRANSans"/>
                <a:ea typeface="IRANSans"/>
              </a:rPr>
              <a:t>از «کلاس رفتن» به «از هم یاد گرفتن»</a:t>
            </a:r>
          </a:p>
          <a:p>
            <a:pPr rtl="1"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FF6B35"/>
                </a:solidFill>
                <a:latin typeface="IRANSans"/>
                <a:cs typeface="IRANSans"/>
                <a:ea typeface="IRANSans"/>
              </a:rPr>
              <a:t>ابزار: منتورینگ گروهی، بازخورد همتا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111496" y="2633472"/>
            <a:ext cx="6513271" cy="1024128"/>
          </a:xfrm>
          <a:prstGeom prst="roundRect">
            <a:avLst>
              <a:gd name="adj" fmla="val 11000"/>
            </a:avLst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551615" y="2633472"/>
            <a:ext cx="73152" cy="1024128"/>
          </a:xfrm>
          <a:prstGeom prst="rect">
            <a:avLst/>
          </a:prstGeom>
          <a:solidFill>
            <a:srgbClr val="2A6F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838383" y="2926080"/>
            <a:ext cx="420624" cy="420624"/>
          </a:xfrm>
          <a:prstGeom prst="ellipse">
            <a:avLst/>
          </a:prstGeom>
          <a:solidFill>
            <a:srgbClr val="2A6F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IRANSans"/>
                <a:cs typeface="IRANSans"/>
                <a:ea typeface="IRANSans"/>
              </a:rPr>
              <a:t>۲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49240" y="2688336"/>
            <a:ext cx="5379415" cy="914400"/>
          </a:xfrm>
          <a:prstGeom prst="rect">
            <a:avLst/>
          </a:prstGeom>
          <a:noFill/>
        </p:spPr>
        <p:txBody>
          <a:bodyPr wrap="square" lIns="36576" rIns="36576" tIns="0" bIns="0" anchor="t">
            <a:spAutoFit/>
          </a:bodyPr>
          <a:lstStyle/>
          <a:p>
            <a:pPr rtl="1"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1B4965"/>
                </a:solidFill>
                <a:latin typeface="IRANSans"/>
                <a:cs typeface="IRANSans"/>
                <a:ea typeface="IRANSans"/>
              </a:rPr>
              <a:t>ثبت و گردش دانش</a:t>
            </a:r>
          </a:p>
          <a:p>
            <a:pPr rtl="1" algn="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>
                <a:solidFill>
                  <a:srgbClr val="5A6B77"/>
                </a:solidFill>
                <a:latin typeface="IRANSans"/>
                <a:cs typeface="IRANSans"/>
                <a:ea typeface="IRANSans"/>
              </a:rPr>
              <a:t>تجربه ضمنی افراد، دارایی سازمان شود</a:t>
            </a:r>
          </a:p>
          <a:p>
            <a:pPr rtl="1"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2A6F97"/>
                </a:solidFill>
                <a:latin typeface="IRANSans"/>
                <a:cs typeface="IRANSans"/>
                <a:ea typeface="IRANSans"/>
              </a:rPr>
              <a:t>ابزار: مستندسازی درس‌آموخته‌ها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111496" y="3749040"/>
            <a:ext cx="6513271" cy="1024128"/>
          </a:xfrm>
          <a:prstGeom prst="roundRect">
            <a:avLst>
              <a:gd name="adj" fmla="val 11000"/>
            </a:avLst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1551615" y="3749040"/>
            <a:ext cx="73152" cy="1024128"/>
          </a:xfrm>
          <a:prstGeom prst="rect">
            <a:avLst/>
          </a:prstGeom>
          <a:solidFill>
            <a:srgbClr val="2A6F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10838383" y="4041648"/>
            <a:ext cx="420624" cy="420624"/>
          </a:xfrm>
          <a:prstGeom prst="ellipse">
            <a:avLst/>
          </a:prstGeom>
          <a:solidFill>
            <a:srgbClr val="2A6F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IRANSans"/>
                <a:cs typeface="IRANSans"/>
                <a:ea typeface="IRANSans"/>
              </a:rPr>
              <a:t>۳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49240" y="3803904"/>
            <a:ext cx="5379415" cy="914400"/>
          </a:xfrm>
          <a:prstGeom prst="rect">
            <a:avLst/>
          </a:prstGeom>
          <a:noFill/>
        </p:spPr>
        <p:txBody>
          <a:bodyPr wrap="square" lIns="36576" rIns="36576" tIns="0" bIns="0" anchor="t">
            <a:spAutoFit/>
          </a:bodyPr>
          <a:lstStyle/>
          <a:p>
            <a:pPr rtl="1"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1B4965"/>
                </a:solidFill>
                <a:latin typeface="IRANSans"/>
                <a:cs typeface="IRANSans"/>
                <a:ea typeface="IRANSans"/>
              </a:rPr>
              <a:t>توزیع اختیار تصمیم</a:t>
            </a:r>
          </a:p>
          <a:p>
            <a:pPr rtl="1" algn="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>
                <a:solidFill>
                  <a:srgbClr val="5A6B77"/>
                </a:solidFill>
                <a:latin typeface="IRANSans"/>
                <a:cs typeface="IRANSans"/>
                <a:ea typeface="IRANSans"/>
              </a:rPr>
              <a:t>تصمیم نزدیک به محل کار گرفته شود</a:t>
            </a:r>
          </a:p>
          <a:p>
            <a:pPr rtl="1"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2A6F97"/>
                </a:solidFill>
                <a:latin typeface="IRANSans"/>
                <a:cs typeface="IRANSans"/>
                <a:ea typeface="IRANSans"/>
              </a:rPr>
              <a:t>ابزار: تیم‌های حل مسئله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111496" y="4864608"/>
            <a:ext cx="6513271" cy="1024128"/>
          </a:xfrm>
          <a:prstGeom prst="roundRect">
            <a:avLst>
              <a:gd name="adj" fmla="val 11000"/>
            </a:avLst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11551615" y="4864608"/>
            <a:ext cx="73152" cy="1024128"/>
          </a:xfrm>
          <a:prstGeom prst="rect">
            <a:avLst/>
          </a:prstGeom>
          <a:solidFill>
            <a:srgbClr val="8E44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10838383" y="5157216"/>
            <a:ext cx="420624" cy="420624"/>
          </a:xfrm>
          <a:prstGeom prst="ellipse">
            <a:avLst/>
          </a:prstGeom>
          <a:solidFill>
            <a:srgbClr val="8E44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IRANSans"/>
                <a:cs typeface="IRANSans"/>
                <a:ea typeface="IRANSans"/>
              </a:rPr>
              <a:t>۴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349240" y="4919472"/>
            <a:ext cx="5379415" cy="914400"/>
          </a:xfrm>
          <a:prstGeom prst="rect">
            <a:avLst/>
          </a:prstGeom>
          <a:noFill/>
        </p:spPr>
        <p:txBody>
          <a:bodyPr wrap="square" lIns="36576" rIns="36576" tIns="0" bIns="0" anchor="t">
            <a:spAutoFit/>
          </a:bodyPr>
          <a:lstStyle/>
          <a:p>
            <a:pPr rtl="1"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1B4965"/>
                </a:solidFill>
                <a:latin typeface="IRANSans"/>
                <a:cs typeface="IRANSans"/>
                <a:ea typeface="IRANSans"/>
              </a:rPr>
              <a:t>ساختار چابک</a:t>
            </a:r>
          </a:p>
          <a:p>
            <a:pPr rtl="1" algn="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>
                <a:solidFill>
                  <a:srgbClr val="5A6B77"/>
                </a:solidFill>
                <a:latin typeface="IRANSans"/>
                <a:cs typeface="IRANSans"/>
                <a:ea typeface="IRANSans"/>
              </a:rPr>
              <a:t>چرخه‌های کوتاه، بازنگری منظم</a:t>
            </a:r>
          </a:p>
          <a:p>
            <a:pPr rtl="1"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8E44AD"/>
                </a:solidFill>
                <a:latin typeface="IRANSans"/>
                <a:cs typeface="IRANSans"/>
                <a:ea typeface="IRANSans"/>
              </a:rPr>
              <a:t>ابزار: بازطراحی فرایندها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66928" y="6382512"/>
            <a:ext cx="3657600" cy="274320"/>
          </a:xfrm>
          <a:prstGeom prst="rect">
            <a:avLst/>
          </a:prstGeom>
          <a:noFill/>
        </p:spPr>
        <p:txBody>
          <a:bodyPr wrap="square" lIns="36576" rIns="36576" tIns="0" bIns="0" anchor="t">
            <a:spAutoFit/>
          </a:bodyPr>
          <a:lstStyle/>
          <a:p>
            <a:pPr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5A6B77"/>
                </a:solidFill>
                <a:latin typeface="IRANSans"/>
                <a:cs typeface="IRANSans"/>
                <a:ea typeface="IRANSans"/>
              </a:rPr>
              <a:t>توسعه سازمانی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161727" y="6382512"/>
            <a:ext cx="1463040" cy="274320"/>
          </a:xfrm>
          <a:prstGeom prst="rect">
            <a:avLst/>
          </a:prstGeom>
          <a:noFill/>
        </p:spPr>
        <p:txBody>
          <a:bodyPr wrap="square" lIns="36576" rIns="36576" tIns="0" bIns="0" anchor="t">
            <a:spAutoFit/>
          </a:bodyPr>
          <a:lstStyle/>
          <a:p>
            <a:pPr rt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5A6B77"/>
                </a:solidFill>
                <a:latin typeface="IRANSans"/>
                <a:cs typeface="IRANSans"/>
                <a:ea typeface="IRANSans"/>
              </a:rPr>
              <a:t>۹ / ۳۰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1057839" cy="310896"/>
          </a:xfrm>
          <a:prstGeom prst="rect">
            <a:avLst/>
          </a:prstGeom>
          <a:noFill/>
        </p:spPr>
        <p:txBody>
          <a:bodyPr wrap="square" lIns="36576" rIns="36576" tIns="0" bIns="0" anchor="t">
            <a:spAutoFit/>
          </a:bodyPr>
          <a:lstStyle/>
          <a:p>
            <a:pPr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>
                <a:solidFill>
                  <a:srgbClr val="FF6B35"/>
                </a:solidFill>
                <a:latin typeface="IRANSans"/>
                <a:cs typeface="IRANSans"/>
                <a:ea typeface="IRANSans"/>
              </a:rPr>
              <a:t>سه حلقه به‌هم‌پیوسته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21792"/>
            <a:ext cx="11057839" cy="640080"/>
          </a:xfrm>
          <a:prstGeom prst="rect">
            <a:avLst/>
          </a:prstGeom>
          <a:noFill/>
        </p:spPr>
        <p:txBody>
          <a:bodyPr wrap="square" lIns="36576" rIns="36576" tIns="0" bIns="0" anchor="t">
            <a:spAutoFit/>
          </a:bodyPr>
          <a:lstStyle/>
          <a:p>
            <a:pPr rtl="1"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100" b="1">
                <a:solidFill>
                  <a:srgbClr val="1B4965"/>
                </a:solidFill>
                <a:latin typeface="IRANSans"/>
                <a:cs typeface="IRANSans"/>
                <a:ea typeface="IRANSans"/>
              </a:rPr>
              <a:t>چرا توسعه فردی، مقدمه توسعه سازمانی است</a:t>
            </a:r>
          </a:p>
        </p:txBody>
      </p:sp>
      <p:sp>
        <p:nvSpPr>
          <p:cNvPr id="5" name="Rectangle 4"/>
          <p:cNvSpPr/>
          <p:nvPr/>
        </p:nvSpPr>
        <p:spPr>
          <a:xfrm>
            <a:off x="10527487" y="1243584"/>
            <a:ext cx="1097280" cy="57150"/>
          </a:xfrm>
          <a:prstGeom prst="rect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121700" y="1536192"/>
            <a:ext cx="3503066" cy="2487168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2700">
            <a:solidFill>
              <a:srgbClr val="D8E2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121700" y="1536192"/>
            <a:ext cx="3503066" cy="64008"/>
          </a:xfrm>
          <a:prstGeom prst="rect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9452609" y="1810512"/>
            <a:ext cx="841248" cy="841248"/>
          </a:xfrm>
          <a:prstGeom prst="ellipse">
            <a:avLst/>
          </a:prstGeom>
          <a:solidFill>
            <a:srgbClr val="FFF3EC"/>
          </a:solidFill>
          <a:ln w="31750">
            <a:solidFill>
              <a:srgbClr val="FF6B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>
                <a:solidFill>
                  <a:srgbClr val="FF6B35"/>
                </a:solidFill>
                <a:latin typeface="IRANSans"/>
                <a:cs typeface="IRANSans"/>
                <a:ea typeface="IRANSans"/>
              </a:rPr>
              <a:t>من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68004" y="2761488"/>
            <a:ext cx="3210458" cy="402336"/>
          </a:xfrm>
          <a:prstGeom prst="rect">
            <a:avLst/>
          </a:prstGeom>
          <a:noFill/>
        </p:spPr>
        <p:txBody>
          <a:bodyPr wrap="square" lIns="36576" rIns="36576" tIns="0" bIns="0" anchor="t">
            <a:spAutoFit/>
          </a:bodyPr>
          <a:lstStyle/>
          <a:p>
            <a:pPr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FF6B35"/>
                </a:solidFill>
                <a:latin typeface="IRANSans"/>
                <a:cs typeface="IRANSans"/>
                <a:ea typeface="IRANSans"/>
              </a:rPr>
              <a:t>فرد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86292" y="3200400"/>
            <a:ext cx="3173882" cy="274320"/>
          </a:xfrm>
          <a:prstGeom prst="rect">
            <a:avLst/>
          </a:prstGeom>
          <a:noFill/>
        </p:spPr>
        <p:txBody>
          <a:bodyPr wrap="square" lIns="36576" rIns="36576" tIns="0" bIns="0" anchor="t">
            <a:spAutoFit/>
          </a:bodyPr>
          <a:lstStyle/>
          <a:p>
            <a:pPr rtl="1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1F2D38"/>
                </a:solidFill>
                <a:latin typeface="IRANSans"/>
                <a:cs typeface="IRANSans"/>
                <a:ea typeface="IRANSans"/>
              </a:rPr>
              <a:t>مهارت پرسیدن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86292" y="3474720"/>
            <a:ext cx="3173882" cy="274320"/>
          </a:xfrm>
          <a:prstGeom prst="rect">
            <a:avLst/>
          </a:prstGeom>
          <a:noFill/>
        </p:spPr>
        <p:txBody>
          <a:bodyPr wrap="square" lIns="36576" rIns="36576" tIns="0" bIns="0" anchor="t">
            <a:spAutoFit/>
          </a:bodyPr>
          <a:lstStyle/>
          <a:p>
            <a:pPr rtl="1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1F2D38"/>
                </a:solidFill>
                <a:latin typeface="IRANSans"/>
                <a:cs typeface="IRANSans"/>
                <a:ea typeface="IRANSans"/>
              </a:rPr>
              <a:t>تأمل بر تجربه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86292" y="3749040"/>
            <a:ext cx="3173882" cy="274320"/>
          </a:xfrm>
          <a:prstGeom prst="rect">
            <a:avLst/>
          </a:prstGeom>
          <a:noFill/>
        </p:spPr>
        <p:txBody>
          <a:bodyPr wrap="square" lIns="36576" rIns="36576" tIns="0" bIns="0" anchor="t">
            <a:spAutoFit/>
          </a:bodyPr>
          <a:lstStyle/>
          <a:p>
            <a:pPr rtl="1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1F2D38"/>
                </a:solidFill>
                <a:latin typeface="IRANSans"/>
                <a:cs typeface="IRANSans"/>
                <a:ea typeface="IRANSans"/>
              </a:rPr>
              <a:t>پذیرش بازخورد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44314" y="1536192"/>
            <a:ext cx="3503066" cy="2487168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2700">
            <a:solidFill>
              <a:srgbClr val="D8E2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344314" y="1536192"/>
            <a:ext cx="3503066" cy="64008"/>
          </a:xfrm>
          <a:prstGeom prst="rect">
            <a:avLst/>
          </a:prstGeom>
          <a:solidFill>
            <a:srgbClr val="2A6F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5675223" y="1810512"/>
            <a:ext cx="841248" cy="841248"/>
          </a:xfrm>
          <a:prstGeom prst="ellipse">
            <a:avLst/>
          </a:prstGeom>
          <a:solidFill>
            <a:srgbClr val="ECF3F7"/>
          </a:solidFill>
          <a:ln w="3175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>
                <a:solidFill>
                  <a:srgbClr val="2A6F97"/>
                </a:solidFill>
                <a:latin typeface="IRANSans"/>
                <a:cs typeface="IRANSans"/>
                <a:ea typeface="IRANSans"/>
              </a:rPr>
              <a:t>ما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90618" y="2761488"/>
            <a:ext cx="3210458" cy="402336"/>
          </a:xfrm>
          <a:prstGeom prst="rect">
            <a:avLst/>
          </a:prstGeom>
          <a:noFill/>
        </p:spPr>
        <p:txBody>
          <a:bodyPr wrap="square" lIns="36576" rIns="36576" tIns="0" bIns="0" anchor="t">
            <a:spAutoFit/>
          </a:bodyPr>
          <a:lstStyle/>
          <a:p>
            <a:pPr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2A6F97"/>
                </a:solidFill>
                <a:latin typeface="IRANSans"/>
                <a:cs typeface="IRANSans"/>
                <a:ea typeface="IRANSans"/>
              </a:rPr>
              <a:t>تیم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08906" y="3200400"/>
            <a:ext cx="3173882" cy="274320"/>
          </a:xfrm>
          <a:prstGeom prst="rect">
            <a:avLst/>
          </a:prstGeom>
          <a:noFill/>
        </p:spPr>
        <p:txBody>
          <a:bodyPr wrap="square" lIns="36576" rIns="36576" tIns="0" bIns="0" anchor="t">
            <a:spAutoFit/>
          </a:bodyPr>
          <a:lstStyle/>
          <a:p>
            <a:pPr rtl="1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1F2D38"/>
                </a:solidFill>
                <a:latin typeface="IRANSans"/>
                <a:cs typeface="IRANSans"/>
                <a:ea typeface="IRANSans"/>
              </a:rPr>
              <a:t>اعتماد و فضای امن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08906" y="3474720"/>
            <a:ext cx="3173882" cy="274320"/>
          </a:xfrm>
          <a:prstGeom prst="rect">
            <a:avLst/>
          </a:prstGeom>
          <a:noFill/>
        </p:spPr>
        <p:txBody>
          <a:bodyPr wrap="square" lIns="36576" rIns="36576" tIns="0" bIns="0" anchor="t">
            <a:spAutoFit/>
          </a:bodyPr>
          <a:lstStyle/>
          <a:p>
            <a:pPr rtl="1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1F2D38"/>
                </a:solidFill>
                <a:latin typeface="IRANSans"/>
                <a:cs typeface="IRANSans"/>
                <a:ea typeface="IRANSans"/>
              </a:rPr>
              <a:t>حل مسئله مشترک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08906" y="3749040"/>
            <a:ext cx="3173882" cy="274320"/>
          </a:xfrm>
          <a:prstGeom prst="rect">
            <a:avLst/>
          </a:prstGeom>
          <a:noFill/>
        </p:spPr>
        <p:txBody>
          <a:bodyPr wrap="square" lIns="36576" rIns="36576" tIns="0" bIns="0" anchor="t">
            <a:spAutoFit/>
          </a:bodyPr>
          <a:lstStyle/>
          <a:p>
            <a:pPr rtl="1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1F2D38"/>
                </a:solidFill>
                <a:latin typeface="IRANSans"/>
                <a:cs typeface="IRANSans"/>
                <a:ea typeface="IRANSans"/>
              </a:rPr>
              <a:t>یادگیری از خطا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7" y="1536192"/>
            <a:ext cx="3503066" cy="2487168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2700">
            <a:solidFill>
              <a:srgbClr val="D8E2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66927" y="1536192"/>
            <a:ext cx="3503066" cy="64008"/>
          </a:xfrm>
          <a:prstGeom prst="rect">
            <a:avLst/>
          </a:prstGeom>
          <a:solidFill>
            <a:srgbClr val="1E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1897837" y="1810512"/>
            <a:ext cx="841248" cy="841248"/>
          </a:xfrm>
          <a:prstGeom prst="ellipse">
            <a:avLst/>
          </a:prstGeom>
          <a:solidFill>
            <a:srgbClr val="E8F6EF"/>
          </a:solidFill>
          <a:ln w="31750">
            <a:solidFill>
              <a:srgbClr val="1E8E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>
                <a:solidFill>
                  <a:srgbClr val="1E8E5A"/>
                </a:solidFill>
                <a:latin typeface="IRANSans"/>
                <a:cs typeface="IRANSans"/>
                <a:ea typeface="IRANSans"/>
              </a:rPr>
              <a:t>همه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13231" y="2761488"/>
            <a:ext cx="3210458" cy="402336"/>
          </a:xfrm>
          <a:prstGeom prst="rect">
            <a:avLst/>
          </a:prstGeom>
          <a:noFill/>
        </p:spPr>
        <p:txBody>
          <a:bodyPr wrap="square" lIns="36576" rIns="36576" tIns="0" bIns="0" anchor="t">
            <a:spAutoFit/>
          </a:bodyPr>
          <a:lstStyle/>
          <a:p>
            <a:pPr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E8E5A"/>
                </a:solidFill>
                <a:latin typeface="IRANSans"/>
                <a:cs typeface="IRANSans"/>
                <a:ea typeface="IRANSans"/>
              </a:rPr>
              <a:t>سازمان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19" y="3200400"/>
            <a:ext cx="3173882" cy="274320"/>
          </a:xfrm>
          <a:prstGeom prst="rect">
            <a:avLst/>
          </a:prstGeom>
          <a:noFill/>
        </p:spPr>
        <p:txBody>
          <a:bodyPr wrap="square" lIns="36576" rIns="36576" tIns="0" bIns="0" anchor="t">
            <a:spAutoFit/>
          </a:bodyPr>
          <a:lstStyle/>
          <a:p>
            <a:pPr rtl="1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1F2D38"/>
                </a:solidFill>
                <a:latin typeface="IRANSans"/>
                <a:cs typeface="IRANSans"/>
                <a:ea typeface="IRANSans"/>
              </a:rPr>
              <a:t>گردش دانش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1519" y="3474720"/>
            <a:ext cx="3173882" cy="274320"/>
          </a:xfrm>
          <a:prstGeom prst="rect">
            <a:avLst/>
          </a:prstGeom>
          <a:noFill/>
        </p:spPr>
        <p:txBody>
          <a:bodyPr wrap="square" lIns="36576" rIns="36576" tIns="0" bIns="0" anchor="t">
            <a:spAutoFit/>
          </a:bodyPr>
          <a:lstStyle/>
          <a:p>
            <a:pPr rtl="1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1F2D38"/>
                </a:solidFill>
                <a:latin typeface="IRANSans"/>
                <a:cs typeface="IRANSans"/>
                <a:ea typeface="IRANSans"/>
              </a:rPr>
              <a:t>تصمیم توزیع‌شده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1519" y="3749040"/>
            <a:ext cx="3173882" cy="274320"/>
          </a:xfrm>
          <a:prstGeom prst="rect">
            <a:avLst/>
          </a:prstGeom>
          <a:noFill/>
        </p:spPr>
        <p:txBody>
          <a:bodyPr wrap="square" lIns="36576" rIns="36576" tIns="0" bIns="0" anchor="t">
            <a:spAutoFit/>
          </a:bodyPr>
          <a:lstStyle/>
          <a:p>
            <a:pPr rtl="1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1F2D38"/>
                </a:solidFill>
                <a:latin typeface="IRANSans"/>
                <a:cs typeface="IRANSans"/>
                <a:ea typeface="IRANSans"/>
              </a:rPr>
              <a:t>حافظه سازمانی</a:t>
            </a:r>
          </a:p>
        </p:txBody>
      </p:sp>
      <p:sp>
        <p:nvSpPr>
          <p:cNvPr id="27" name="Left Arrow 26"/>
          <p:cNvSpPr/>
          <p:nvPr/>
        </p:nvSpPr>
        <p:spPr>
          <a:xfrm>
            <a:off x="7746796" y="4169663"/>
            <a:ext cx="201168" cy="182880"/>
          </a:xfrm>
          <a:prstGeom prst="leftArrow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Left Arrow 27"/>
          <p:cNvSpPr/>
          <p:nvPr/>
        </p:nvSpPr>
        <p:spPr>
          <a:xfrm>
            <a:off x="3969410" y="4169663"/>
            <a:ext cx="201168" cy="182880"/>
          </a:xfrm>
          <a:prstGeom prst="leftArrow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566928" y="4590288"/>
            <a:ext cx="11057839" cy="804672"/>
          </a:xfrm>
          <a:prstGeom prst="roundRect">
            <a:avLst>
              <a:gd name="adj" fmla="val 10000"/>
            </a:avLst>
          </a:prstGeom>
          <a:solidFill>
            <a:srgbClr val="1B49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11542471" y="4590288"/>
            <a:ext cx="82296" cy="804672"/>
          </a:xfrm>
          <a:prstGeom prst="rect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77824" y="4590288"/>
            <a:ext cx="10436047" cy="804672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pPr rtl="1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950" b="0">
                <a:solidFill>
                  <a:srgbClr val="FFFFFF"/>
                </a:solidFill>
                <a:latin typeface="IRANSans"/>
                <a:cs typeface="IRANSans"/>
                <a:ea typeface="IRANSans"/>
              </a:rPr>
              <a:t>سازمان یادگیرنده از بالا ابلاغ نمی‌شود — </a:t>
            </a:r>
            <a:r>
              <a:rPr sz="2000" b="1">
                <a:solidFill>
                  <a:srgbClr val="FF6B35"/>
                </a:solidFill>
                <a:latin typeface="IRANSans"/>
                <a:cs typeface="IRANSans"/>
                <a:ea typeface="IRANSans"/>
              </a:rPr>
              <a:t>از یک گفتگوی درست بین دو نفر شروع می‌شود.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251295" y="5541264"/>
            <a:ext cx="5373471" cy="658368"/>
          </a:xfrm>
          <a:prstGeom prst="roundRect">
            <a:avLst>
              <a:gd name="adj" fmla="val 11000"/>
            </a:avLst>
          </a:prstGeom>
          <a:solidFill>
            <a:srgbClr val="FFFFFF"/>
          </a:solidFill>
          <a:ln w="1905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52463" y="5541264"/>
            <a:ext cx="4971135" cy="658368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pPr rtl="1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>
                <a:solidFill>
                  <a:srgbClr val="5A6B77"/>
                </a:solidFill>
                <a:latin typeface="IRANSans"/>
                <a:cs typeface="IRANSans"/>
                <a:ea typeface="IRANSans"/>
              </a:rPr>
              <a:t>اگر فقط فرد رشد کند:  </a:t>
            </a:r>
            <a:r>
              <a:rPr sz="1600" b="1">
                <a:solidFill>
                  <a:srgbClr val="C0392B"/>
                </a:solidFill>
                <a:latin typeface="IRANSans"/>
                <a:cs typeface="IRANSans"/>
                <a:ea typeface="IRANSans"/>
              </a:rPr>
              <a:t>دانش با رفتنش می‌رود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66928" y="5541264"/>
            <a:ext cx="5373471" cy="658368"/>
          </a:xfrm>
          <a:prstGeom prst="roundRect">
            <a:avLst>
              <a:gd name="adj" fmla="val 11000"/>
            </a:avLst>
          </a:prstGeom>
          <a:solidFill>
            <a:srgbClr val="FFFFFF"/>
          </a:solidFill>
          <a:ln w="19050">
            <a:solidFill>
              <a:srgbClr val="1E8E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68096" y="5541264"/>
            <a:ext cx="4971135" cy="658368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pPr rtl="1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>
                <a:solidFill>
                  <a:srgbClr val="5A6B77"/>
                </a:solidFill>
                <a:latin typeface="IRANSans"/>
                <a:cs typeface="IRANSans"/>
                <a:ea typeface="IRANSans"/>
              </a:rPr>
              <a:t>اگر فرد در گروه رشد کند:  </a:t>
            </a:r>
            <a:r>
              <a:rPr sz="1600" b="1">
                <a:solidFill>
                  <a:srgbClr val="1E8E5A"/>
                </a:solidFill>
                <a:latin typeface="IRANSans"/>
                <a:cs typeface="IRANSans"/>
                <a:ea typeface="IRANSans"/>
              </a:rPr>
              <a:t>دانش در سازمان می‌ماند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66928" y="6382512"/>
            <a:ext cx="3657600" cy="274320"/>
          </a:xfrm>
          <a:prstGeom prst="rect">
            <a:avLst/>
          </a:prstGeom>
          <a:noFill/>
        </p:spPr>
        <p:txBody>
          <a:bodyPr wrap="square" lIns="36576" rIns="36576" tIns="0" bIns="0" anchor="t">
            <a:spAutoFit/>
          </a:bodyPr>
          <a:lstStyle/>
          <a:p>
            <a:pPr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5A6B77"/>
                </a:solidFill>
                <a:latin typeface="IRANSans"/>
                <a:cs typeface="IRANSans"/>
                <a:ea typeface="IRANSans"/>
              </a:rPr>
              <a:t>توسعه سازمانی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161727" y="6382512"/>
            <a:ext cx="1463040" cy="274320"/>
          </a:xfrm>
          <a:prstGeom prst="rect">
            <a:avLst/>
          </a:prstGeom>
          <a:noFill/>
        </p:spPr>
        <p:txBody>
          <a:bodyPr wrap="square" lIns="36576" rIns="36576" tIns="0" bIns="0" anchor="t">
            <a:spAutoFit/>
          </a:bodyPr>
          <a:lstStyle/>
          <a:p>
            <a:pPr rt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5A6B77"/>
                </a:solidFill>
                <a:latin typeface="IRANSans"/>
                <a:cs typeface="IRANSans"/>
                <a:ea typeface="IRANSans"/>
              </a:rPr>
              <a:t>۱۰ / ۳۰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1-hands-together.jpg"/>
          <p:cNvPicPr>
            <a:picLocks noChangeAspect="1"/>
          </p:cNvPicPr>
          <p:nvPr/>
        </p:nvPicPr>
        <p:blipFill>
          <a:blip r:embed="rId2"/>
          <a:srcRect t="7811" b="781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0E2C40">
                  <a:alpha val="93000"/>
                </a:srgbClr>
              </a:gs>
              <a:gs pos="100000">
                <a:srgbClr val="1B4965">
                  <a:alpha val="88000"/>
                </a:srgbClr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D94E1F">
                  <a:alpha val="30000"/>
                </a:srgbClr>
              </a:gs>
              <a:gs pos="100000">
                <a:srgbClr val="0E2C40">
                  <a:alpha val="0"/>
                </a:srgbClr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969264"/>
            <a:ext cx="11057839" cy="402336"/>
          </a:xfrm>
          <a:prstGeom prst="rect">
            <a:avLst/>
          </a:prstGeom>
          <a:noFill/>
        </p:spPr>
        <p:txBody>
          <a:bodyPr wrap="square" lIns="36576" rIns="36576" tIns="0" bIns="0" anchor="t">
            <a:spAutoFit/>
          </a:bodyPr>
          <a:lstStyle/>
          <a:p>
            <a:pPr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6B35"/>
                </a:solidFill>
                <a:latin typeface="IRANSans"/>
                <a:cs typeface="IRANSans"/>
                <a:ea typeface="IRANSans"/>
              </a:rPr>
              <a:t>پایان بخش اول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1481328"/>
            <a:ext cx="10180015" cy="1920240"/>
          </a:xfrm>
          <a:prstGeom prst="rect">
            <a:avLst/>
          </a:prstGeom>
          <a:noFill/>
        </p:spPr>
        <p:txBody>
          <a:bodyPr wrap="square" lIns="36576" rIns="36576" tIns="0" bIns="0" anchor="t">
            <a:spAutoFit/>
          </a:bodyPr>
          <a:lstStyle/>
          <a:p>
            <a:pPr rtl="1" algn="ctr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FFFFFF"/>
                </a:solidFill>
                <a:latin typeface="IRANSans"/>
                <a:cs typeface="IRANSans"/>
                <a:ea typeface="IRANSans"/>
              </a:rPr>
              <a:t>تشخیص روشن است.</a:t>
            </a:r>
          </a:p>
          <a:p>
            <a:pPr rtl="1" algn="ctr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3800" b="1">
                <a:solidFill>
                  <a:srgbClr val="FFFFFF"/>
                </a:solidFill>
                <a:latin typeface="IRANSans"/>
                <a:cs typeface="IRANSans"/>
                <a:ea typeface="IRANSans"/>
              </a:rPr>
              <a:t>حالا </a:t>
            </a:r>
            <a:r>
              <a:rPr sz="3800" b="1">
                <a:solidFill>
                  <a:srgbClr val="FF6B35"/>
                </a:solidFill>
                <a:latin typeface="IRANSans"/>
                <a:cs typeface="IRANSans"/>
                <a:ea typeface="IRANSans"/>
              </a:rPr>
              <a:t>اولین گام</a:t>
            </a:r>
            <a:r>
              <a:rPr sz="3800" b="1">
                <a:solidFill>
                  <a:srgbClr val="FFFFFF"/>
                </a:solidFill>
                <a:latin typeface="IRANSans"/>
                <a:cs typeface="IRANSans"/>
                <a:ea typeface="IRANSans"/>
              </a:rPr>
              <a:t> را با هم برمی‌داریم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133892" y="3712463"/>
            <a:ext cx="3490874" cy="1188720"/>
          </a:xfrm>
          <a:prstGeom prst="roundRect">
            <a:avLst>
              <a:gd name="adj" fmla="val 10000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80196" y="3712463"/>
            <a:ext cx="3198266" cy="1188720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pPr rtl="1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>
                <a:solidFill>
                  <a:srgbClr val="FFFFFF"/>
                </a:solidFill>
                <a:latin typeface="IRANSans"/>
                <a:cs typeface="IRANSans"/>
                <a:ea typeface="IRANSans"/>
              </a:rPr>
              <a:t>چیستی</a:t>
            </a:r>
          </a:p>
          <a:p>
            <a:pPr rtl="1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ECF3F7"/>
                </a:solidFill>
                <a:latin typeface="IRANSans"/>
                <a:cs typeface="IRANSans"/>
                <a:ea typeface="IRANSans"/>
              </a:rPr>
              <a:t>این روش دقیقاً چیست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50410" y="3712463"/>
            <a:ext cx="3490874" cy="1188720"/>
          </a:xfrm>
          <a:prstGeom prst="roundRect">
            <a:avLst>
              <a:gd name="adj" fmla="val 10000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496714" y="3712463"/>
            <a:ext cx="3198266" cy="1188720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pPr rtl="1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>
                <a:solidFill>
                  <a:srgbClr val="FFFFFF"/>
                </a:solidFill>
                <a:latin typeface="IRANSans"/>
                <a:cs typeface="IRANSans"/>
                <a:ea typeface="IRANSans"/>
              </a:rPr>
              <a:t>چرایی</a:t>
            </a:r>
          </a:p>
          <a:p>
            <a:pPr rtl="1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ECF3F7"/>
                </a:solidFill>
                <a:latin typeface="IRANSans"/>
                <a:cs typeface="IRANSans"/>
                <a:ea typeface="IRANSans"/>
              </a:rPr>
              <a:t>چرا جواب می‌دهد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7" y="3712463"/>
            <a:ext cx="3490874" cy="1188720"/>
          </a:xfrm>
          <a:prstGeom prst="roundRect">
            <a:avLst>
              <a:gd name="adj" fmla="val 10000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13231" y="3712463"/>
            <a:ext cx="3198266" cy="1188720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pPr rtl="1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>
                <a:solidFill>
                  <a:srgbClr val="FFFFFF"/>
                </a:solidFill>
                <a:latin typeface="IRANSans"/>
                <a:cs typeface="IRANSans"/>
                <a:ea typeface="IRANSans"/>
              </a:rPr>
              <a:t>نحوه اجرا</a:t>
            </a:r>
          </a:p>
          <a:p>
            <a:pPr rtl="1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ECF3F7"/>
                </a:solidFill>
                <a:latin typeface="IRANSans"/>
                <a:cs typeface="IRANSans"/>
                <a:ea typeface="IRANSans"/>
              </a:rPr>
              <a:t>یک جلسه واقعی، دقیقه به دقیقه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41367" y="5285232"/>
            <a:ext cx="3108960" cy="31750"/>
          </a:xfrm>
          <a:prstGeom prst="rect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66928" y="5486400"/>
            <a:ext cx="11057839" cy="822960"/>
          </a:xfrm>
          <a:prstGeom prst="rect">
            <a:avLst/>
          </a:prstGeom>
          <a:noFill/>
        </p:spPr>
        <p:txBody>
          <a:bodyPr wrap="square" lIns="36576" rIns="36576" tIns="0" bIns="0" anchor="t">
            <a:spAutoFit/>
          </a:bodyPr>
          <a:lstStyle/>
          <a:p>
            <a:pPr rtl="1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3200" b="1">
                <a:solidFill>
                  <a:srgbClr val="FF6B35"/>
                </a:solidFill>
                <a:latin typeface="IRANSans"/>
                <a:cs typeface="IRANSans"/>
                <a:ea typeface="IRANSans"/>
              </a:rPr>
              <a:t>منتورینگ گروهی</a:t>
            </a:r>
          </a:p>
          <a:p>
            <a:pPr rtl="1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FFFFFF"/>
                </a:solidFill>
                <a:latin typeface="IRANSans"/>
                <a:cs typeface="IRANSans"/>
                <a:ea typeface="IRANSans"/>
              </a:rPr>
              <a:t>جایی که با هم بلد می‌شویم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1057839" cy="310896"/>
          </a:xfrm>
          <a:prstGeom prst="rect">
            <a:avLst/>
          </a:prstGeom>
          <a:noFill/>
        </p:spPr>
        <p:txBody>
          <a:bodyPr wrap="square" lIns="36576" rIns="36576" tIns="0" bIns="0" anchor="t">
            <a:spAutoFit/>
          </a:bodyPr>
          <a:lstStyle/>
          <a:p>
            <a:pPr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>
                <a:solidFill>
                  <a:srgbClr val="FF6B35"/>
                </a:solidFill>
                <a:latin typeface="IRANSans"/>
                <a:cs typeface="IRANSans"/>
                <a:ea typeface="IRANSans"/>
              </a:rPr>
              <a:t>۹۰ دقیقه پیشِ رو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21792"/>
            <a:ext cx="11057839" cy="640080"/>
          </a:xfrm>
          <a:prstGeom prst="rect">
            <a:avLst/>
          </a:prstGeom>
          <a:noFill/>
        </p:spPr>
        <p:txBody>
          <a:bodyPr wrap="square" lIns="36576" rIns="36576" tIns="0" bIns="0" anchor="t">
            <a:spAutoFit/>
          </a:bodyPr>
          <a:lstStyle/>
          <a:p>
            <a:pPr rtl="1"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100" b="1">
                <a:solidFill>
                  <a:srgbClr val="1B4965"/>
                </a:solidFill>
                <a:latin typeface="IRANSans"/>
                <a:cs typeface="IRANSans"/>
                <a:ea typeface="IRANSans"/>
              </a:rPr>
              <a:t>نقشه امروز</a:t>
            </a:r>
          </a:p>
        </p:txBody>
      </p:sp>
      <p:sp>
        <p:nvSpPr>
          <p:cNvPr id="5" name="Rectangle 4"/>
          <p:cNvSpPr/>
          <p:nvPr/>
        </p:nvSpPr>
        <p:spPr>
          <a:xfrm>
            <a:off x="10527487" y="1243584"/>
            <a:ext cx="1097280" cy="57150"/>
          </a:xfrm>
          <a:prstGeom prst="rect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9588764" y="1536192"/>
            <a:ext cx="2036003" cy="2212848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2700">
            <a:solidFill>
              <a:srgbClr val="D8E2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9588764" y="1536192"/>
            <a:ext cx="2036003" cy="64008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359877" y="1810512"/>
            <a:ext cx="493776" cy="493776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FFFFFF"/>
                </a:solidFill>
                <a:latin typeface="IRANSans"/>
                <a:cs typeface="IRANSans"/>
                <a:ea typeface="IRANSans"/>
              </a:rPr>
              <a:t>۱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735068" y="2468880"/>
            <a:ext cx="1743395" cy="1097280"/>
          </a:xfrm>
          <a:prstGeom prst="rect">
            <a:avLst/>
          </a:prstGeom>
          <a:noFill/>
        </p:spPr>
        <p:txBody>
          <a:bodyPr wrap="square" lIns="36576" rIns="36576" tIns="0" bIns="0" anchor="t">
            <a:spAutoFit/>
          </a:bodyPr>
          <a:lstStyle/>
          <a:p>
            <a:pPr rtl="1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>
                <a:solidFill>
                  <a:srgbClr val="C0392B"/>
                </a:solidFill>
                <a:latin typeface="IRANSans"/>
                <a:cs typeface="IRANSans"/>
                <a:ea typeface="IRANSans"/>
              </a:rPr>
              <a:t>چرا</a:t>
            </a:r>
          </a:p>
          <a:p>
            <a:pPr rtl="1" algn="ctr">
              <a:lnSpc>
                <a:spcPct val="125000"/>
              </a:lnSpc>
              <a:spcBef>
                <a:spcPts val="500"/>
              </a:spcBef>
              <a:spcAft>
                <a:spcPts val="0"/>
              </a:spcAft>
            </a:pPr>
            <a:r>
              <a:rPr sz="1350" b="0">
                <a:solidFill>
                  <a:srgbClr val="5A6B77"/>
                </a:solidFill>
                <a:latin typeface="IRANSans"/>
                <a:cs typeface="IRANSans"/>
                <a:ea typeface="IRANSans"/>
              </a:rPr>
              <a:t>مسئله‌ای که داریم و کسی درباره‌اش حرف نمی‌زند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33305" y="1536192"/>
            <a:ext cx="2036003" cy="2212848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2700">
            <a:solidFill>
              <a:srgbClr val="D8E2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333305" y="1536192"/>
            <a:ext cx="2036003" cy="64008"/>
          </a:xfrm>
          <a:prstGeom prst="rect">
            <a:avLst/>
          </a:prstGeom>
          <a:solidFill>
            <a:srgbClr val="1B49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104418" y="1810512"/>
            <a:ext cx="493776" cy="493776"/>
          </a:xfrm>
          <a:prstGeom prst="ellipse">
            <a:avLst/>
          </a:prstGeom>
          <a:solidFill>
            <a:srgbClr val="1B49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FFFFFF"/>
                </a:solidFill>
                <a:latin typeface="IRANSans"/>
                <a:cs typeface="IRANSans"/>
                <a:ea typeface="IRANSans"/>
              </a:rPr>
              <a:t>۲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79609" y="2468880"/>
            <a:ext cx="1743395" cy="1097280"/>
          </a:xfrm>
          <a:prstGeom prst="rect">
            <a:avLst/>
          </a:prstGeom>
          <a:noFill/>
        </p:spPr>
        <p:txBody>
          <a:bodyPr wrap="square" lIns="36576" rIns="36576" tIns="0" bIns="0" anchor="t">
            <a:spAutoFit/>
          </a:bodyPr>
          <a:lstStyle/>
          <a:p>
            <a:pPr rtl="1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>
                <a:solidFill>
                  <a:srgbClr val="1B4965"/>
                </a:solidFill>
                <a:latin typeface="IRANSans"/>
                <a:cs typeface="IRANSans"/>
                <a:ea typeface="IRANSans"/>
              </a:rPr>
              <a:t>چیست</a:t>
            </a:r>
          </a:p>
          <a:p>
            <a:pPr rtl="1" algn="ctr">
              <a:lnSpc>
                <a:spcPct val="125000"/>
              </a:lnSpc>
              <a:spcBef>
                <a:spcPts val="500"/>
              </a:spcBef>
              <a:spcAft>
                <a:spcPts val="0"/>
              </a:spcAft>
            </a:pPr>
            <a:r>
              <a:rPr sz="1350" b="0">
                <a:solidFill>
                  <a:srgbClr val="5A6B77"/>
                </a:solidFill>
                <a:latin typeface="IRANSans"/>
                <a:cs typeface="IRANSans"/>
                <a:ea typeface="IRANSans"/>
              </a:rPr>
              <a:t>این روش دقیقاً چیست و چه چیزی نیست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77846" y="1536192"/>
            <a:ext cx="2036003" cy="2212848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2700">
            <a:solidFill>
              <a:srgbClr val="D8E2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077846" y="1536192"/>
            <a:ext cx="2036003" cy="64008"/>
          </a:xfrm>
          <a:prstGeom prst="rect">
            <a:avLst/>
          </a:prstGeom>
          <a:solidFill>
            <a:srgbClr val="2A6F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5848959" y="1810512"/>
            <a:ext cx="493776" cy="493776"/>
          </a:xfrm>
          <a:prstGeom prst="ellipse">
            <a:avLst/>
          </a:prstGeom>
          <a:solidFill>
            <a:srgbClr val="2A6F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FFFFFF"/>
                </a:solidFill>
                <a:latin typeface="IRANSans"/>
                <a:cs typeface="IRANSans"/>
                <a:ea typeface="IRANSans"/>
              </a:rPr>
              <a:t>۳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224150" y="2468880"/>
            <a:ext cx="1743395" cy="1097280"/>
          </a:xfrm>
          <a:prstGeom prst="rect">
            <a:avLst/>
          </a:prstGeom>
          <a:noFill/>
        </p:spPr>
        <p:txBody>
          <a:bodyPr wrap="square" lIns="36576" rIns="36576" tIns="0" bIns="0" anchor="t">
            <a:spAutoFit/>
          </a:bodyPr>
          <a:lstStyle/>
          <a:p>
            <a:pPr rtl="1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>
                <a:solidFill>
                  <a:srgbClr val="2A6F97"/>
                </a:solidFill>
                <a:latin typeface="IRANSans"/>
                <a:cs typeface="IRANSans"/>
                <a:ea typeface="IRANSans"/>
              </a:rPr>
              <a:t>چطور</a:t>
            </a:r>
          </a:p>
          <a:p>
            <a:pPr rtl="1" algn="ctr">
              <a:lnSpc>
                <a:spcPct val="125000"/>
              </a:lnSpc>
              <a:spcBef>
                <a:spcPts val="500"/>
              </a:spcBef>
              <a:spcAft>
                <a:spcPts val="0"/>
              </a:spcAft>
            </a:pPr>
            <a:r>
              <a:rPr sz="1350" b="0">
                <a:solidFill>
                  <a:srgbClr val="5A6B77"/>
                </a:solidFill>
                <a:latin typeface="IRANSans"/>
                <a:cs typeface="IRANSans"/>
                <a:ea typeface="IRANSans"/>
              </a:rPr>
              <a:t>یک جلسه واقعی، دقیقه به دقیقه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822387" y="1536192"/>
            <a:ext cx="2036003" cy="2212848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2700">
            <a:solidFill>
              <a:srgbClr val="D8E2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822387" y="1536192"/>
            <a:ext cx="2036003" cy="64008"/>
          </a:xfrm>
          <a:prstGeom prst="rect">
            <a:avLst/>
          </a:prstGeom>
          <a:solidFill>
            <a:srgbClr val="1E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3593500" y="1810512"/>
            <a:ext cx="493776" cy="493776"/>
          </a:xfrm>
          <a:prstGeom prst="ellipse">
            <a:avLst/>
          </a:prstGeom>
          <a:solidFill>
            <a:srgbClr val="1E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FFFFFF"/>
                </a:solidFill>
                <a:latin typeface="IRANSans"/>
                <a:cs typeface="IRANSans"/>
                <a:ea typeface="IRANSans"/>
              </a:rPr>
              <a:t>۴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968691" y="2468880"/>
            <a:ext cx="1743395" cy="1097280"/>
          </a:xfrm>
          <a:prstGeom prst="rect">
            <a:avLst/>
          </a:prstGeom>
          <a:noFill/>
        </p:spPr>
        <p:txBody>
          <a:bodyPr wrap="square" lIns="36576" rIns="36576" tIns="0" bIns="0" anchor="t">
            <a:spAutoFit/>
          </a:bodyPr>
          <a:lstStyle/>
          <a:p>
            <a:pPr rtl="1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>
                <a:solidFill>
                  <a:srgbClr val="1E8E5A"/>
                </a:solidFill>
                <a:latin typeface="IRANSans"/>
                <a:cs typeface="IRANSans"/>
                <a:ea typeface="IRANSans"/>
              </a:rPr>
              <a:t>چه می‌شود</a:t>
            </a:r>
          </a:p>
          <a:p>
            <a:pPr rtl="1" algn="ctr">
              <a:lnSpc>
                <a:spcPct val="125000"/>
              </a:lnSpc>
              <a:spcBef>
                <a:spcPts val="500"/>
              </a:spcBef>
              <a:spcAft>
                <a:spcPts val="0"/>
              </a:spcAft>
            </a:pPr>
            <a:r>
              <a:rPr sz="1350" b="0">
                <a:solidFill>
                  <a:srgbClr val="5A6B77"/>
                </a:solidFill>
                <a:latin typeface="IRANSans"/>
                <a:cs typeface="IRANSans"/>
                <a:ea typeface="IRANSans"/>
              </a:rPr>
              <a:t>چه چیزی عاید شما و سازمان می‌شود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66928" y="1536192"/>
            <a:ext cx="2036003" cy="2212848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2700">
            <a:solidFill>
              <a:srgbClr val="D8E2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66928" y="1536192"/>
            <a:ext cx="2036003" cy="64008"/>
          </a:xfrm>
          <a:prstGeom prst="rect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338041" y="1810512"/>
            <a:ext cx="493776" cy="493776"/>
          </a:xfrm>
          <a:prstGeom prst="ellipse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FFFFFF"/>
                </a:solidFill>
                <a:latin typeface="IRANSans"/>
                <a:cs typeface="IRANSans"/>
                <a:ea typeface="IRANSans"/>
              </a:rPr>
              <a:t>۵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13232" y="2468880"/>
            <a:ext cx="1743395" cy="1097280"/>
          </a:xfrm>
          <a:prstGeom prst="rect">
            <a:avLst/>
          </a:prstGeom>
          <a:noFill/>
        </p:spPr>
        <p:txBody>
          <a:bodyPr wrap="square" lIns="36576" rIns="36576" tIns="0" bIns="0" anchor="t">
            <a:spAutoFit/>
          </a:bodyPr>
          <a:lstStyle/>
          <a:p>
            <a:pPr rtl="1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>
                <a:solidFill>
                  <a:srgbClr val="FF6B35"/>
                </a:solidFill>
                <a:latin typeface="IRANSans"/>
                <a:cs typeface="IRANSans"/>
                <a:ea typeface="IRANSans"/>
              </a:rPr>
              <a:t>شروع</a:t>
            </a:r>
          </a:p>
          <a:p>
            <a:pPr rtl="1" algn="ctr">
              <a:lnSpc>
                <a:spcPct val="125000"/>
              </a:lnSpc>
              <a:spcBef>
                <a:spcPts val="500"/>
              </a:spcBef>
              <a:spcAft>
                <a:spcPts val="0"/>
              </a:spcAft>
            </a:pPr>
            <a:r>
              <a:rPr sz="1350" b="0">
                <a:solidFill>
                  <a:srgbClr val="5A6B77"/>
                </a:solidFill>
                <a:latin typeface="IRANSans"/>
                <a:cs typeface="IRANSans"/>
                <a:ea typeface="IRANSans"/>
              </a:rPr>
              <a:t>یک دور واقعی، همین امروز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260439" y="4041648"/>
            <a:ext cx="5364327" cy="1298448"/>
          </a:xfrm>
          <a:prstGeom prst="roundRect">
            <a:avLst>
              <a:gd name="adj" fmla="val 9000"/>
            </a:avLst>
          </a:prstGeom>
          <a:solidFill>
            <a:srgbClr val="1B49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1542471" y="4041648"/>
            <a:ext cx="82296" cy="1298448"/>
          </a:xfrm>
          <a:prstGeom prst="rect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16471" y="4206240"/>
            <a:ext cx="4852263" cy="1005840"/>
          </a:xfrm>
          <a:prstGeom prst="rect">
            <a:avLst/>
          </a:prstGeom>
          <a:noFill/>
        </p:spPr>
        <p:txBody>
          <a:bodyPr wrap="square" lIns="36576" rIns="36576" tIns="0" bIns="0" anchor="t">
            <a:spAutoFit/>
          </a:bodyPr>
          <a:lstStyle/>
          <a:p>
            <a:pPr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FF6B35"/>
                </a:solidFill>
                <a:latin typeface="IRANSans"/>
                <a:cs typeface="IRANSans"/>
                <a:ea typeface="IRANSans"/>
              </a:rPr>
              <a:t>قولِ امروز</a:t>
            </a:r>
          </a:p>
          <a:p>
            <a:pPr rtl="1" algn="r">
              <a:lnSpc>
                <a:spcPct val="128000"/>
              </a:lnSpc>
              <a:spcBef>
                <a:spcPts val="800"/>
              </a:spcBef>
              <a:spcAft>
                <a:spcPts val="0"/>
              </a:spcAft>
            </a:pPr>
            <a:r>
              <a:rPr sz="1750" b="0">
                <a:solidFill>
                  <a:srgbClr val="FFFFFF"/>
                </a:solidFill>
                <a:latin typeface="IRANSans"/>
                <a:cs typeface="IRANSans"/>
                <a:ea typeface="IRANSans"/>
              </a:rPr>
              <a:t>یک‌سوم این جلسه، خودِ تجربه است — نه توضیحِ تجربه.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66928" y="4041648"/>
            <a:ext cx="5364327" cy="1298448"/>
          </a:xfrm>
          <a:prstGeom prst="roundRect">
            <a:avLst>
              <a:gd name="adj" fmla="val 9000"/>
            </a:avLst>
          </a:prstGeom>
          <a:solidFill>
            <a:srgbClr val="FFF3EC"/>
          </a:solidFill>
          <a:ln w="22225">
            <a:solidFill>
              <a:srgbClr val="FF6B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22960" y="4206240"/>
            <a:ext cx="4852263" cy="1005840"/>
          </a:xfrm>
          <a:prstGeom prst="rect">
            <a:avLst/>
          </a:prstGeom>
          <a:noFill/>
        </p:spPr>
        <p:txBody>
          <a:bodyPr wrap="square" lIns="36576" rIns="36576" tIns="0" bIns="0" anchor="t">
            <a:spAutoFit/>
          </a:bodyPr>
          <a:lstStyle/>
          <a:p>
            <a:pPr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D94E1F"/>
                </a:solidFill>
                <a:latin typeface="IRANSans"/>
                <a:cs typeface="IRANSans"/>
                <a:ea typeface="IRANSans"/>
              </a:rPr>
              <a:t>از شما یک چیز می‌خواهم</a:t>
            </a:r>
          </a:p>
          <a:p>
            <a:pPr rtl="1" algn="r">
              <a:lnSpc>
                <a:spcPct val="128000"/>
              </a:lnSpc>
              <a:spcBef>
                <a:spcPts val="800"/>
              </a:spcBef>
              <a:spcAft>
                <a:spcPts val="0"/>
              </a:spcAft>
            </a:pPr>
            <a:r>
              <a:rPr sz="1750" b="1">
                <a:solidFill>
                  <a:srgbClr val="1B4965"/>
                </a:solidFill>
                <a:latin typeface="IRANSans"/>
                <a:cs typeface="IRANSans"/>
                <a:ea typeface="IRANSans"/>
              </a:rPr>
              <a:t>یک چالش کاری واقعی و حل‌نشده را همین حالا در ذهنتان نگه دارید.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66928" y="5541264"/>
            <a:ext cx="11057839" cy="658368"/>
          </a:xfrm>
          <a:prstGeom prst="roundRect">
            <a:avLst>
              <a:gd name="adj" fmla="val 10000"/>
            </a:avLst>
          </a:prstGeom>
          <a:solidFill>
            <a:srgbClr val="1B49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11542471" y="5541264"/>
            <a:ext cx="82296" cy="658368"/>
          </a:xfrm>
          <a:prstGeom prst="rect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77824" y="5541264"/>
            <a:ext cx="10436047" cy="658368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pPr rtl="1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FFFFFF"/>
                </a:solidFill>
                <a:latin typeface="IRANSans"/>
                <a:cs typeface="IRANSans"/>
                <a:ea typeface="IRANSans"/>
              </a:rPr>
              <a:t>در پایان جلسه، به همان چالش برمی‌گردیم.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66928" y="6382512"/>
            <a:ext cx="3657600" cy="274320"/>
          </a:xfrm>
          <a:prstGeom prst="rect">
            <a:avLst/>
          </a:prstGeom>
          <a:noFill/>
        </p:spPr>
        <p:txBody>
          <a:bodyPr wrap="square" lIns="36576" rIns="36576" tIns="0" bIns="0" anchor="t">
            <a:spAutoFit/>
          </a:bodyPr>
          <a:lstStyle/>
          <a:p>
            <a:pPr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5A6B77"/>
                </a:solidFill>
                <a:latin typeface="IRANSans"/>
                <a:cs typeface="IRANSans"/>
                <a:ea typeface="IRANSans"/>
              </a:rPr>
              <a:t>منتورینگ گروهی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161727" y="6382512"/>
            <a:ext cx="1463040" cy="274320"/>
          </a:xfrm>
          <a:prstGeom prst="rect">
            <a:avLst/>
          </a:prstGeom>
          <a:noFill/>
        </p:spPr>
        <p:txBody>
          <a:bodyPr wrap="square" lIns="36576" rIns="36576" tIns="0" bIns="0" anchor="t">
            <a:spAutoFit/>
          </a:bodyPr>
          <a:lstStyle/>
          <a:p>
            <a:pPr rt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5A6B77"/>
                </a:solidFill>
                <a:latin typeface="IRANSans"/>
                <a:cs typeface="IRANSans"/>
                <a:ea typeface="IRANSans"/>
              </a:rPr>
              <a:t>۱۲ / ۳۰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2-thinking.jpg"/>
          <p:cNvPicPr>
            <a:picLocks noChangeAspect="1"/>
          </p:cNvPicPr>
          <p:nvPr/>
        </p:nvPicPr>
        <p:blipFill>
          <a:blip r:embed="rId2"/>
          <a:srcRect t="7811" b="781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0E2C40">
                  <a:alpha val="10000"/>
                </a:srgbClr>
              </a:gs>
              <a:gs pos="100000">
                <a:srgbClr val="0E2C40">
                  <a:alpha val="94000"/>
                </a:srgbClr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2C40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864047" y="1993392"/>
            <a:ext cx="5760720" cy="566928"/>
          </a:xfrm>
          <a:prstGeom prst="rect">
            <a:avLst/>
          </a:prstGeom>
          <a:noFill/>
        </p:spPr>
        <p:txBody>
          <a:bodyPr wrap="square" lIns="36576" rIns="36576" tIns="0" bIns="0" anchor="t">
            <a:spAutoFit/>
          </a:bodyPr>
          <a:lstStyle/>
          <a:p>
            <a:pPr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FF6B35"/>
                </a:solidFill>
                <a:latin typeface="IRANSans"/>
                <a:cs typeface="IRANSans"/>
                <a:ea typeface="IRANSans"/>
              </a:rPr>
              <a:t>بخش ۱</a:t>
            </a:r>
          </a:p>
        </p:txBody>
      </p:sp>
      <p:sp>
        <p:nvSpPr>
          <p:cNvPr id="6" name="Rectangle 5"/>
          <p:cNvSpPr/>
          <p:nvPr/>
        </p:nvSpPr>
        <p:spPr>
          <a:xfrm>
            <a:off x="10436047" y="2615184"/>
            <a:ext cx="1188720" cy="57150"/>
          </a:xfrm>
          <a:prstGeom prst="rect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864047" y="2852928"/>
            <a:ext cx="5760720" cy="1737360"/>
          </a:xfrm>
          <a:prstGeom prst="rect">
            <a:avLst/>
          </a:prstGeom>
          <a:noFill/>
        </p:spPr>
        <p:txBody>
          <a:bodyPr wrap="square" lIns="36576" rIns="36576" tIns="0" bIns="0" anchor="t">
            <a:spAutoFit/>
          </a:bodyPr>
          <a:lstStyle/>
          <a:p>
            <a:pPr rtl="1" algn="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4400" b="1">
                <a:solidFill>
                  <a:srgbClr val="FFFFFF"/>
                </a:solidFill>
                <a:latin typeface="IRANSans"/>
                <a:cs typeface="IRANSans"/>
                <a:ea typeface="IRANSans"/>
              </a:rPr>
              <a:t>چرا این کار را</a:t>
            </a:r>
          </a:p>
          <a:p>
            <a:pPr rtl="1" algn="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4400" b="1">
                <a:solidFill>
                  <a:srgbClr val="FFFFFF"/>
                </a:solidFill>
                <a:latin typeface="IRANSans"/>
                <a:cs typeface="IRANSans"/>
                <a:ea typeface="IRANSans"/>
              </a:rPr>
              <a:t>می‌کنیم؟</a:t>
            </a:r>
          </a:p>
          <a:p>
            <a:pPr rtl="1" algn="r">
              <a:lnSpc>
                <a:spcPct val="130000"/>
              </a:lnSpc>
              <a:spcBef>
                <a:spcPts val="1400"/>
              </a:spcBef>
              <a:spcAft>
                <a:spcPts val="0"/>
              </a:spcAft>
            </a:pPr>
            <a:r>
              <a:rPr sz="1900" b="0">
                <a:solidFill>
                  <a:srgbClr val="ECF3F7"/>
                </a:solidFill>
                <a:latin typeface="IRANSans"/>
                <a:cs typeface="IRANSans"/>
                <a:ea typeface="IRANSans"/>
              </a:rPr>
              <a:t>مسئله‌ای که همه می‌بینند و کسی درباره‌اش حرف نمی‌زند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756087" y="6035040"/>
            <a:ext cx="868680" cy="292608"/>
          </a:xfrm>
          <a:prstGeom prst="roundRect">
            <a:avLst>
              <a:gd name="adj" fmla="val 44000"/>
            </a:avLst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756087" y="6035040"/>
            <a:ext cx="868680" cy="292608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pPr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FFFFFF"/>
                </a:solidFill>
                <a:latin typeface="IRANSans"/>
                <a:cs typeface="IRANSans"/>
                <a:ea typeface="IRANSans"/>
              </a:rPr>
              <a:t>چرا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795967" y="6035040"/>
            <a:ext cx="868680" cy="292608"/>
          </a:xfrm>
          <a:prstGeom prst="roundRect">
            <a:avLst>
              <a:gd name="adj" fmla="val 44000"/>
            </a:avLst>
          </a:prstGeom>
          <a:solidFill>
            <a:srgbClr val="FFFFFF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795967" y="6035040"/>
            <a:ext cx="868680" cy="292608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pPr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ECF3F7"/>
                </a:solidFill>
                <a:latin typeface="IRANSans"/>
                <a:cs typeface="IRANSans"/>
                <a:ea typeface="IRANSans"/>
              </a:rPr>
              <a:t>چیست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835847" y="6035040"/>
            <a:ext cx="868680" cy="292608"/>
          </a:xfrm>
          <a:prstGeom prst="roundRect">
            <a:avLst>
              <a:gd name="adj" fmla="val 44000"/>
            </a:avLst>
          </a:prstGeom>
          <a:solidFill>
            <a:srgbClr val="FFFFFF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835847" y="6035040"/>
            <a:ext cx="868680" cy="292608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pPr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ECF3F7"/>
                </a:solidFill>
                <a:latin typeface="IRANSans"/>
                <a:cs typeface="IRANSans"/>
                <a:ea typeface="IRANSans"/>
              </a:rPr>
              <a:t>چطور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875727" y="6035040"/>
            <a:ext cx="868680" cy="292608"/>
          </a:xfrm>
          <a:prstGeom prst="roundRect">
            <a:avLst>
              <a:gd name="adj" fmla="val 44000"/>
            </a:avLst>
          </a:prstGeom>
          <a:solidFill>
            <a:srgbClr val="FFFFFF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875727" y="6035040"/>
            <a:ext cx="868680" cy="292608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pPr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ECF3F7"/>
                </a:solidFill>
                <a:latin typeface="IRANSans"/>
                <a:cs typeface="IRANSans"/>
                <a:ea typeface="IRANSans"/>
              </a:rPr>
              <a:t>چه می‌شود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915607" y="6035040"/>
            <a:ext cx="868680" cy="292608"/>
          </a:xfrm>
          <a:prstGeom prst="roundRect">
            <a:avLst>
              <a:gd name="adj" fmla="val 44000"/>
            </a:avLst>
          </a:prstGeom>
          <a:solidFill>
            <a:srgbClr val="FFFFFF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915607" y="6035040"/>
            <a:ext cx="868680" cy="292608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pPr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ECF3F7"/>
                </a:solidFill>
                <a:latin typeface="IRANSans"/>
                <a:cs typeface="IRANSans"/>
                <a:ea typeface="IRANSans"/>
              </a:rPr>
              <a:t>شروع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6-silo.jpg"/>
          <p:cNvPicPr>
            <a:picLocks noChangeAspect="1"/>
          </p:cNvPicPr>
          <p:nvPr/>
        </p:nvPicPr>
        <p:blipFill>
          <a:blip r:embed="rId2"/>
          <a:srcRect t="7811" b="781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0E2C40">
                  <a:alpha val="94000"/>
                </a:srgbClr>
              </a:gs>
              <a:gs pos="100000">
                <a:srgbClr val="1B4965">
                  <a:alpha val="86000"/>
                </a:srgbClr>
              </a:gs>
            </a:gsLst>
            <a:lin scaled="0" ang="27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841248"/>
            <a:ext cx="11057839" cy="402336"/>
          </a:xfrm>
          <a:prstGeom prst="rect">
            <a:avLst/>
          </a:prstGeom>
          <a:noFill/>
        </p:spPr>
        <p:txBody>
          <a:bodyPr wrap="square" lIns="36576" rIns="36576" tIns="0" bIns="0" anchor="t">
            <a:spAutoFit/>
          </a:bodyPr>
          <a:lstStyle/>
          <a:p>
            <a:pPr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6B35"/>
                </a:solidFill>
                <a:latin typeface="IRANSans"/>
                <a:cs typeface="IRANSans"/>
                <a:ea typeface="IRANSans"/>
              </a:rPr>
              <a:t>۶۰ ثانیه فکر کنید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1389888"/>
            <a:ext cx="9997135" cy="1737360"/>
          </a:xfrm>
          <a:prstGeom prst="rect">
            <a:avLst/>
          </a:prstGeom>
          <a:noFill/>
        </p:spPr>
        <p:txBody>
          <a:bodyPr wrap="square" lIns="36576" rIns="36576" tIns="0" bIns="0" anchor="t">
            <a:spAutoFit/>
          </a:bodyPr>
          <a:lstStyle/>
          <a:p>
            <a:pPr rtl="1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FFFFFF"/>
                </a:solidFill>
                <a:latin typeface="IRANSans"/>
                <a:cs typeface="IRANSans"/>
                <a:ea typeface="IRANSans"/>
              </a:rPr>
              <a:t>آخرین چیزی که در کارتان یاد گرفتید،</a:t>
            </a:r>
          </a:p>
          <a:p>
            <a:pPr rtl="1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FF6B35"/>
                </a:solidFill>
                <a:latin typeface="IRANSans"/>
                <a:cs typeface="IRANSans"/>
                <a:ea typeface="IRANSans"/>
              </a:rPr>
              <a:t>از کجا</a:t>
            </a:r>
            <a:r>
              <a:rPr sz="3400" b="1">
                <a:solidFill>
                  <a:srgbClr val="FFFFFF"/>
                </a:solidFill>
                <a:latin typeface="IRANSans"/>
                <a:cs typeface="IRANSans"/>
                <a:ea typeface="IRANSans"/>
              </a:rPr>
              <a:t> یاد گرفتید؟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133892" y="3401568"/>
            <a:ext cx="3490874" cy="1042415"/>
          </a:xfrm>
          <a:prstGeom prst="roundRect">
            <a:avLst>
              <a:gd name="adj" fmla="val 11000"/>
            </a:avLst>
          </a:prstGeom>
          <a:solidFill>
            <a:srgbClr val="FFFFFF">
              <a:alpha val="9000"/>
            </a:srgbClr>
          </a:solidFill>
          <a:ln w="12700">
            <a:solidFill>
              <a:srgbClr val="62B6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98484" y="3401568"/>
            <a:ext cx="3161690" cy="1042415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pPr rtl="1"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850" b="0">
                <a:solidFill>
                  <a:srgbClr val="FFFFFF"/>
                </a:solidFill>
                <a:latin typeface="IRANSans"/>
                <a:cs typeface="IRANSans"/>
                <a:ea typeface="IRANSans"/>
              </a:rPr>
              <a:t>از یک کلاس یا کتاب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50410" y="3401568"/>
            <a:ext cx="3490874" cy="1042415"/>
          </a:xfrm>
          <a:prstGeom prst="roundRect">
            <a:avLst>
              <a:gd name="adj" fmla="val 11000"/>
            </a:avLst>
          </a:prstGeom>
          <a:solidFill>
            <a:srgbClr val="FFFFFF">
              <a:alpha val="9000"/>
            </a:srgbClr>
          </a:solidFill>
          <a:ln w="12700">
            <a:solidFill>
              <a:srgbClr val="62B6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15002" y="3401568"/>
            <a:ext cx="3161690" cy="1042415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pPr rtl="1"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850" b="0">
                <a:solidFill>
                  <a:srgbClr val="FFFFFF"/>
                </a:solidFill>
                <a:latin typeface="IRANSans"/>
                <a:cs typeface="IRANSans"/>
                <a:ea typeface="IRANSans"/>
              </a:rPr>
              <a:t>از انجام دادن و اشتباه کردن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7" y="3401568"/>
            <a:ext cx="3490874" cy="1042415"/>
          </a:xfrm>
          <a:prstGeom prst="roundRect">
            <a:avLst>
              <a:gd name="adj" fmla="val 11000"/>
            </a:avLst>
          </a:prstGeom>
          <a:solidFill>
            <a:srgbClr val="FFFFFF">
              <a:alpha val="20000"/>
            </a:srgbClr>
          </a:solidFill>
          <a:ln w="25400">
            <a:solidFill>
              <a:srgbClr val="FF6B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19" y="3401568"/>
            <a:ext cx="3161690" cy="1042415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pPr rtl="1"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850" b="1">
                <a:solidFill>
                  <a:srgbClr val="FF6B35"/>
                </a:solidFill>
                <a:latin typeface="IRANSans"/>
                <a:cs typeface="IRANSans"/>
                <a:ea typeface="IRANSans"/>
              </a:rPr>
              <a:t>از یک آدم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4846320"/>
            <a:ext cx="9997135" cy="1371600"/>
          </a:xfrm>
          <a:prstGeom prst="rect">
            <a:avLst/>
          </a:prstGeom>
          <a:noFill/>
        </p:spPr>
        <p:txBody>
          <a:bodyPr wrap="square" lIns="36576" rIns="36576" tIns="0" bIns="0" anchor="t">
            <a:spAutoFit/>
          </a:bodyPr>
          <a:lstStyle/>
          <a:p>
            <a:pPr rtl="1"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FFFFFF"/>
                </a:solidFill>
                <a:latin typeface="IRANSans"/>
                <a:cs typeface="IRANSans"/>
                <a:ea typeface="IRANSans"/>
              </a:rPr>
              <a:t>تقریباً همیشه، جواب یک آدم است.</a:t>
            </a:r>
          </a:p>
          <a:p>
            <a:pPr rtl="1" algn="ctr">
              <a:lnSpc>
                <a:spcPct val="125000"/>
              </a:lnSpc>
              <a:spcBef>
                <a:spcPts val="600"/>
              </a:spcBef>
              <a:spcAft>
                <a:spcPts val="0"/>
              </a:spcAft>
            </a:pPr>
            <a:r>
              <a:rPr sz="1700" b="0">
                <a:solidFill>
                  <a:srgbClr val="ECF3F7"/>
                </a:solidFill>
                <a:latin typeface="IRANSans"/>
                <a:cs typeface="IRANSans"/>
                <a:ea typeface="IRANSans"/>
              </a:rPr>
              <a:t>نه یک دوره، نه یک کتاب. یک آدم.</a:t>
            </a:r>
          </a:p>
          <a:p>
            <a:pPr rtl="1" algn="ctr">
              <a:lnSpc>
                <a:spcPct val="125000"/>
              </a:lnSpc>
              <a:spcBef>
                <a:spcPts val="800"/>
              </a:spcBef>
              <a:spcAft>
                <a:spcPts val="0"/>
              </a:spcAft>
            </a:pPr>
            <a:r>
              <a:rPr sz="1800" b="1">
                <a:solidFill>
                  <a:srgbClr val="FF6B35"/>
                </a:solidFill>
                <a:latin typeface="IRANSans"/>
                <a:cs typeface="IRANSans"/>
                <a:ea typeface="IRANSans"/>
              </a:rPr>
              <a:t>منتورینگ گروهی یعنی این اتفاق را از «شانسی» به «برنامه‌ریزی‌شده» تبدیل کنیم.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66928" y="420624"/>
            <a:ext cx="868680" cy="292608"/>
          </a:xfrm>
          <a:prstGeom prst="roundRect">
            <a:avLst>
              <a:gd name="adj" fmla="val 44000"/>
            </a:avLst>
          </a:prstGeom>
          <a:solidFill>
            <a:srgbClr val="1B49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420624"/>
            <a:ext cx="868680" cy="292608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pPr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FFFFFF"/>
                </a:solidFill>
                <a:latin typeface="IRANSans"/>
                <a:cs typeface="IRANSans"/>
                <a:ea typeface="IRANSans"/>
              </a:rPr>
              <a:t>چرا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508760" y="420624"/>
            <a:ext cx="868680" cy="292608"/>
          </a:xfrm>
          <a:prstGeom prst="roundRect">
            <a:avLst>
              <a:gd name="adj" fmla="val 44000"/>
            </a:avLst>
          </a:prstGeom>
          <a:solidFill>
            <a:srgbClr val="E4EC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508760" y="420624"/>
            <a:ext cx="868680" cy="292608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pPr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5A6B77"/>
                </a:solidFill>
                <a:latin typeface="IRANSans"/>
                <a:cs typeface="IRANSans"/>
                <a:ea typeface="IRANSans"/>
              </a:rPr>
              <a:t>چیست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450592" y="420624"/>
            <a:ext cx="868680" cy="292608"/>
          </a:xfrm>
          <a:prstGeom prst="roundRect">
            <a:avLst>
              <a:gd name="adj" fmla="val 44000"/>
            </a:avLst>
          </a:prstGeom>
          <a:solidFill>
            <a:srgbClr val="E4EC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450592" y="420624"/>
            <a:ext cx="868680" cy="292608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pPr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5A6B77"/>
                </a:solidFill>
                <a:latin typeface="IRANSans"/>
                <a:cs typeface="IRANSans"/>
                <a:ea typeface="IRANSans"/>
              </a:rPr>
              <a:t>چطور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392424" y="420624"/>
            <a:ext cx="868680" cy="292608"/>
          </a:xfrm>
          <a:prstGeom prst="roundRect">
            <a:avLst>
              <a:gd name="adj" fmla="val 44000"/>
            </a:avLst>
          </a:prstGeom>
          <a:solidFill>
            <a:srgbClr val="E4EC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392424" y="420624"/>
            <a:ext cx="868680" cy="292608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pPr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5A6B77"/>
                </a:solidFill>
                <a:latin typeface="IRANSans"/>
                <a:cs typeface="IRANSans"/>
                <a:ea typeface="IRANSans"/>
              </a:rPr>
              <a:t>چه می‌شود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34256" y="420624"/>
            <a:ext cx="868680" cy="292608"/>
          </a:xfrm>
          <a:prstGeom prst="roundRect">
            <a:avLst>
              <a:gd name="adj" fmla="val 44000"/>
            </a:avLst>
          </a:prstGeom>
          <a:solidFill>
            <a:srgbClr val="E4EC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334256" y="420624"/>
            <a:ext cx="868680" cy="292608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pPr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5A6B77"/>
                </a:solidFill>
                <a:latin typeface="IRANSans"/>
                <a:cs typeface="IRANSans"/>
                <a:ea typeface="IRANSans"/>
              </a:rPr>
              <a:t>شروع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310896"/>
            <a:ext cx="11057839" cy="310896"/>
          </a:xfrm>
          <a:prstGeom prst="rect">
            <a:avLst/>
          </a:prstGeom>
          <a:noFill/>
        </p:spPr>
        <p:txBody>
          <a:bodyPr wrap="square" lIns="36576" rIns="36576" tIns="0" bIns="0" anchor="t">
            <a:spAutoFit/>
          </a:bodyPr>
          <a:lstStyle/>
          <a:p>
            <a:pPr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>
                <a:solidFill>
                  <a:srgbClr val="FF6B35"/>
                </a:solidFill>
                <a:latin typeface="IRANSans"/>
                <a:cs typeface="IRANSans"/>
                <a:ea typeface="IRANSans"/>
              </a:rPr>
              <a:t>تشخیص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621792"/>
            <a:ext cx="11057839" cy="640080"/>
          </a:xfrm>
          <a:prstGeom prst="rect">
            <a:avLst/>
          </a:prstGeom>
          <a:noFill/>
        </p:spPr>
        <p:txBody>
          <a:bodyPr wrap="square" lIns="36576" rIns="36576" tIns="0" bIns="0" anchor="t">
            <a:spAutoFit/>
          </a:bodyPr>
          <a:lstStyle/>
          <a:p>
            <a:pPr rtl="1"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100" b="1">
                <a:solidFill>
                  <a:srgbClr val="1B4965"/>
                </a:solidFill>
                <a:latin typeface="IRANSans"/>
                <a:cs typeface="IRANSans"/>
                <a:ea typeface="IRANSans"/>
              </a:rPr>
              <a:t>مسئله ما کمبود دانش نیست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0527487" y="1243584"/>
            <a:ext cx="1097280" cy="57150"/>
          </a:xfrm>
          <a:prstGeom prst="rect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03-silo.jpg"/>
          <p:cNvPicPr>
            <a:picLocks noChangeAspect="1"/>
          </p:cNvPicPr>
          <p:nvPr/>
        </p:nvPicPr>
        <p:blipFill>
          <a:blip r:embed="rId2"/>
          <a:srcRect t="6602" b="6602"/>
          <a:stretch>
            <a:fillRect/>
          </a:stretch>
        </p:blipFill>
        <p:spPr>
          <a:xfrm>
            <a:off x="566928" y="1517904"/>
            <a:ext cx="4709160" cy="2724912"/>
          </a:xfrm>
          <a:prstGeom prst="roundRect">
            <a:avLst/>
          </a:prstGeom>
        </p:spPr>
      </p:pic>
      <p:sp>
        <p:nvSpPr>
          <p:cNvPr id="17" name="Rectangle 16"/>
          <p:cNvSpPr/>
          <p:nvPr/>
        </p:nvSpPr>
        <p:spPr>
          <a:xfrm>
            <a:off x="566928" y="3675888"/>
            <a:ext cx="4709160" cy="566928"/>
          </a:xfrm>
          <a:prstGeom prst="rect">
            <a:avLst/>
          </a:prstGeom>
          <a:solidFill>
            <a:srgbClr val="0E2C40">
              <a:alpha val="7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49808" y="3675888"/>
            <a:ext cx="4343400" cy="566928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pPr rtl="1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IRANSans"/>
                <a:cs typeface="IRANSans"/>
                <a:ea typeface="IRANSans"/>
              </a:rPr>
              <a:t>هرکس تکه‌ای می‌داند، کسی همه را نمی‌داند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389120"/>
            <a:ext cx="4709160" cy="1810512"/>
          </a:xfrm>
          <a:prstGeom prst="roundRect">
            <a:avLst>
              <a:gd name="adj" fmla="val 4500"/>
            </a:avLst>
          </a:prstGeom>
          <a:solidFill>
            <a:srgbClr val="1B49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193792" y="4389120"/>
            <a:ext cx="82296" cy="1810512"/>
          </a:xfrm>
          <a:prstGeom prst="rect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04672" y="4590288"/>
            <a:ext cx="4206240" cy="1463040"/>
          </a:xfrm>
          <a:prstGeom prst="rect">
            <a:avLst/>
          </a:prstGeom>
          <a:noFill/>
        </p:spPr>
        <p:txBody>
          <a:bodyPr wrap="square" lIns="36576" rIns="36576" tIns="0" bIns="0" anchor="t">
            <a:spAutoFit/>
          </a:bodyPr>
          <a:lstStyle/>
          <a:p>
            <a:pPr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>
                <a:solidFill>
                  <a:srgbClr val="FF6B35"/>
                </a:solidFill>
                <a:latin typeface="IRANSans"/>
                <a:cs typeface="IRANSans"/>
                <a:ea typeface="IRANSans"/>
              </a:rPr>
              <a:t>مسئله، گردش دانش است</a:t>
            </a:r>
          </a:p>
          <a:p>
            <a:pPr rtl="1" algn="r">
              <a:lnSpc>
                <a:spcPct val="130000"/>
              </a:lnSpc>
              <a:spcBef>
                <a:spcPts val="900"/>
              </a:spcBef>
              <a:spcAft>
                <a:spcPts val="0"/>
              </a:spcAft>
            </a:pPr>
            <a:r>
              <a:rPr sz="1650" b="0">
                <a:solidFill>
                  <a:srgbClr val="FFFFFF"/>
                </a:solidFill>
                <a:latin typeface="IRANSans"/>
                <a:cs typeface="IRANSans"/>
                <a:ea typeface="IRANSans"/>
              </a:rPr>
              <a:t>همه‌چیز را بلدیم — ولی هرکس تکه‌ای از آن را می‌داند و کسی نمی‌داند چه کسی چه می‌داند.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696712" y="1517904"/>
            <a:ext cx="5928055" cy="1005840"/>
          </a:xfrm>
          <a:prstGeom prst="roundRect">
            <a:avLst>
              <a:gd name="adj" fmla="val 11000"/>
            </a:avLst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11551615" y="1517904"/>
            <a:ext cx="73152" cy="100584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0856671" y="1801368"/>
            <a:ext cx="402336" cy="402336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IRANSans"/>
                <a:cs typeface="IRANSans"/>
                <a:ea typeface="IRANSans"/>
              </a:rPr>
              <a:t>۱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52744" y="1517904"/>
            <a:ext cx="4812487" cy="1005840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pPr rtl="1"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950" b="1">
                <a:solidFill>
                  <a:srgbClr val="1B4965"/>
                </a:solidFill>
                <a:latin typeface="IRANSans"/>
                <a:cs typeface="IRANSans"/>
                <a:ea typeface="IRANSans"/>
              </a:rPr>
              <a:t>یک اشتباه، چند بار</a:t>
            </a:r>
          </a:p>
          <a:p>
            <a:pPr rtl="1"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5A6B77"/>
                </a:solidFill>
                <a:latin typeface="IRANSans"/>
                <a:cs typeface="IRANSans"/>
                <a:ea typeface="IRANSans"/>
              </a:rPr>
              <a:t>همان خطا در واحد دیگر دوباره تکرار می‌شود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696712" y="2615184"/>
            <a:ext cx="5928055" cy="1005840"/>
          </a:xfrm>
          <a:prstGeom prst="roundRect">
            <a:avLst>
              <a:gd name="adj" fmla="val 11000"/>
            </a:avLst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1551615" y="2615184"/>
            <a:ext cx="73152" cy="100584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10856671" y="2898648"/>
            <a:ext cx="402336" cy="402336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IRANSans"/>
                <a:cs typeface="IRANSans"/>
                <a:ea typeface="IRANSans"/>
              </a:rPr>
              <a:t>۲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952744" y="2615184"/>
            <a:ext cx="4812487" cy="1005840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pPr rtl="1"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950" b="1">
                <a:solidFill>
                  <a:srgbClr val="1B4965"/>
                </a:solidFill>
                <a:latin typeface="IRANSans"/>
                <a:cs typeface="IRANSans"/>
                <a:ea typeface="IRANSans"/>
              </a:rPr>
              <a:t>راه‌حل‌های موازی</a:t>
            </a:r>
          </a:p>
          <a:p>
            <a:pPr rtl="1"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5A6B77"/>
                </a:solidFill>
                <a:latin typeface="IRANSans"/>
                <a:cs typeface="IRANSans"/>
                <a:ea typeface="IRANSans"/>
              </a:rPr>
              <a:t>دو نفر جدا از هم، ماه‌ها روی یک مسئله کار می‌کنند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696712" y="3712464"/>
            <a:ext cx="5928055" cy="1005840"/>
          </a:xfrm>
          <a:prstGeom prst="roundRect">
            <a:avLst>
              <a:gd name="adj" fmla="val 11000"/>
            </a:avLst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11551615" y="3712464"/>
            <a:ext cx="73152" cy="100584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10856671" y="3995928"/>
            <a:ext cx="402336" cy="402336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IRANSans"/>
                <a:cs typeface="IRANSans"/>
                <a:ea typeface="IRANSans"/>
              </a:rPr>
              <a:t>۳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952744" y="3712464"/>
            <a:ext cx="4812487" cy="1005840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pPr rtl="1"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950" b="1">
                <a:solidFill>
                  <a:srgbClr val="1B4965"/>
                </a:solidFill>
                <a:latin typeface="IRANSans"/>
                <a:cs typeface="IRANSans"/>
                <a:ea typeface="IRANSans"/>
              </a:rPr>
              <a:t>دانش با آدم‌ها می‌رود</a:t>
            </a:r>
          </a:p>
          <a:p>
            <a:pPr rtl="1"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5A6B77"/>
                </a:solidFill>
                <a:latin typeface="IRANSans"/>
                <a:cs typeface="IRANSans"/>
                <a:ea typeface="IRANSans"/>
              </a:rPr>
              <a:t>با هر خداحافظی، سال‌ها تجربه از در بیرون می‌رود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696712" y="4809744"/>
            <a:ext cx="5928055" cy="1005840"/>
          </a:xfrm>
          <a:prstGeom prst="roundRect">
            <a:avLst>
              <a:gd name="adj" fmla="val 11000"/>
            </a:avLst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11551615" y="4809744"/>
            <a:ext cx="73152" cy="100584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10856671" y="5093208"/>
            <a:ext cx="402336" cy="402336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IRANSans"/>
                <a:cs typeface="IRANSans"/>
                <a:ea typeface="IRANSans"/>
              </a:rPr>
              <a:t>۴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952744" y="4809744"/>
            <a:ext cx="4812487" cy="1005840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pPr rtl="1"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950" b="1">
                <a:solidFill>
                  <a:srgbClr val="1B4965"/>
                </a:solidFill>
                <a:latin typeface="IRANSans"/>
                <a:cs typeface="IRANSans"/>
                <a:ea typeface="IRANSans"/>
              </a:rPr>
              <a:t>تازه‌واردهای سرگردان</a:t>
            </a:r>
          </a:p>
          <a:p>
            <a:pPr rtl="1"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5A6B77"/>
                </a:solidFill>
                <a:latin typeface="IRANSans"/>
                <a:cs typeface="IRANSans"/>
                <a:ea typeface="IRANSans"/>
              </a:rPr>
              <a:t>شش ماه طول می‌کشد تا بفهمند از چه کسی بپرسند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66928" y="6382512"/>
            <a:ext cx="3657600" cy="274320"/>
          </a:xfrm>
          <a:prstGeom prst="rect">
            <a:avLst/>
          </a:prstGeom>
          <a:noFill/>
        </p:spPr>
        <p:txBody>
          <a:bodyPr wrap="square" lIns="36576" rIns="36576" tIns="0" bIns="0" anchor="t">
            <a:spAutoFit/>
          </a:bodyPr>
          <a:lstStyle/>
          <a:p>
            <a:pPr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5A6B77"/>
                </a:solidFill>
                <a:latin typeface="IRANSans"/>
                <a:cs typeface="IRANSans"/>
                <a:ea typeface="IRANSans"/>
              </a:rPr>
              <a:t>منتورینگ گروهی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161727" y="6382512"/>
            <a:ext cx="1463040" cy="274320"/>
          </a:xfrm>
          <a:prstGeom prst="rect">
            <a:avLst/>
          </a:prstGeom>
          <a:noFill/>
        </p:spPr>
        <p:txBody>
          <a:bodyPr wrap="square" lIns="36576" rIns="36576" tIns="0" bIns="0" anchor="t">
            <a:spAutoFit/>
          </a:bodyPr>
          <a:lstStyle/>
          <a:p>
            <a:pPr rt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5A6B77"/>
                </a:solidFill>
                <a:latin typeface="IRANSans"/>
                <a:cs typeface="IRANSans"/>
                <a:ea typeface="IRANSans"/>
              </a:rPr>
              <a:t>۱۵ / ۳۰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66928" y="420624"/>
            <a:ext cx="868680" cy="292608"/>
          </a:xfrm>
          <a:prstGeom prst="roundRect">
            <a:avLst>
              <a:gd name="adj" fmla="val 44000"/>
            </a:avLst>
          </a:prstGeom>
          <a:solidFill>
            <a:srgbClr val="1B49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420624"/>
            <a:ext cx="868680" cy="292608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pPr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FFFFFF"/>
                </a:solidFill>
                <a:latin typeface="IRANSans"/>
                <a:cs typeface="IRANSans"/>
                <a:ea typeface="IRANSans"/>
              </a:rPr>
              <a:t>چرا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508760" y="420624"/>
            <a:ext cx="868680" cy="292608"/>
          </a:xfrm>
          <a:prstGeom prst="roundRect">
            <a:avLst>
              <a:gd name="adj" fmla="val 44000"/>
            </a:avLst>
          </a:prstGeom>
          <a:solidFill>
            <a:srgbClr val="E4EC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508760" y="420624"/>
            <a:ext cx="868680" cy="292608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pPr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5A6B77"/>
                </a:solidFill>
                <a:latin typeface="IRANSans"/>
                <a:cs typeface="IRANSans"/>
                <a:ea typeface="IRANSans"/>
              </a:rPr>
              <a:t>چیست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450592" y="420624"/>
            <a:ext cx="868680" cy="292608"/>
          </a:xfrm>
          <a:prstGeom prst="roundRect">
            <a:avLst>
              <a:gd name="adj" fmla="val 44000"/>
            </a:avLst>
          </a:prstGeom>
          <a:solidFill>
            <a:srgbClr val="E4EC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450592" y="420624"/>
            <a:ext cx="868680" cy="292608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pPr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5A6B77"/>
                </a:solidFill>
                <a:latin typeface="IRANSans"/>
                <a:cs typeface="IRANSans"/>
                <a:ea typeface="IRANSans"/>
              </a:rPr>
              <a:t>چطور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392424" y="420624"/>
            <a:ext cx="868680" cy="292608"/>
          </a:xfrm>
          <a:prstGeom prst="roundRect">
            <a:avLst>
              <a:gd name="adj" fmla="val 44000"/>
            </a:avLst>
          </a:prstGeom>
          <a:solidFill>
            <a:srgbClr val="E4EC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392424" y="420624"/>
            <a:ext cx="868680" cy="292608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pPr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5A6B77"/>
                </a:solidFill>
                <a:latin typeface="IRANSans"/>
                <a:cs typeface="IRANSans"/>
                <a:ea typeface="IRANSans"/>
              </a:rPr>
              <a:t>چه می‌شود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34256" y="420624"/>
            <a:ext cx="868680" cy="292608"/>
          </a:xfrm>
          <a:prstGeom prst="roundRect">
            <a:avLst>
              <a:gd name="adj" fmla="val 44000"/>
            </a:avLst>
          </a:prstGeom>
          <a:solidFill>
            <a:srgbClr val="E4EC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334256" y="420624"/>
            <a:ext cx="868680" cy="292608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pPr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5A6B77"/>
                </a:solidFill>
                <a:latin typeface="IRANSans"/>
                <a:cs typeface="IRANSans"/>
                <a:ea typeface="IRANSans"/>
              </a:rPr>
              <a:t>شروع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310896"/>
            <a:ext cx="11057839" cy="310896"/>
          </a:xfrm>
          <a:prstGeom prst="rect">
            <a:avLst/>
          </a:prstGeom>
          <a:noFill/>
        </p:spPr>
        <p:txBody>
          <a:bodyPr wrap="square" lIns="36576" rIns="36576" tIns="0" bIns="0" anchor="t">
            <a:spAutoFit/>
          </a:bodyPr>
          <a:lstStyle/>
          <a:p>
            <a:pPr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>
                <a:solidFill>
                  <a:srgbClr val="FF6B35"/>
                </a:solidFill>
                <a:latin typeface="IRANSans"/>
                <a:cs typeface="IRANSans"/>
                <a:ea typeface="IRANSans"/>
              </a:rPr>
              <a:t>آنچه پژوهش می‌گوید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621792"/>
            <a:ext cx="11057839" cy="640080"/>
          </a:xfrm>
          <a:prstGeom prst="rect">
            <a:avLst/>
          </a:prstGeom>
          <a:noFill/>
        </p:spPr>
        <p:txBody>
          <a:bodyPr wrap="square" lIns="36576" rIns="36576" tIns="0" bIns="0" anchor="t">
            <a:spAutoFit/>
          </a:bodyPr>
          <a:lstStyle/>
          <a:p>
            <a:pPr rtl="1"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100" b="1">
                <a:solidFill>
                  <a:srgbClr val="1B4965"/>
                </a:solidFill>
                <a:latin typeface="IRANSans"/>
                <a:cs typeface="IRANSans"/>
                <a:ea typeface="IRANSans"/>
              </a:rPr>
              <a:t>بودجه آموزش، جای اشتباهی خرج می‌شود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0527487" y="1243584"/>
            <a:ext cx="1097280" cy="57150"/>
          </a:xfrm>
          <a:prstGeom prst="rect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7633787" y="1903030"/>
            <a:ext cx="2836090" cy="2923700"/>
          </a:xfrm>
          <a:custGeom>
            <a:avLst/>
            <a:gdLst/>
            <a:ahLst/>
            <a:cxnLst/>
            <a:rect l="l" t="t" r="r" b="b"/>
            <a:pathLst>
              <a:path w="2836090" h="2923700">
                <a:moveTo>
                  <a:pt x="1429215" y="0"/>
                </a:moveTo>
                <a:lnTo>
                  <a:pt x="1560430" y="10970"/>
                </a:lnTo>
                <a:lnTo>
                  <a:pt x="1690128" y="33694"/>
                </a:lnTo>
                <a:lnTo>
                  <a:pt x="1817257" y="67986"/>
                </a:lnTo>
                <a:lnTo>
                  <a:pt x="1940788" y="113569"/>
                </a:lnTo>
                <a:lnTo>
                  <a:pt x="2059720" y="170074"/>
                </a:lnTo>
                <a:lnTo>
                  <a:pt x="2173091" y="237043"/>
                </a:lnTo>
                <a:lnTo>
                  <a:pt x="2279981" y="313934"/>
                </a:lnTo>
                <a:lnTo>
                  <a:pt x="2379525" y="400124"/>
                </a:lnTo>
                <a:lnTo>
                  <a:pt x="2470917" y="494915"/>
                </a:lnTo>
                <a:lnTo>
                  <a:pt x="2553416" y="597538"/>
                </a:lnTo>
                <a:lnTo>
                  <a:pt x="2626355" y="707164"/>
                </a:lnTo>
                <a:lnTo>
                  <a:pt x="2689142" y="822903"/>
                </a:lnTo>
                <a:lnTo>
                  <a:pt x="2741268" y="943819"/>
                </a:lnTo>
                <a:lnTo>
                  <a:pt x="2782312" y="1068931"/>
                </a:lnTo>
                <a:lnTo>
                  <a:pt x="2811942" y="1197227"/>
                </a:lnTo>
                <a:lnTo>
                  <a:pt x="2829916" y="1327667"/>
                </a:lnTo>
                <a:lnTo>
                  <a:pt x="2836090" y="1459195"/>
                </a:lnTo>
                <a:lnTo>
                  <a:pt x="2830413" y="1590746"/>
                </a:lnTo>
                <a:lnTo>
                  <a:pt x="2812932" y="1721253"/>
                </a:lnTo>
                <a:lnTo>
                  <a:pt x="2783788" y="1849660"/>
                </a:lnTo>
                <a:lnTo>
                  <a:pt x="2743218" y="1974927"/>
                </a:lnTo>
                <a:lnTo>
                  <a:pt x="2691549" y="2096039"/>
                </a:lnTo>
                <a:lnTo>
                  <a:pt x="2629200" y="2212014"/>
                </a:lnTo>
                <a:lnTo>
                  <a:pt x="2556677" y="2321915"/>
                </a:lnTo>
                <a:lnTo>
                  <a:pt x="2474566" y="2424850"/>
                </a:lnTo>
                <a:lnTo>
                  <a:pt x="2383533" y="2519985"/>
                </a:lnTo>
                <a:lnTo>
                  <a:pt x="2284316" y="2606551"/>
                </a:lnTo>
                <a:lnTo>
                  <a:pt x="2177717" y="2683846"/>
                </a:lnTo>
                <a:lnTo>
                  <a:pt x="2064601" y="2751243"/>
                </a:lnTo>
                <a:lnTo>
                  <a:pt x="1945883" y="2808198"/>
                </a:lnTo>
                <a:lnTo>
                  <a:pt x="1822525" y="2854248"/>
                </a:lnTo>
                <a:lnTo>
                  <a:pt x="1695527" y="2889020"/>
                </a:lnTo>
                <a:lnTo>
                  <a:pt x="1565916" y="2912234"/>
                </a:lnTo>
                <a:lnTo>
                  <a:pt x="1434743" y="2923700"/>
                </a:lnTo>
                <a:lnTo>
                  <a:pt x="1303071" y="2923327"/>
                </a:lnTo>
                <a:lnTo>
                  <a:pt x="1171966" y="2911116"/>
                </a:lnTo>
                <a:lnTo>
                  <a:pt x="1042489" y="2887168"/>
                </a:lnTo>
                <a:lnTo>
                  <a:pt x="915690" y="2851676"/>
                </a:lnTo>
                <a:lnTo>
                  <a:pt x="792595" y="2804927"/>
                </a:lnTo>
                <a:lnTo>
                  <a:pt x="674202" y="2747300"/>
                </a:lnTo>
                <a:lnTo>
                  <a:pt x="561470" y="2679262"/>
                </a:lnTo>
                <a:lnTo>
                  <a:pt x="455311" y="2601364"/>
                </a:lnTo>
                <a:lnTo>
                  <a:pt x="356586" y="2514237"/>
                </a:lnTo>
                <a:lnTo>
                  <a:pt x="266095" y="2418586"/>
                </a:lnTo>
                <a:lnTo>
                  <a:pt x="184569" y="2315187"/>
                </a:lnTo>
                <a:lnTo>
                  <a:pt x="112671" y="2204877"/>
                </a:lnTo>
                <a:lnTo>
                  <a:pt x="50981" y="2088549"/>
                </a:lnTo>
                <a:lnTo>
                  <a:pt x="0" y="1967147"/>
                </a:lnTo>
                <a:lnTo>
                  <a:pt x="549221" y="1765073"/>
                </a:lnTo>
                <a:lnTo>
                  <a:pt x="579809" y="1837914"/>
                </a:lnTo>
                <a:lnTo>
                  <a:pt x="616823" y="1907711"/>
                </a:lnTo>
                <a:lnTo>
                  <a:pt x="659963" y="1973897"/>
                </a:lnTo>
                <a:lnTo>
                  <a:pt x="708878" y="2035936"/>
                </a:lnTo>
                <a:lnTo>
                  <a:pt x="763173" y="2093327"/>
                </a:lnTo>
                <a:lnTo>
                  <a:pt x="822408" y="2145603"/>
                </a:lnTo>
                <a:lnTo>
                  <a:pt x="886103" y="2192342"/>
                </a:lnTo>
                <a:lnTo>
                  <a:pt x="953742" y="2233164"/>
                </a:lnTo>
                <a:lnTo>
                  <a:pt x="1024778" y="2267741"/>
                </a:lnTo>
                <a:lnTo>
                  <a:pt x="1098635" y="2295790"/>
                </a:lnTo>
                <a:lnTo>
                  <a:pt x="1174714" y="2317085"/>
                </a:lnTo>
                <a:lnTo>
                  <a:pt x="1252400" y="2331454"/>
                </a:lnTo>
                <a:lnTo>
                  <a:pt x="1331064" y="2338781"/>
                </a:lnTo>
                <a:lnTo>
                  <a:pt x="1410067" y="2339005"/>
                </a:lnTo>
                <a:lnTo>
                  <a:pt x="1488771" y="2332125"/>
                </a:lnTo>
                <a:lnTo>
                  <a:pt x="1566537" y="2318197"/>
                </a:lnTo>
                <a:lnTo>
                  <a:pt x="1642736" y="2297333"/>
                </a:lnTo>
                <a:lnTo>
                  <a:pt x="1716751" y="2269703"/>
                </a:lnTo>
                <a:lnTo>
                  <a:pt x="1787981" y="2235530"/>
                </a:lnTo>
                <a:lnTo>
                  <a:pt x="1855851" y="2195092"/>
                </a:lnTo>
                <a:lnTo>
                  <a:pt x="1919810" y="2148715"/>
                </a:lnTo>
                <a:lnTo>
                  <a:pt x="1979341" y="2096776"/>
                </a:lnTo>
                <a:lnTo>
                  <a:pt x="2033961" y="2039694"/>
                </a:lnTo>
                <a:lnTo>
                  <a:pt x="2083227" y="1977934"/>
                </a:lnTo>
                <a:lnTo>
                  <a:pt x="2126741" y="1911993"/>
                </a:lnTo>
                <a:lnTo>
                  <a:pt x="2164150" y="1842408"/>
                </a:lnTo>
                <a:lnTo>
                  <a:pt x="2195152" y="1769741"/>
                </a:lnTo>
                <a:lnTo>
                  <a:pt x="2219494" y="1694581"/>
                </a:lnTo>
                <a:lnTo>
                  <a:pt x="2236980" y="1617536"/>
                </a:lnTo>
                <a:lnTo>
                  <a:pt x="2247469" y="1539232"/>
                </a:lnTo>
                <a:lnTo>
                  <a:pt x="2250875" y="1460302"/>
                </a:lnTo>
                <a:lnTo>
                  <a:pt x="2247171" y="1381385"/>
                </a:lnTo>
                <a:lnTo>
                  <a:pt x="2236386" y="1303121"/>
                </a:lnTo>
                <a:lnTo>
                  <a:pt x="2218608" y="1226143"/>
                </a:lnTo>
                <a:lnTo>
                  <a:pt x="2193982" y="1151076"/>
                </a:lnTo>
                <a:lnTo>
                  <a:pt x="2162706" y="1078526"/>
                </a:lnTo>
                <a:lnTo>
                  <a:pt x="2125034" y="1009083"/>
                </a:lnTo>
                <a:lnTo>
                  <a:pt x="2081271" y="943308"/>
                </a:lnTo>
                <a:lnTo>
                  <a:pt x="2031771" y="881733"/>
                </a:lnTo>
                <a:lnTo>
                  <a:pt x="1976936" y="824859"/>
                </a:lnTo>
                <a:lnTo>
                  <a:pt x="1917210" y="773145"/>
                </a:lnTo>
                <a:lnTo>
                  <a:pt x="1853075" y="727011"/>
                </a:lnTo>
                <a:lnTo>
                  <a:pt x="1785053" y="686829"/>
                </a:lnTo>
                <a:lnTo>
                  <a:pt x="1713694" y="652926"/>
                </a:lnTo>
                <a:lnTo>
                  <a:pt x="1639575" y="625576"/>
                </a:lnTo>
                <a:lnTo>
                  <a:pt x="1563298" y="605001"/>
                </a:lnTo>
                <a:lnTo>
                  <a:pt x="1485479" y="591367"/>
                </a:lnTo>
                <a:lnTo>
                  <a:pt x="1406750" y="584785"/>
                </a:lnTo>
                <a:close/>
              </a:path>
            </a:pathLst>
          </a:custGeom>
          <a:solidFill>
            <a:srgbClr val="1E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Freeform 16"/>
          <p:cNvSpPr/>
          <p:nvPr/>
        </p:nvSpPr>
        <p:spPr>
          <a:xfrm>
            <a:off x="7415807" y="2114649"/>
            <a:ext cx="1008596" cy="1683556"/>
          </a:xfrm>
          <a:custGeom>
            <a:avLst/>
            <a:gdLst/>
            <a:ahLst/>
            <a:cxnLst/>
            <a:rect l="l" t="t" r="r" b="b"/>
            <a:pathLst>
              <a:path w="1008596" h="1683556">
                <a:moveTo>
                  <a:pt x="60090" y="1683556"/>
                </a:moveTo>
                <a:lnTo>
                  <a:pt x="49905" y="1645798"/>
                </a:lnTo>
                <a:lnTo>
                  <a:pt x="40651" y="1607801"/>
                </a:lnTo>
                <a:lnTo>
                  <a:pt x="32334" y="1569589"/>
                </a:lnTo>
                <a:lnTo>
                  <a:pt x="24959" y="1531183"/>
                </a:lnTo>
                <a:lnTo>
                  <a:pt x="18529" y="1492608"/>
                </a:lnTo>
                <a:lnTo>
                  <a:pt x="13050" y="1453887"/>
                </a:lnTo>
                <a:lnTo>
                  <a:pt x="8524" y="1415042"/>
                </a:lnTo>
                <a:lnTo>
                  <a:pt x="4954" y="1376098"/>
                </a:lnTo>
                <a:lnTo>
                  <a:pt x="2342" y="1337078"/>
                </a:lnTo>
                <a:lnTo>
                  <a:pt x="691" y="1298006"/>
                </a:lnTo>
                <a:lnTo>
                  <a:pt x="0" y="1258905"/>
                </a:lnTo>
                <a:lnTo>
                  <a:pt x="270" y="1219798"/>
                </a:lnTo>
                <a:lnTo>
                  <a:pt x="1501" y="1180710"/>
                </a:lnTo>
                <a:lnTo>
                  <a:pt x="3692" y="1141665"/>
                </a:lnTo>
                <a:lnTo>
                  <a:pt x="6843" y="1102684"/>
                </a:lnTo>
                <a:lnTo>
                  <a:pt x="10951" y="1063794"/>
                </a:lnTo>
                <a:lnTo>
                  <a:pt x="16013" y="1025015"/>
                </a:lnTo>
                <a:lnTo>
                  <a:pt x="22027" y="986373"/>
                </a:lnTo>
                <a:lnTo>
                  <a:pt x="28988" y="947891"/>
                </a:lnTo>
                <a:lnTo>
                  <a:pt x="36894" y="909591"/>
                </a:lnTo>
                <a:lnTo>
                  <a:pt x="45738" y="871497"/>
                </a:lnTo>
                <a:lnTo>
                  <a:pt x="55516" y="833631"/>
                </a:lnTo>
                <a:lnTo>
                  <a:pt x="66222" y="796018"/>
                </a:lnTo>
                <a:lnTo>
                  <a:pt x="77848" y="758679"/>
                </a:lnTo>
                <a:lnTo>
                  <a:pt x="90389" y="721637"/>
                </a:lnTo>
                <a:lnTo>
                  <a:pt x="103837" y="684915"/>
                </a:lnTo>
                <a:lnTo>
                  <a:pt x="118183" y="648534"/>
                </a:lnTo>
                <a:lnTo>
                  <a:pt x="133419" y="612517"/>
                </a:lnTo>
                <a:lnTo>
                  <a:pt x="149535" y="576885"/>
                </a:lnTo>
                <a:lnTo>
                  <a:pt x="166523" y="541660"/>
                </a:lnTo>
                <a:lnTo>
                  <a:pt x="184371" y="506863"/>
                </a:lnTo>
                <a:lnTo>
                  <a:pt x="203069" y="472515"/>
                </a:lnTo>
                <a:lnTo>
                  <a:pt x="222605" y="438637"/>
                </a:lnTo>
                <a:lnTo>
                  <a:pt x="242968" y="405250"/>
                </a:lnTo>
                <a:lnTo>
                  <a:pt x="264146" y="372373"/>
                </a:lnTo>
                <a:lnTo>
                  <a:pt x="286125" y="340026"/>
                </a:lnTo>
                <a:lnTo>
                  <a:pt x="308892" y="308230"/>
                </a:lnTo>
                <a:lnTo>
                  <a:pt x="332435" y="277003"/>
                </a:lnTo>
                <a:lnTo>
                  <a:pt x="356737" y="246363"/>
                </a:lnTo>
                <a:lnTo>
                  <a:pt x="381785" y="216331"/>
                </a:lnTo>
                <a:lnTo>
                  <a:pt x="407564" y="186923"/>
                </a:lnTo>
                <a:lnTo>
                  <a:pt x="434058" y="158157"/>
                </a:lnTo>
                <a:lnTo>
                  <a:pt x="461251" y="130051"/>
                </a:lnTo>
                <a:lnTo>
                  <a:pt x="489126" y="102622"/>
                </a:lnTo>
                <a:lnTo>
                  <a:pt x="517667" y="75887"/>
                </a:lnTo>
                <a:lnTo>
                  <a:pt x="546857" y="49861"/>
                </a:lnTo>
                <a:lnTo>
                  <a:pt x="576677" y="24560"/>
                </a:lnTo>
                <a:lnTo>
                  <a:pt x="607110" y="0"/>
                </a:lnTo>
                <a:lnTo>
                  <a:pt x="1008596" y="510197"/>
                </a:lnTo>
                <a:lnTo>
                  <a:pt x="990581" y="524736"/>
                </a:lnTo>
                <a:lnTo>
                  <a:pt x="972928" y="539713"/>
                </a:lnTo>
                <a:lnTo>
                  <a:pt x="955650" y="555119"/>
                </a:lnTo>
                <a:lnTo>
                  <a:pt x="938755" y="570945"/>
                </a:lnTo>
                <a:lnTo>
                  <a:pt x="922254" y="587182"/>
                </a:lnTo>
                <a:lnTo>
                  <a:pt x="906157" y="603819"/>
                </a:lnTo>
                <a:lnTo>
                  <a:pt x="890474" y="620847"/>
                </a:lnTo>
                <a:lnTo>
                  <a:pt x="875214" y="638255"/>
                </a:lnTo>
                <a:lnTo>
                  <a:pt x="860386" y="656033"/>
                </a:lnTo>
                <a:lnTo>
                  <a:pt x="846000" y="674170"/>
                </a:lnTo>
                <a:lnTo>
                  <a:pt x="832065" y="692655"/>
                </a:lnTo>
                <a:lnTo>
                  <a:pt x="818587" y="711477"/>
                </a:lnTo>
                <a:lnTo>
                  <a:pt x="805577" y="730625"/>
                </a:lnTo>
                <a:lnTo>
                  <a:pt x="793040" y="750086"/>
                </a:lnTo>
                <a:lnTo>
                  <a:pt x="780986" y="769850"/>
                </a:lnTo>
                <a:lnTo>
                  <a:pt x="769422" y="789904"/>
                </a:lnTo>
                <a:lnTo>
                  <a:pt x="758353" y="810237"/>
                </a:lnTo>
                <a:lnTo>
                  <a:pt x="747788" y="830835"/>
                </a:lnTo>
                <a:lnTo>
                  <a:pt x="737733" y="851686"/>
                </a:lnTo>
                <a:lnTo>
                  <a:pt x="728192" y="872779"/>
                </a:lnTo>
                <a:lnTo>
                  <a:pt x="719173" y="894100"/>
                </a:lnTo>
                <a:lnTo>
                  <a:pt x="710681" y="915635"/>
                </a:lnTo>
                <a:lnTo>
                  <a:pt x="702721" y="937373"/>
                </a:lnTo>
                <a:lnTo>
                  <a:pt x="695297" y="959300"/>
                </a:lnTo>
                <a:lnTo>
                  <a:pt x="688415" y="981403"/>
                </a:lnTo>
                <a:lnTo>
                  <a:pt x="682077" y="1003669"/>
                </a:lnTo>
                <a:lnTo>
                  <a:pt x="676289" y="1026083"/>
                </a:lnTo>
                <a:lnTo>
                  <a:pt x="671054" y="1048633"/>
                </a:lnTo>
                <a:lnTo>
                  <a:pt x="666374" y="1071305"/>
                </a:lnTo>
                <a:lnTo>
                  <a:pt x="662253" y="1094085"/>
                </a:lnTo>
                <a:lnTo>
                  <a:pt x="658693" y="1116959"/>
                </a:lnTo>
                <a:lnTo>
                  <a:pt x="655697" y="1139914"/>
                </a:lnTo>
                <a:lnTo>
                  <a:pt x="653265" y="1162936"/>
                </a:lnTo>
                <a:lnTo>
                  <a:pt x="651400" y="1186010"/>
                </a:lnTo>
                <a:lnTo>
                  <a:pt x="650103" y="1209124"/>
                </a:lnTo>
                <a:lnTo>
                  <a:pt x="649374" y="1232262"/>
                </a:lnTo>
                <a:lnTo>
                  <a:pt x="649214" y="1255411"/>
                </a:lnTo>
                <a:lnTo>
                  <a:pt x="649623" y="1278557"/>
                </a:lnTo>
                <a:lnTo>
                  <a:pt x="650601" y="1301686"/>
                </a:lnTo>
                <a:lnTo>
                  <a:pt x="652147" y="1324784"/>
                </a:lnTo>
                <a:lnTo>
                  <a:pt x="654260" y="1347837"/>
                </a:lnTo>
                <a:lnTo>
                  <a:pt x="656939" y="1370831"/>
                </a:lnTo>
                <a:lnTo>
                  <a:pt x="660183" y="1393753"/>
                </a:lnTo>
                <a:lnTo>
                  <a:pt x="663989" y="1416587"/>
                </a:lnTo>
                <a:lnTo>
                  <a:pt x="668355" y="1439322"/>
                </a:lnTo>
                <a:lnTo>
                  <a:pt x="673278" y="1461942"/>
                </a:lnTo>
                <a:lnTo>
                  <a:pt x="678756" y="1484434"/>
                </a:lnTo>
                <a:lnTo>
                  <a:pt x="684785" y="1506785"/>
                </a:lnTo>
                <a:close/>
              </a:path>
            </a:pathLst>
          </a:cu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Freeform 17"/>
          <p:cNvSpPr/>
          <p:nvPr/>
        </p:nvSpPr>
        <p:spPr>
          <a:xfrm>
            <a:off x="8192957" y="1903030"/>
            <a:ext cx="780185" cy="732503"/>
          </a:xfrm>
          <a:custGeom>
            <a:avLst/>
            <a:gdLst/>
            <a:ahLst/>
            <a:cxnLst/>
            <a:rect l="l" t="t" r="r" b="b"/>
            <a:pathLst>
              <a:path w="780185" h="732503">
                <a:moveTo>
                  <a:pt x="0" y="246198"/>
                </a:moveTo>
                <a:lnTo>
                  <a:pt x="14022" y="236927"/>
                </a:lnTo>
                <a:lnTo>
                  <a:pt x="28151" y="227817"/>
                </a:lnTo>
                <a:lnTo>
                  <a:pt x="42383" y="218871"/>
                </a:lnTo>
                <a:lnTo>
                  <a:pt x="56716" y="210089"/>
                </a:lnTo>
                <a:lnTo>
                  <a:pt x="71150" y="201472"/>
                </a:lnTo>
                <a:lnTo>
                  <a:pt x="85682" y="193021"/>
                </a:lnTo>
                <a:lnTo>
                  <a:pt x="100310" y="184738"/>
                </a:lnTo>
                <a:lnTo>
                  <a:pt x="115032" y="176623"/>
                </a:lnTo>
                <a:lnTo>
                  <a:pt x="129847" y="168678"/>
                </a:lnTo>
                <a:lnTo>
                  <a:pt x="144751" y="160904"/>
                </a:lnTo>
                <a:lnTo>
                  <a:pt x="159745" y="153302"/>
                </a:lnTo>
                <a:lnTo>
                  <a:pt x="174824" y="145872"/>
                </a:lnTo>
                <a:lnTo>
                  <a:pt x="189988" y="138617"/>
                </a:lnTo>
                <a:lnTo>
                  <a:pt x="205234" y="131536"/>
                </a:lnTo>
                <a:lnTo>
                  <a:pt x="220561" y="124630"/>
                </a:lnTo>
                <a:lnTo>
                  <a:pt x="235965" y="117901"/>
                </a:lnTo>
                <a:lnTo>
                  <a:pt x="251447" y="111350"/>
                </a:lnTo>
                <a:lnTo>
                  <a:pt x="267002" y="104977"/>
                </a:lnTo>
                <a:lnTo>
                  <a:pt x="282630" y="98783"/>
                </a:lnTo>
                <a:lnTo>
                  <a:pt x="298327" y="92769"/>
                </a:lnTo>
                <a:lnTo>
                  <a:pt x="314093" y="86935"/>
                </a:lnTo>
                <a:lnTo>
                  <a:pt x="329925" y="81284"/>
                </a:lnTo>
                <a:lnTo>
                  <a:pt x="345821" y="75814"/>
                </a:lnTo>
                <a:lnTo>
                  <a:pt x="361778" y="70528"/>
                </a:lnTo>
                <a:lnTo>
                  <a:pt x="377795" y="65425"/>
                </a:lnTo>
                <a:lnTo>
                  <a:pt x="393870" y="60507"/>
                </a:lnTo>
                <a:lnTo>
                  <a:pt x="410000" y="55773"/>
                </a:lnTo>
                <a:lnTo>
                  <a:pt x="426184" y="51226"/>
                </a:lnTo>
                <a:lnTo>
                  <a:pt x="442419" y="46864"/>
                </a:lnTo>
                <a:lnTo>
                  <a:pt x="458702" y="42689"/>
                </a:lnTo>
                <a:lnTo>
                  <a:pt x="475033" y="38702"/>
                </a:lnTo>
                <a:lnTo>
                  <a:pt x="491408" y="34903"/>
                </a:lnTo>
                <a:lnTo>
                  <a:pt x="507826" y="31292"/>
                </a:lnTo>
                <a:lnTo>
                  <a:pt x="524285" y="27870"/>
                </a:lnTo>
                <a:lnTo>
                  <a:pt x="540781" y="24637"/>
                </a:lnTo>
                <a:lnTo>
                  <a:pt x="557314" y="21594"/>
                </a:lnTo>
                <a:lnTo>
                  <a:pt x="573880" y="18741"/>
                </a:lnTo>
                <a:lnTo>
                  <a:pt x="590479" y="16079"/>
                </a:lnTo>
                <a:lnTo>
                  <a:pt x="607106" y="13607"/>
                </a:lnTo>
                <a:lnTo>
                  <a:pt x="623761" y="11327"/>
                </a:lnTo>
                <a:lnTo>
                  <a:pt x="640441" y="9238"/>
                </a:lnTo>
                <a:lnTo>
                  <a:pt x="657144" y="7342"/>
                </a:lnTo>
                <a:lnTo>
                  <a:pt x="673868" y="5637"/>
                </a:lnTo>
                <a:lnTo>
                  <a:pt x="690610" y="4124"/>
                </a:lnTo>
                <a:lnTo>
                  <a:pt x="707369" y="2804"/>
                </a:lnTo>
                <a:lnTo>
                  <a:pt x="724141" y="1676"/>
                </a:lnTo>
                <a:lnTo>
                  <a:pt x="740926" y="742"/>
                </a:lnTo>
                <a:lnTo>
                  <a:pt x="757720" y="0"/>
                </a:lnTo>
                <a:lnTo>
                  <a:pt x="780185" y="584785"/>
                </a:lnTo>
                <a:lnTo>
                  <a:pt x="770108" y="585230"/>
                </a:lnTo>
                <a:lnTo>
                  <a:pt x="760038" y="585790"/>
                </a:lnTo>
                <a:lnTo>
                  <a:pt x="749974" y="586467"/>
                </a:lnTo>
                <a:lnTo>
                  <a:pt x="739919" y="587259"/>
                </a:lnTo>
                <a:lnTo>
                  <a:pt x="729874" y="588167"/>
                </a:lnTo>
                <a:lnTo>
                  <a:pt x="719840" y="589190"/>
                </a:lnTo>
                <a:lnTo>
                  <a:pt x="709818" y="590328"/>
                </a:lnTo>
                <a:lnTo>
                  <a:pt x="699810" y="591581"/>
                </a:lnTo>
                <a:lnTo>
                  <a:pt x="689817" y="592949"/>
                </a:lnTo>
                <a:lnTo>
                  <a:pt x="679840" y="594432"/>
                </a:lnTo>
                <a:lnTo>
                  <a:pt x="669881" y="596029"/>
                </a:lnTo>
                <a:lnTo>
                  <a:pt x="659941" y="597741"/>
                </a:lnTo>
                <a:lnTo>
                  <a:pt x="650022" y="599567"/>
                </a:lnTo>
                <a:lnTo>
                  <a:pt x="640124" y="601506"/>
                </a:lnTo>
                <a:lnTo>
                  <a:pt x="630249" y="603560"/>
                </a:lnTo>
                <a:lnTo>
                  <a:pt x="620398" y="605726"/>
                </a:lnTo>
                <a:lnTo>
                  <a:pt x="610573" y="608006"/>
                </a:lnTo>
                <a:lnTo>
                  <a:pt x="600774" y="610398"/>
                </a:lnTo>
                <a:lnTo>
                  <a:pt x="591004" y="612903"/>
                </a:lnTo>
                <a:lnTo>
                  <a:pt x="581263" y="615520"/>
                </a:lnTo>
                <a:lnTo>
                  <a:pt x="571553" y="618249"/>
                </a:lnTo>
                <a:lnTo>
                  <a:pt x="561875" y="621089"/>
                </a:lnTo>
                <a:lnTo>
                  <a:pt x="552230" y="624040"/>
                </a:lnTo>
                <a:lnTo>
                  <a:pt x="542620" y="627101"/>
                </a:lnTo>
                <a:lnTo>
                  <a:pt x="533045" y="630273"/>
                </a:lnTo>
                <a:lnTo>
                  <a:pt x="523508" y="633555"/>
                </a:lnTo>
                <a:lnTo>
                  <a:pt x="514009" y="636946"/>
                </a:lnTo>
                <a:lnTo>
                  <a:pt x="504549" y="640446"/>
                </a:lnTo>
                <a:lnTo>
                  <a:pt x="495131" y="644054"/>
                </a:lnTo>
                <a:lnTo>
                  <a:pt x="485754" y="647771"/>
                </a:lnTo>
                <a:lnTo>
                  <a:pt x="476421" y="651594"/>
                </a:lnTo>
                <a:lnTo>
                  <a:pt x="467132" y="655525"/>
                </a:lnTo>
                <a:lnTo>
                  <a:pt x="457889" y="659563"/>
                </a:lnTo>
                <a:lnTo>
                  <a:pt x="448693" y="663706"/>
                </a:lnTo>
                <a:lnTo>
                  <a:pt x="439546" y="667955"/>
                </a:lnTo>
                <a:lnTo>
                  <a:pt x="430447" y="672308"/>
                </a:lnTo>
                <a:lnTo>
                  <a:pt x="421400" y="676766"/>
                </a:lnTo>
                <a:lnTo>
                  <a:pt x="412404" y="681327"/>
                </a:lnTo>
                <a:lnTo>
                  <a:pt x="403461" y="685992"/>
                </a:lnTo>
                <a:lnTo>
                  <a:pt x="394572" y="690759"/>
                </a:lnTo>
                <a:lnTo>
                  <a:pt x="385739" y="695627"/>
                </a:lnTo>
                <a:lnTo>
                  <a:pt x="376962" y="700597"/>
                </a:lnTo>
                <a:lnTo>
                  <a:pt x="368243" y="705668"/>
                </a:lnTo>
                <a:lnTo>
                  <a:pt x="359583" y="710838"/>
                </a:lnTo>
                <a:lnTo>
                  <a:pt x="350983" y="716107"/>
                </a:lnTo>
                <a:lnTo>
                  <a:pt x="342443" y="721475"/>
                </a:lnTo>
                <a:lnTo>
                  <a:pt x="333966" y="726941"/>
                </a:lnTo>
                <a:lnTo>
                  <a:pt x="325553" y="732503"/>
                </a:lnTo>
                <a:close/>
              </a:path>
            </a:pathLst>
          </a:custGeom>
          <a:solidFill>
            <a:srgbClr val="2A6F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92440" y="2907792"/>
            <a:ext cx="1828800" cy="914400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pPr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300" b="1">
                <a:solidFill>
                  <a:srgbClr val="1B4965"/>
                </a:solidFill>
                <a:latin typeface="IRANSans"/>
                <a:cs typeface="IRANSans"/>
                <a:ea typeface="IRANSans"/>
              </a:rPr>
              <a:t>۷۰-۲۰-۱۰</a:t>
            </a:r>
          </a:p>
          <a:p>
            <a:pPr rtl="1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5A6B77"/>
                </a:solidFill>
                <a:latin typeface="IRANSans"/>
                <a:cs typeface="IRANSans"/>
                <a:ea typeface="IRANSans"/>
              </a:rPr>
              <a:t>مدل یادگیری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178040" y="5193792"/>
            <a:ext cx="3657600" cy="310896"/>
          </a:xfrm>
          <a:prstGeom prst="rect">
            <a:avLst/>
          </a:prstGeom>
          <a:noFill/>
        </p:spPr>
        <p:txBody>
          <a:bodyPr wrap="square" lIns="36576" rIns="36576" tIns="0" bIns="0" anchor="t">
            <a:spAutoFit/>
          </a:bodyPr>
          <a:lstStyle/>
          <a:p>
            <a:pPr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5A6B77"/>
                </a:solidFill>
                <a:latin typeface="IRANSans"/>
                <a:cs typeface="IRANSans"/>
                <a:ea typeface="IRANSans"/>
              </a:rPr>
              <a:t>مرجع: مؤسسه CCL آمریکا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1536192"/>
            <a:ext cx="6812280" cy="749808"/>
          </a:xfrm>
          <a:prstGeom prst="roundRect">
            <a:avLst>
              <a:gd name="adj" fmla="val 12000"/>
            </a:avLst>
          </a:prstGeom>
          <a:solidFill>
            <a:srgbClr val="E8F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296912" y="1536192"/>
            <a:ext cx="82296" cy="749808"/>
          </a:xfrm>
          <a:prstGeom prst="rect">
            <a:avLst/>
          </a:prstGeom>
          <a:solidFill>
            <a:srgbClr val="1E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916168" y="1536192"/>
            <a:ext cx="1280160" cy="749808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pPr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E8E5A"/>
                </a:solidFill>
                <a:latin typeface="IRANSans"/>
                <a:cs typeface="IRANSans"/>
                <a:ea typeface="IRANSans"/>
              </a:rPr>
              <a:t>۷۰٪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2960" y="1536192"/>
            <a:ext cx="4965192" cy="749808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pPr rtl="1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950" b="0">
                <a:solidFill>
                  <a:srgbClr val="1F2D38"/>
                </a:solidFill>
                <a:latin typeface="IRANSans"/>
                <a:cs typeface="IRANSans"/>
                <a:ea typeface="IRANSans"/>
              </a:rPr>
              <a:t>از انجام کار واقعی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66928" y="2414016"/>
            <a:ext cx="6812280" cy="896112"/>
          </a:xfrm>
          <a:prstGeom prst="roundRect">
            <a:avLst>
              <a:gd name="adj" fmla="val 12000"/>
            </a:avLst>
          </a:prstGeom>
          <a:solidFill>
            <a:srgbClr val="FFF3EC"/>
          </a:solidFill>
          <a:ln w="25400">
            <a:solidFill>
              <a:srgbClr val="FF6B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296912" y="2414016"/>
            <a:ext cx="82296" cy="896112"/>
          </a:xfrm>
          <a:prstGeom prst="rect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916168" y="2414016"/>
            <a:ext cx="1280160" cy="896112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pPr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900" b="1">
                <a:solidFill>
                  <a:srgbClr val="FF6B35"/>
                </a:solidFill>
                <a:latin typeface="IRANSans"/>
                <a:cs typeface="IRANSans"/>
                <a:ea typeface="IRANSans"/>
              </a:rPr>
              <a:t>۲۰٪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2960" y="2414016"/>
            <a:ext cx="4965192" cy="896112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pPr rtl="1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150" b="1">
                <a:solidFill>
                  <a:srgbClr val="D94E1F"/>
                </a:solidFill>
                <a:latin typeface="IRANSans"/>
                <a:cs typeface="IRANSans"/>
                <a:ea typeface="IRANSans"/>
              </a:rPr>
              <a:t>از تعامل با آدم‌های دیگر</a:t>
            </a:r>
            <a:r>
              <a:rPr sz="1550" b="1">
                <a:solidFill>
                  <a:srgbClr val="FF6B35"/>
                </a:solidFill>
                <a:latin typeface="IRANSans"/>
                <a:cs typeface="IRANSans"/>
                <a:ea typeface="IRANSans"/>
              </a:rPr>
              <a:t>     ← اینجا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66928" y="3438144"/>
            <a:ext cx="6812280" cy="749808"/>
          </a:xfrm>
          <a:prstGeom prst="roundRect">
            <a:avLst>
              <a:gd name="adj" fmla="val 12000"/>
            </a:avLst>
          </a:prstGeom>
          <a:solidFill>
            <a:srgbClr val="ECF3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7296912" y="3438144"/>
            <a:ext cx="82296" cy="749808"/>
          </a:xfrm>
          <a:prstGeom prst="rect">
            <a:avLst/>
          </a:prstGeom>
          <a:solidFill>
            <a:srgbClr val="2A6F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916168" y="3438144"/>
            <a:ext cx="1280160" cy="749808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pPr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2A6F97"/>
                </a:solidFill>
                <a:latin typeface="IRANSans"/>
                <a:cs typeface="IRANSans"/>
                <a:ea typeface="IRANSans"/>
              </a:rPr>
              <a:t>۱۰٪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2960" y="3438144"/>
            <a:ext cx="4965192" cy="749808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pPr rtl="1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950" b="0">
                <a:solidFill>
                  <a:srgbClr val="1F2D38"/>
                </a:solidFill>
                <a:latin typeface="IRANSans"/>
                <a:cs typeface="IRANSans"/>
                <a:ea typeface="IRANSans"/>
              </a:rPr>
              <a:t>از کلاس و کتاب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66928" y="4443984"/>
            <a:ext cx="6812280" cy="1572768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D8E2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22960" y="4590288"/>
            <a:ext cx="6300216" cy="347472"/>
          </a:xfrm>
          <a:prstGeom prst="rect">
            <a:avLst/>
          </a:prstGeom>
          <a:noFill/>
        </p:spPr>
        <p:txBody>
          <a:bodyPr wrap="square" lIns="36576" rIns="36576" tIns="0" bIns="0" anchor="t">
            <a:spAutoFit/>
          </a:bodyPr>
          <a:lstStyle/>
          <a:p>
            <a:pPr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>
                <a:solidFill>
                  <a:srgbClr val="1B4965"/>
                </a:solidFill>
                <a:latin typeface="IRANSans"/>
                <a:cs typeface="IRANSans"/>
                <a:ea typeface="IRANSans"/>
              </a:rPr>
              <a:t>و بودجه آموزشی ما کجا خرج می‌شود؟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22960" y="5029200"/>
            <a:ext cx="6300216" cy="365760"/>
          </a:xfrm>
          <a:prstGeom prst="roundRect">
            <a:avLst>
              <a:gd name="adj" fmla="val 30000"/>
            </a:avLst>
          </a:prstGeom>
          <a:solidFill>
            <a:srgbClr val="ECF3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1452981" y="5029200"/>
            <a:ext cx="5670194" cy="365760"/>
          </a:xfrm>
          <a:prstGeom prst="roundRect">
            <a:avLst>
              <a:gd name="adj" fmla="val 30000"/>
            </a:avLst>
          </a:prstGeom>
          <a:solidFill>
            <a:srgbClr val="2A6F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452981" y="5029200"/>
            <a:ext cx="5670194" cy="365760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pPr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IRANSans"/>
                <a:cs typeface="IRANSans"/>
                <a:ea typeface="IRANSans"/>
              </a:rPr>
              <a:t>۹۰٪ روی کلاس و دوره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22960" y="5504688"/>
            <a:ext cx="6300216" cy="384048"/>
          </a:xfrm>
          <a:prstGeom prst="rect">
            <a:avLst/>
          </a:prstGeom>
          <a:noFill/>
        </p:spPr>
        <p:txBody>
          <a:bodyPr wrap="square" lIns="36576" rIns="36576" tIns="0" bIns="0" anchor="t">
            <a:spAutoFit/>
          </a:bodyPr>
          <a:lstStyle/>
          <a:p>
            <a:pPr rtl="1"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50" b="0">
                <a:solidFill>
                  <a:srgbClr val="5A6B77"/>
                </a:solidFill>
                <a:latin typeface="IRANSans"/>
                <a:cs typeface="IRANSans"/>
                <a:ea typeface="IRANSans"/>
              </a:rPr>
              <a:t>یعنی </a:t>
            </a:r>
            <a:r>
              <a:rPr sz="1550" b="1">
                <a:solidFill>
                  <a:srgbClr val="C0392B"/>
                </a:solidFill>
                <a:latin typeface="IRANSans"/>
                <a:cs typeface="IRANSans"/>
                <a:ea typeface="IRANSans"/>
              </a:rPr>
              <a:t>۹۰٪</a:t>
            </a:r>
            <a:r>
              <a:rPr sz="1550" b="0">
                <a:solidFill>
                  <a:srgbClr val="5A6B77"/>
                </a:solidFill>
                <a:latin typeface="IRANSans"/>
                <a:cs typeface="IRANSans"/>
                <a:ea typeface="IRANSans"/>
              </a:rPr>
              <a:t> بودجه، روی </a:t>
            </a:r>
            <a:r>
              <a:rPr sz="1550" b="1">
                <a:solidFill>
                  <a:srgbClr val="C0392B"/>
                </a:solidFill>
                <a:latin typeface="IRANSans"/>
                <a:cs typeface="IRANSans"/>
                <a:ea typeface="IRANSans"/>
              </a:rPr>
              <a:t>۱۰٪</a:t>
            </a:r>
            <a:r>
              <a:rPr sz="1550" b="0">
                <a:solidFill>
                  <a:srgbClr val="5A6B77"/>
                </a:solidFill>
                <a:latin typeface="IRANSans"/>
                <a:cs typeface="IRANSans"/>
                <a:ea typeface="IRANSans"/>
              </a:rPr>
              <a:t> یادگیری. منتورینگ گروهی سراغ آن </a:t>
            </a:r>
            <a:r>
              <a:rPr sz="1550" b="1">
                <a:solidFill>
                  <a:srgbClr val="D94E1F"/>
                </a:solidFill>
                <a:latin typeface="IRANSans"/>
                <a:cs typeface="IRANSans"/>
                <a:ea typeface="IRANSans"/>
              </a:rPr>
              <a:t>۲۰٪ رهاشده</a:t>
            </a:r>
            <a:r>
              <a:rPr sz="1550" b="0">
                <a:solidFill>
                  <a:srgbClr val="5A6B77"/>
                </a:solidFill>
                <a:latin typeface="IRANSans"/>
                <a:cs typeface="IRANSans"/>
                <a:ea typeface="IRANSans"/>
              </a:rPr>
              <a:t> می‌رود.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66928" y="6382512"/>
            <a:ext cx="3657600" cy="274320"/>
          </a:xfrm>
          <a:prstGeom prst="rect">
            <a:avLst/>
          </a:prstGeom>
          <a:noFill/>
        </p:spPr>
        <p:txBody>
          <a:bodyPr wrap="square" lIns="36576" rIns="36576" tIns="0" bIns="0" anchor="t">
            <a:spAutoFit/>
          </a:bodyPr>
          <a:lstStyle/>
          <a:p>
            <a:pPr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5A6B77"/>
                </a:solidFill>
                <a:latin typeface="IRANSans"/>
                <a:cs typeface="IRANSans"/>
                <a:ea typeface="IRANSans"/>
              </a:rPr>
              <a:t>منتورینگ گروهی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161727" y="6382512"/>
            <a:ext cx="1463040" cy="274320"/>
          </a:xfrm>
          <a:prstGeom prst="rect">
            <a:avLst/>
          </a:prstGeom>
          <a:noFill/>
        </p:spPr>
        <p:txBody>
          <a:bodyPr wrap="square" lIns="36576" rIns="36576" tIns="0" bIns="0" anchor="t">
            <a:spAutoFit/>
          </a:bodyPr>
          <a:lstStyle/>
          <a:p>
            <a:pPr rt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5A6B77"/>
                </a:solidFill>
                <a:latin typeface="IRANSans"/>
                <a:cs typeface="IRANSans"/>
                <a:ea typeface="IRANSans"/>
              </a:rPr>
              <a:t>۱۶ / ۳۰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5-circle.jpg"/>
          <p:cNvPicPr>
            <a:picLocks noChangeAspect="1"/>
          </p:cNvPicPr>
          <p:nvPr/>
        </p:nvPicPr>
        <p:blipFill>
          <a:blip r:embed="rId2"/>
          <a:srcRect t="7811" b="781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0E2C40">
                  <a:alpha val="10000"/>
                </a:srgbClr>
              </a:gs>
              <a:gs pos="100000">
                <a:srgbClr val="0E2C40">
                  <a:alpha val="94000"/>
                </a:srgbClr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2C40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864047" y="1993392"/>
            <a:ext cx="5760720" cy="566928"/>
          </a:xfrm>
          <a:prstGeom prst="rect">
            <a:avLst/>
          </a:prstGeom>
          <a:noFill/>
        </p:spPr>
        <p:txBody>
          <a:bodyPr wrap="square" lIns="36576" rIns="36576" tIns="0" bIns="0" anchor="t">
            <a:spAutoFit/>
          </a:bodyPr>
          <a:lstStyle/>
          <a:p>
            <a:pPr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FF6B35"/>
                </a:solidFill>
                <a:latin typeface="IRANSans"/>
                <a:cs typeface="IRANSans"/>
                <a:ea typeface="IRANSans"/>
              </a:rPr>
              <a:t>بخش ۲</a:t>
            </a:r>
          </a:p>
        </p:txBody>
      </p:sp>
      <p:sp>
        <p:nvSpPr>
          <p:cNvPr id="6" name="Rectangle 5"/>
          <p:cNvSpPr/>
          <p:nvPr/>
        </p:nvSpPr>
        <p:spPr>
          <a:xfrm>
            <a:off x="10436047" y="2615184"/>
            <a:ext cx="1188720" cy="57150"/>
          </a:xfrm>
          <a:prstGeom prst="rect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864047" y="2852928"/>
            <a:ext cx="5760720" cy="1737360"/>
          </a:xfrm>
          <a:prstGeom prst="rect">
            <a:avLst/>
          </a:prstGeom>
          <a:noFill/>
        </p:spPr>
        <p:txBody>
          <a:bodyPr wrap="square" lIns="36576" rIns="36576" tIns="0" bIns="0" anchor="t">
            <a:spAutoFit/>
          </a:bodyPr>
          <a:lstStyle/>
          <a:p>
            <a:pPr rtl="1" algn="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4400" b="1">
                <a:solidFill>
                  <a:srgbClr val="FFFFFF"/>
                </a:solidFill>
                <a:latin typeface="IRANSans"/>
                <a:cs typeface="IRANSans"/>
                <a:ea typeface="IRANSans"/>
              </a:rPr>
              <a:t>این روش</a:t>
            </a:r>
          </a:p>
          <a:p>
            <a:pPr rtl="1" algn="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4400" b="1">
                <a:solidFill>
                  <a:srgbClr val="FFFFFF"/>
                </a:solidFill>
                <a:latin typeface="IRANSans"/>
                <a:cs typeface="IRANSans"/>
                <a:ea typeface="IRANSans"/>
              </a:rPr>
              <a:t>چیست؟</a:t>
            </a:r>
          </a:p>
          <a:p>
            <a:pPr rtl="1" algn="r">
              <a:lnSpc>
                <a:spcPct val="130000"/>
              </a:lnSpc>
              <a:spcBef>
                <a:spcPts val="1400"/>
              </a:spcBef>
              <a:spcAft>
                <a:spcPts val="0"/>
              </a:spcAft>
            </a:pPr>
            <a:r>
              <a:rPr sz="1900" b="0">
                <a:solidFill>
                  <a:srgbClr val="ECF3F7"/>
                </a:solidFill>
                <a:latin typeface="IRANSans"/>
                <a:cs typeface="IRANSans"/>
                <a:ea typeface="IRANSans"/>
              </a:rPr>
              <a:t>تعریف، مرزها، و نقش‌هایی که در اتاق وجود دارد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756087" y="6035040"/>
            <a:ext cx="868680" cy="292608"/>
          </a:xfrm>
          <a:prstGeom prst="roundRect">
            <a:avLst>
              <a:gd name="adj" fmla="val 44000"/>
            </a:avLst>
          </a:prstGeom>
          <a:solidFill>
            <a:srgbClr val="FFFFFF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756087" y="6035040"/>
            <a:ext cx="868680" cy="292608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pPr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ECF3F7"/>
                </a:solidFill>
                <a:latin typeface="IRANSans"/>
                <a:cs typeface="IRANSans"/>
                <a:ea typeface="IRANSans"/>
              </a:rPr>
              <a:t>چرا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795967" y="6035040"/>
            <a:ext cx="868680" cy="292608"/>
          </a:xfrm>
          <a:prstGeom prst="roundRect">
            <a:avLst>
              <a:gd name="adj" fmla="val 44000"/>
            </a:avLst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795967" y="6035040"/>
            <a:ext cx="868680" cy="292608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pPr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FFFFFF"/>
                </a:solidFill>
                <a:latin typeface="IRANSans"/>
                <a:cs typeface="IRANSans"/>
                <a:ea typeface="IRANSans"/>
              </a:rPr>
              <a:t>چیست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835847" y="6035040"/>
            <a:ext cx="868680" cy="292608"/>
          </a:xfrm>
          <a:prstGeom prst="roundRect">
            <a:avLst>
              <a:gd name="adj" fmla="val 44000"/>
            </a:avLst>
          </a:prstGeom>
          <a:solidFill>
            <a:srgbClr val="FFFFFF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835847" y="6035040"/>
            <a:ext cx="868680" cy="292608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pPr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ECF3F7"/>
                </a:solidFill>
                <a:latin typeface="IRANSans"/>
                <a:cs typeface="IRANSans"/>
                <a:ea typeface="IRANSans"/>
              </a:rPr>
              <a:t>چطور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875727" y="6035040"/>
            <a:ext cx="868680" cy="292608"/>
          </a:xfrm>
          <a:prstGeom prst="roundRect">
            <a:avLst>
              <a:gd name="adj" fmla="val 44000"/>
            </a:avLst>
          </a:prstGeom>
          <a:solidFill>
            <a:srgbClr val="FFFFFF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875727" y="6035040"/>
            <a:ext cx="868680" cy="292608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pPr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ECF3F7"/>
                </a:solidFill>
                <a:latin typeface="IRANSans"/>
                <a:cs typeface="IRANSans"/>
                <a:ea typeface="IRANSans"/>
              </a:rPr>
              <a:t>چه می‌شود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915607" y="6035040"/>
            <a:ext cx="868680" cy="292608"/>
          </a:xfrm>
          <a:prstGeom prst="roundRect">
            <a:avLst>
              <a:gd name="adj" fmla="val 44000"/>
            </a:avLst>
          </a:prstGeom>
          <a:solidFill>
            <a:srgbClr val="FFFFFF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915607" y="6035040"/>
            <a:ext cx="868680" cy="292608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pPr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ECF3F7"/>
                </a:solidFill>
                <a:latin typeface="IRANSans"/>
                <a:cs typeface="IRANSans"/>
                <a:ea typeface="IRANSans"/>
              </a:rPr>
              <a:t>شروع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66928" y="420624"/>
            <a:ext cx="868680" cy="292608"/>
          </a:xfrm>
          <a:prstGeom prst="roundRect">
            <a:avLst>
              <a:gd name="adj" fmla="val 44000"/>
            </a:avLst>
          </a:prstGeom>
          <a:solidFill>
            <a:srgbClr val="E4EC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420624"/>
            <a:ext cx="868680" cy="292608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pPr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5A6B77"/>
                </a:solidFill>
                <a:latin typeface="IRANSans"/>
                <a:cs typeface="IRANSans"/>
                <a:ea typeface="IRANSans"/>
              </a:rPr>
              <a:t>چرا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508760" y="420624"/>
            <a:ext cx="868680" cy="292608"/>
          </a:xfrm>
          <a:prstGeom prst="roundRect">
            <a:avLst>
              <a:gd name="adj" fmla="val 44000"/>
            </a:avLst>
          </a:prstGeom>
          <a:solidFill>
            <a:srgbClr val="1B49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508760" y="420624"/>
            <a:ext cx="868680" cy="292608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pPr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FFFFFF"/>
                </a:solidFill>
                <a:latin typeface="IRANSans"/>
                <a:cs typeface="IRANSans"/>
                <a:ea typeface="IRANSans"/>
              </a:rPr>
              <a:t>چیست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450592" y="420624"/>
            <a:ext cx="868680" cy="292608"/>
          </a:xfrm>
          <a:prstGeom prst="roundRect">
            <a:avLst>
              <a:gd name="adj" fmla="val 44000"/>
            </a:avLst>
          </a:prstGeom>
          <a:solidFill>
            <a:srgbClr val="E4EC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450592" y="420624"/>
            <a:ext cx="868680" cy="292608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pPr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5A6B77"/>
                </a:solidFill>
                <a:latin typeface="IRANSans"/>
                <a:cs typeface="IRANSans"/>
                <a:ea typeface="IRANSans"/>
              </a:rPr>
              <a:t>چطور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392424" y="420624"/>
            <a:ext cx="868680" cy="292608"/>
          </a:xfrm>
          <a:prstGeom prst="roundRect">
            <a:avLst>
              <a:gd name="adj" fmla="val 44000"/>
            </a:avLst>
          </a:prstGeom>
          <a:solidFill>
            <a:srgbClr val="E4EC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392424" y="420624"/>
            <a:ext cx="868680" cy="292608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pPr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5A6B77"/>
                </a:solidFill>
                <a:latin typeface="IRANSans"/>
                <a:cs typeface="IRANSans"/>
                <a:ea typeface="IRANSans"/>
              </a:rPr>
              <a:t>چه می‌شود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34256" y="420624"/>
            <a:ext cx="868680" cy="292608"/>
          </a:xfrm>
          <a:prstGeom prst="roundRect">
            <a:avLst>
              <a:gd name="adj" fmla="val 44000"/>
            </a:avLst>
          </a:prstGeom>
          <a:solidFill>
            <a:srgbClr val="E4EC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334256" y="420624"/>
            <a:ext cx="868680" cy="292608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pPr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5A6B77"/>
                </a:solidFill>
                <a:latin typeface="IRANSans"/>
                <a:cs typeface="IRANSans"/>
                <a:ea typeface="IRANSans"/>
              </a:rPr>
              <a:t>شروع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310896"/>
            <a:ext cx="11057839" cy="310896"/>
          </a:xfrm>
          <a:prstGeom prst="rect">
            <a:avLst/>
          </a:prstGeom>
          <a:noFill/>
        </p:spPr>
        <p:txBody>
          <a:bodyPr wrap="square" lIns="36576" rIns="36576" tIns="0" bIns="0" anchor="t">
            <a:spAutoFit/>
          </a:bodyPr>
          <a:lstStyle/>
          <a:p>
            <a:pPr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>
                <a:solidFill>
                  <a:srgbClr val="FF6B35"/>
                </a:solidFill>
                <a:latin typeface="IRANSans"/>
                <a:cs typeface="IRANSans"/>
                <a:ea typeface="IRANSans"/>
              </a:rPr>
              <a:t>تعریف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621792"/>
            <a:ext cx="11057839" cy="640080"/>
          </a:xfrm>
          <a:prstGeom prst="rect">
            <a:avLst/>
          </a:prstGeom>
          <a:noFill/>
        </p:spPr>
        <p:txBody>
          <a:bodyPr wrap="square" lIns="36576" rIns="36576" tIns="0" bIns="0" anchor="t">
            <a:spAutoFit/>
          </a:bodyPr>
          <a:lstStyle/>
          <a:p>
            <a:pPr rtl="1"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100" b="1">
                <a:solidFill>
                  <a:srgbClr val="1B4965"/>
                </a:solidFill>
                <a:latin typeface="IRANSans"/>
                <a:cs typeface="IRANSans"/>
                <a:ea typeface="IRANSans"/>
              </a:rPr>
              <a:t>منتورینگ گروهی، در یک جمله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0527487" y="1243584"/>
            <a:ext cx="1097280" cy="57150"/>
          </a:xfrm>
          <a:prstGeom prst="rect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566928" y="1499616"/>
            <a:ext cx="11057839" cy="1426464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2700">
            <a:solidFill>
              <a:srgbClr val="D8E2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533327" y="1499616"/>
            <a:ext cx="91440" cy="1426464"/>
          </a:xfrm>
          <a:prstGeom prst="rect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96112" y="1499616"/>
            <a:ext cx="10399471" cy="1426464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pPr rtl="1" algn="ctr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0">
                <a:solidFill>
                  <a:srgbClr val="1F2D38"/>
                </a:solidFill>
                <a:latin typeface="IRANSans"/>
                <a:cs typeface="IRANSans"/>
                <a:ea typeface="IRANSans"/>
              </a:rPr>
              <a:t>گروهی کوچک از همکاران که </a:t>
            </a:r>
            <a:r>
              <a:rPr sz="2500" b="1">
                <a:solidFill>
                  <a:srgbClr val="D94E1F"/>
                </a:solidFill>
                <a:latin typeface="IRANSans"/>
                <a:cs typeface="IRANSans"/>
                <a:ea typeface="IRANSans"/>
              </a:rPr>
              <a:t>مرتب</a:t>
            </a:r>
            <a:r>
              <a:rPr sz="2500" b="0">
                <a:solidFill>
                  <a:srgbClr val="1F2D38"/>
                </a:solidFill>
                <a:latin typeface="IRANSans"/>
                <a:cs typeface="IRANSans"/>
                <a:ea typeface="IRANSans"/>
              </a:rPr>
              <a:t> دور هم جمع می‌شوند تا روی </a:t>
            </a:r>
            <a:r>
              <a:rPr sz="2500" b="1">
                <a:solidFill>
                  <a:srgbClr val="1B4965"/>
                </a:solidFill>
                <a:latin typeface="IRANSans"/>
                <a:cs typeface="IRANSans"/>
                <a:ea typeface="IRANSans"/>
              </a:rPr>
              <a:t>چالش‌های واقعی کاری</a:t>
            </a:r>
            <a:r>
              <a:rPr sz="2500" b="0">
                <a:solidFill>
                  <a:srgbClr val="1F2D38"/>
                </a:solidFill>
                <a:latin typeface="IRANSans"/>
                <a:cs typeface="IRANSans"/>
                <a:ea typeface="IRANSans"/>
              </a:rPr>
              <a:t> یکدیگر فکر کنند — با </a:t>
            </a:r>
            <a:r>
              <a:rPr sz="2500" b="1">
                <a:solidFill>
                  <a:srgbClr val="D94E1F"/>
                </a:solidFill>
                <a:latin typeface="IRANSans"/>
                <a:cs typeface="IRANSans"/>
                <a:ea typeface="IRANSans"/>
              </a:rPr>
              <a:t>پرسش</a:t>
            </a:r>
            <a:r>
              <a:rPr sz="2500" b="0">
                <a:solidFill>
                  <a:srgbClr val="1F2D38"/>
                </a:solidFill>
                <a:latin typeface="IRANSans"/>
                <a:cs typeface="IRANSans"/>
                <a:ea typeface="IRANSans"/>
              </a:rPr>
              <a:t>، نه با </a:t>
            </a:r>
            <a:r>
              <a:rPr sz="2500" b="1">
                <a:solidFill>
                  <a:srgbClr val="5A6B77"/>
                </a:solidFill>
                <a:latin typeface="IRANSans"/>
                <a:cs typeface="IRANSans"/>
                <a:ea typeface="IRANSans"/>
              </a:rPr>
              <a:t>نسخه‌پیچی</a:t>
            </a:r>
            <a:r>
              <a:rPr sz="2500" b="0">
                <a:solidFill>
                  <a:srgbClr val="1F2D38"/>
                </a:solidFill>
                <a:latin typeface="IRANSans"/>
                <a:cs typeface="IRANSans"/>
                <a:ea typeface="IRANSans"/>
              </a:rPr>
              <a:t>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066047" y="3200400"/>
            <a:ext cx="2558719" cy="1170432"/>
          </a:xfrm>
          <a:prstGeom prst="roundRect">
            <a:avLst>
              <a:gd name="adj" fmla="val 11000"/>
            </a:avLst>
          </a:prstGeom>
          <a:solidFill>
            <a:srgbClr val="FFFFFF"/>
          </a:solidFill>
          <a:ln w="12700">
            <a:solidFill>
              <a:srgbClr val="D8E2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9066047" y="3200400"/>
            <a:ext cx="2558719" cy="64008"/>
          </a:xfrm>
          <a:prstGeom prst="rect">
            <a:avLst/>
          </a:prstGeom>
          <a:solidFill>
            <a:srgbClr val="1B49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94063" y="3200400"/>
            <a:ext cx="2302687" cy="1170432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pPr rtl="1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1B4965"/>
                </a:solidFill>
                <a:latin typeface="IRANSans"/>
                <a:cs typeface="IRANSans"/>
                <a:ea typeface="IRANSans"/>
              </a:rPr>
              <a:t>۸ تا ۱۲</a:t>
            </a:r>
          </a:p>
          <a:p>
            <a:pPr rtl="1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>
                <a:solidFill>
                  <a:srgbClr val="5A6B77"/>
                </a:solidFill>
                <a:latin typeface="IRANSans"/>
                <a:cs typeface="IRANSans"/>
                <a:ea typeface="IRANSans"/>
              </a:rPr>
              <a:t>نفر در هر گروه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33007" y="3200400"/>
            <a:ext cx="2558719" cy="1170432"/>
          </a:xfrm>
          <a:prstGeom prst="roundRect">
            <a:avLst>
              <a:gd name="adj" fmla="val 11000"/>
            </a:avLst>
          </a:prstGeom>
          <a:solidFill>
            <a:srgbClr val="FFFFFF"/>
          </a:solidFill>
          <a:ln w="12700">
            <a:solidFill>
              <a:srgbClr val="D8E2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3007" y="3200400"/>
            <a:ext cx="2558719" cy="64008"/>
          </a:xfrm>
          <a:prstGeom prst="rect">
            <a:avLst/>
          </a:prstGeom>
          <a:solidFill>
            <a:srgbClr val="2A6F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61023" y="3200400"/>
            <a:ext cx="2302687" cy="1170432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pPr rtl="1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2A6F97"/>
                </a:solidFill>
                <a:latin typeface="IRANSans"/>
                <a:cs typeface="IRANSans"/>
                <a:ea typeface="IRANSans"/>
              </a:rPr>
              <a:t>۹۰</a:t>
            </a:r>
          </a:p>
          <a:p>
            <a:pPr rtl="1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>
                <a:solidFill>
                  <a:srgbClr val="5A6B77"/>
                </a:solidFill>
                <a:latin typeface="IRANSans"/>
                <a:cs typeface="IRANSans"/>
                <a:ea typeface="IRANSans"/>
              </a:rPr>
              <a:t>دقیقه در هر جلسه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399967" y="3200400"/>
            <a:ext cx="2558719" cy="1170432"/>
          </a:xfrm>
          <a:prstGeom prst="roundRect">
            <a:avLst>
              <a:gd name="adj" fmla="val 11000"/>
            </a:avLst>
          </a:prstGeom>
          <a:solidFill>
            <a:srgbClr val="FFFFFF"/>
          </a:solidFill>
          <a:ln w="12700">
            <a:solidFill>
              <a:srgbClr val="D8E2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3399967" y="3200400"/>
            <a:ext cx="2558719" cy="64008"/>
          </a:xfrm>
          <a:prstGeom prst="rect">
            <a:avLst/>
          </a:prstGeom>
          <a:solidFill>
            <a:srgbClr val="62B6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527983" y="3200400"/>
            <a:ext cx="2302687" cy="1170432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pPr rtl="1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62B6CB"/>
                </a:solidFill>
                <a:latin typeface="IRANSans"/>
                <a:cs typeface="IRANSans"/>
                <a:ea typeface="IRANSans"/>
              </a:rPr>
              <a:t>هر ۲ هفته</a:t>
            </a:r>
          </a:p>
          <a:p>
            <a:pPr rtl="1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>
                <a:solidFill>
                  <a:srgbClr val="5A6B77"/>
                </a:solidFill>
                <a:latin typeface="IRANSans"/>
                <a:cs typeface="IRANSans"/>
                <a:ea typeface="IRANSans"/>
              </a:rPr>
              <a:t>یک بار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3200400"/>
            <a:ext cx="2558719" cy="1170432"/>
          </a:xfrm>
          <a:prstGeom prst="roundRect">
            <a:avLst>
              <a:gd name="adj" fmla="val 11000"/>
            </a:avLst>
          </a:prstGeom>
          <a:solidFill>
            <a:srgbClr val="FFFFFF"/>
          </a:solidFill>
          <a:ln w="12700">
            <a:solidFill>
              <a:srgbClr val="D8E2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566928" y="3200400"/>
            <a:ext cx="2558719" cy="64008"/>
          </a:xfrm>
          <a:prstGeom prst="rect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94944" y="3200400"/>
            <a:ext cx="2302687" cy="1170432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pPr rtl="1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FF6B35"/>
                </a:solidFill>
                <a:latin typeface="IRANSans"/>
                <a:cs typeface="IRANSans"/>
                <a:ea typeface="IRANSans"/>
              </a:rPr>
              <a:t>۶ ماه</a:t>
            </a:r>
          </a:p>
          <a:p>
            <a:pPr rtl="1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>
                <a:solidFill>
                  <a:srgbClr val="5A6B77"/>
                </a:solidFill>
                <a:latin typeface="IRANSans"/>
                <a:cs typeface="IRANSans"/>
                <a:ea typeface="IRANSans"/>
              </a:rPr>
              <a:t>طول یک دوره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251295" y="4626864"/>
            <a:ext cx="5373471" cy="1133856"/>
          </a:xfrm>
          <a:prstGeom prst="roundRect">
            <a:avLst>
              <a:gd name="adj" fmla="val 11000"/>
            </a:avLst>
          </a:prstGeom>
          <a:solidFill>
            <a:srgbClr val="ECF0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10143439" y="4892040"/>
            <a:ext cx="1280160" cy="585216"/>
          </a:xfrm>
          <a:prstGeom prst="roundRect">
            <a:avLst>
              <a:gd name="adj" fmla="val 26000"/>
            </a:avLst>
          </a:prstGeom>
          <a:solidFill>
            <a:srgbClr val="5A6B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>
                <a:solidFill>
                  <a:srgbClr val="FFFFFF"/>
                </a:solidFill>
                <a:latin typeface="IRANSans"/>
                <a:cs typeface="IRANSans"/>
                <a:ea typeface="IRANSans"/>
              </a:rPr>
              <a:t>۱ ← ۱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507327" y="4626864"/>
            <a:ext cx="3526383" cy="1133856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pPr rtl="1"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850" b="1">
                <a:solidFill>
                  <a:srgbClr val="5A6B77"/>
                </a:solidFill>
                <a:latin typeface="IRANSans"/>
                <a:cs typeface="IRANSans"/>
                <a:ea typeface="IRANSans"/>
              </a:rPr>
              <a:t>منتورینگ کلاسیک</a:t>
            </a:r>
          </a:p>
          <a:p>
            <a:pPr rtl="1"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>
                <a:solidFill>
                  <a:srgbClr val="1F2D38"/>
                </a:solidFill>
                <a:latin typeface="IRANSans"/>
                <a:cs typeface="IRANSans"/>
                <a:ea typeface="IRANSans"/>
              </a:rPr>
              <a:t>یک نفر می‌داند، یک نفر یاد می‌گیرد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66928" y="4626864"/>
            <a:ext cx="5373471" cy="1133856"/>
          </a:xfrm>
          <a:prstGeom prst="roundRect">
            <a:avLst>
              <a:gd name="adj" fmla="val 11000"/>
            </a:avLst>
          </a:prstGeom>
          <a:solidFill>
            <a:srgbClr val="FFF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4459071" y="4892040"/>
            <a:ext cx="1280160" cy="585216"/>
          </a:xfrm>
          <a:prstGeom prst="roundRect">
            <a:avLst>
              <a:gd name="adj" fmla="val 26000"/>
            </a:avLst>
          </a:prstGeom>
          <a:solidFill>
            <a:srgbClr val="D94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>
                <a:solidFill>
                  <a:srgbClr val="FFFFFF"/>
                </a:solidFill>
                <a:latin typeface="IRANSans"/>
                <a:cs typeface="IRANSans"/>
                <a:ea typeface="IRANSans"/>
              </a:rPr>
              <a:t>همه ⇄ همه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2960" y="4626864"/>
            <a:ext cx="3526383" cy="1133856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pPr rtl="1"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850" b="1">
                <a:solidFill>
                  <a:srgbClr val="D94E1F"/>
                </a:solidFill>
                <a:latin typeface="IRANSans"/>
                <a:cs typeface="IRANSans"/>
                <a:ea typeface="IRANSans"/>
              </a:rPr>
              <a:t>منتورینگ گروهی</a:t>
            </a:r>
          </a:p>
          <a:p>
            <a:pPr rtl="1"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>
                <a:solidFill>
                  <a:srgbClr val="1F2D38"/>
                </a:solidFill>
                <a:latin typeface="IRANSans"/>
                <a:cs typeface="IRANSans"/>
                <a:ea typeface="IRANSans"/>
              </a:rPr>
              <a:t>همه می‌دانند، همه یاد می‌گیرند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66928" y="6382512"/>
            <a:ext cx="3657600" cy="274320"/>
          </a:xfrm>
          <a:prstGeom prst="rect">
            <a:avLst/>
          </a:prstGeom>
          <a:noFill/>
        </p:spPr>
        <p:txBody>
          <a:bodyPr wrap="square" lIns="36576" rIns="36576" tIns="0" bIns="0" anchor="t">
            <a:spAutoFit/>
          </a:bodyPr>
          <a:lstStyle/>
          <a:p>
            <a:pPr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5A6B77"/>
                </a:solidFill>
                <a:latin typeface="IRANSans"/>
                <a:cs typeface="IRANSans"/>
                <a:ea typeface="IRANSans"/>
              </a:rPr>
              <a:t>منتورینگ گروهی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161727" y="6382512"/>
            <a:ext cx="1463040" cy="274320"/>
          </a:xfrm>
          <a:prstGeom prst="rect">
            <a:avLst/>
          </a:prstGeom>
          <a:noFill/>
        </p:spPr>
        <p:txBody>
          <a:bodyPr wrap="square" lIns="36576" rIns="36576" tIns="0" bIns="0" anchor="t">
            <a:spAutoFit/>
          </a:bodyPr>
          <a:lstStyle/>
          <a:p>
            <a:pPr rt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5A6B77"/>
                </a:solidFill>
                <a:latin typeface="IRANSans"/>
                <a:cs typeface="IRANSans"/>
                <a:ea typeface="IRANSans"/>
              </a:rPr>
              <a:t>۱۸ / ۳۰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66928" y="420624"/>
            <a:ext cx="868680" cy="292608"/>
          </a:xfrm>
          <a:prstGeom prst="roundRect">
            <a:avLst>
              <a:gd name="adj" fmla="val 44000"/>
            </a:avLst>
          </a:prstGeom>
          <a:solidFill>
            <a:srgbClr val="E4EC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420624"/>
            <a:ext cx="868680" cy="292608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pPr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5A6B77"/>
                </a:solidFill>
                <a:latin typeface="IRANSans"/>
                <a:cs typeface="IRANSans"/>
                <a:ea typeface="IRANSans"/>
              </a:rPr>
              <a:t>چرا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508760" y="420624"/>
            <a:ext cx="868680" cy="292608"/>
          </a:xfrm>
          <a:prstGeom prst="roundRect">
            <a:avLst>
              <a:gd name="adj" fmla="val 44000"/>
            </a:avLst>
          </a:prstGeom>
          <a:solidFill>
            <a:srgbClr val="1B49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508760" y="420624"/>
            <a:ext cx="868680" cy="292608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pPr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FFFFFF"/>
                </a:solidFill>
                <a:latin typeface="IRANSans"/>
                <a:cs typeface="IRANSans"/>
                <a:ea typeface="IRANSans"/>
              </a:rPr>
              <a:t>چیست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450592" y="420624"/>
            <a:ext cx="868680" cy="292608"/>
          </a:xfrm>
          <a:prstGeom prst="roundRect">
            <a:avLst>
              <a:gd name="adj" fmla="val 44000"/>
            </a:avLst>
          </a:prstGeom>
          <a:solidFill>
            <a:srgbClr val="E4EC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450592" y="420624"/>
            <a:ext cx="868680" cy="292608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pPr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5A6B77"/>
                </a:solidFill>
                <a:latin typeface="IRANSans"/>
                <a:cs typeface="IRANSans"/>
                <a:ea typeface="IRANSans"/>
              </a:rPr>
              <a:t>چطور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392424" y="420624"/>
            <a:ext cx="868680" cy="292608"/>
          </a:xfrm>
          <a:prstGeom prst="roundRect">
            <a:avLst>
              <a:gd name="adj" fmla="val 44000"/>
            </a:avLst>
          </a:prstGeom>
          <a:solidFill>
            <a:srgbClr val="E4EC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392424" y="420624"/>
            <a:ext cx="868680" cy="292608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pPr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5A6B77"/>
                </a:solidFill>
                <a:latin typeface="IRANSans"/>
                <a:cs typeface="IRANSans"/>
                <a:ea typeface="IRANSans"/>
              </a:rPr>
              <a:t>چه می‌شود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34256" y="420624"/>
            <a:ext cx="868680" cy="292608"/>
          </a:xfrm>
          <a:prstGeom prst="roundRect">
            <a:avLst>
              <a:gd name="adj" fmla="val 44000"/>
            </a:avLst>
          </a:prstGeom>
          <a:solidFill>
            <a:srgbClr val="E4EC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334256" y="420624"/>
            <a:ext cx="868680" cy="292608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pPr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5A6B77"/>
                </a:solidFill>
                <a:latin typeface="IRANSans"/>
                <a:cs typeface="IRANSans"/>
                <a:ea typeface="IRANSans"/>
              </a:rPr>
              <a:t>شروع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310896"/>
            <a:ext cx="11057839" cy="310896"/>
          </a:xfrm>
          <a:prstGeom prst="rect">
            <a:avLst/>
          </a:prstGeom>
          <a:noFill/>
        </p:spPr>
        <p:txBody>
          <a:bodyPr wrap="square" lIns="36576" rIns="36576" tIns="0" bIns="0" anchor="t">
            <a:spAutoFit/>
          </a:bodyPr>
          <a:lstStyle/>
          <a:p>
            <a:pPr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>
                <a:solidFill>
                  <a:srgbClr val="FF6B35"/>
                </a:solidFill>
                <a:latin typeface="IRANSans"/>
                <a:cs typeface="IRANSans"/>
                <a:ea typeface="IRANSans"/>
              </a:rPr>
              <a:t>مرزبندی — تا انتظار اشتباه شکل نگیرد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621792"/>
            <a:ext cx="11057839" cy="640080"/>
          </a:xfrm>
          <a:prstGeom prst="rect">
            <a:avLst/>
          </a:prstGeom>
          <a:noFill/>
        </p:spPr>
        <p:txBody>
          <a:bodyPr wrap="square" lIns="36576" rIns="36576" tIns="0" bIns="0" anchor="t">
            <a:spAutoFit/>
          </a:bodyPr>
          <a:lstStyle/>
          <a:p>
            <a:pPr rtl="1"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100" b="1">
                <a:solidFill>
                  <a:srgbClr val="1B4965"/>
                </a:solidFill>
                <a:latin typeface="IRANSans"/>
                <a:cs typeface="IRANSans"/>
                <a:ea typeface="IRANSans"/>
              </a:rPr>
              <a:t>چه چیزی هست، چه چیزی نیست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0527487" y="1243584"/>
            <a:ext cx="1097280" cy="57150"/>
          </a:xfrm>
          <a:prstGeom prst="rect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278727" y="1499616"/>
            <a:ext cx="5346039" cy="411480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2700">
            <a:solidFill>
              <a:srgbClr val="D8E2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278727" y="1499616"/>
            <a:ext cx="5346039" cy="548640"/>
          </a:xfrm>
          <a:prstGeom prst="roundRect">
            <a:avLst>
              <a:gd name="adj" fmla="val 12000"/>
            </a:avLst>
          </a:prstGeom>
          <a:solidFill>
            <a:srgbClr val="1E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278727" y="1901952"/>
            <a:ext cx="5346039" cy="146304"/>
          </a:xfrm>
          <a:prstGeom prst="rect">
            <a:avLst/>
          </a:prstGeom>
          <a:solidFill>
            <a:srgbClr val="1E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278727" y="1499616"/>
            <a:ext cx="5346039" cy="548640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pPr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IRANSans"/>
                <a:cs typeface="IRANSans"/>
                <a:ea typeface="IRANSans"/>
              </a:rPr>
              <a:t>✓   </a:t>
            </a:r>
            <a:r>
              <a:rPr sz="2200" b="1">
                <a:solidFill>
                  <a:srgbClr val="FFFFFF"/>
                </a:solidFill>
                <a:latin typeface="IRANSans"/>
                <a:cs typeface="IRANSans"/>
                <a:ea typeface="IRANSans"/>
              </a:rPr>
              <a:t>هست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397599" y="2139696"/>
            <a:ext cx="5108295" cy="621792"/>
          </a:xfrm>
          <a:prstGeom prst="roundRect">
            <a:avLst>
              <a:gd name="adj" fmla="val 14000"/>
            </a:avLst>
          </a:prstGeom>
          <a:solidFill>
            <a:srgbClr val="E8F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53047" y="2139696"/>
            <a:ext cx="4797399" cy="621792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pPr rtl="1"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1E8E5A"/>
                </a:solidFill>
                <a:latin typeface="IRANSans"/>
                <a:cs typeface="IRANSans"/>
                <a:ea typeface="IRANSans"/>
              </a:rPr>
              <a:t>✓  </a:t>
            </a:r>
            <a:r>
              <a:rPr sz="1800" b="1">
                <a:solidFill>
                  <a:srgbClr val="1F2D38"/>
                </a:solidFill>
                <a:latin typeface="IRANSans"/>
                <a:cs typeface="IRANSans"/>
                <a:ea typeface="IRANSans"/>
              </a:rPr>
              <a:t>فضای فکر کردن با هم</a:t>
            </a:r>
          </a:p>
          <a:p>
            <a:pPr rtl="1"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5A6B77"/>
                </a:solidFill>
                <a:latin typeface="IRANSans"/>
                <a:cs typeface="IRANSans"/>
                <a:ea typeface="IRANSans"/>
              </a:rPr>
              <a:t>روی مسئله‌ای که واقعاً درگیرش هستید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53047" y="2816352"/>
            <a:ext cx="4797399" cy="621792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pPr rtl="1"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1E8E5A"/>
                </a:solidFill>
                <a:latin typeface="IRANSans"/>
                <a:cs typeface="IRANSans"/>
                <a:ea typeface="IRANSans"/>
              </a:rPr>
              <a:t>✓  </a:t>
            </a:r>
            <a:r>
              <a:rPr sz="1800" b="1">
                <a:solidFill>
                  <a:srgbClr val="1F2D38"/>
                </a:solidFill>
                <a:latin typeface="IRANSans"/>
                <a:cs typeface="IRANSans"/>
                <a:ea typeface="IRANSans"/>
              </a:rPr>
              <a:t>یادگیری از تجربه همکار</a:t>
            </a:r>
          </a:p>
          <a:p>
            <a:pPr rtl="1"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5A6B77"/>
                </a:solidFill>
                <a:latin typeface="IRANSans"/>
                <a:cs typeface="IRANSans"/>
                <a:ea typeface="IRANSans"/>
              </a:rPr>
              <a:t>کسی که مسیر شما را رفته است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397599" y="3493008"/>
            <a:ext cx="5108295" cy="621792"/>
          </a:xfrm>
          <a:prstGeom prst="roundRect">
            <a:avLst>
              <a:gd name="adj" fmla="val 14000"/>
            </a:avLst>
          </a:prstGeom>
          <a:solidFill>
            <a:srgbClr val="E8F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53047" y="3493008"/>
            <a:ext cx="4797399" cy="621792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pPr rtl="1"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1E8E5A"/>
                </a:solidFill>
                <a:latin typeface="IRANSans"/>
                <a:cs typeface="IRANSans"/>
                <a:ea typeface="IRANSans"/>
              </a:rPr>
              <a:t>✓  </a:t>
            </a:r>
            <a:r>
              <a:rPr sz="1800" b="1">
                <a:solidFill>
                  <a:srgbClr val="1F2D38"/>
                </a:solidFill>
                <a:latin typeface="IRANSans"/>
                <a:cs typeface="IRANSans"/>
                <a:ea typeface="IRANSans"/>
              </a:rPr>
              <a:t>تمرین پرسیدن</a:t>
            </a:r>
          </a:p>
          <a:p>
            <a:pPr rtl="1"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5A6B77"/>
                </a:solidFill>
                <a:latin typeface="IRANSans"/>
                <a:cs typeface="IRANSans"/>
                <a:ea typeface="IRANSans"/>
              </a:rPr>
              <a:t>مهارتی که در جلسات کاری هم به کار می‌آید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53047" y="4169664"/>
            <a:ext cx="4797399" cy="621792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pPr rtl="1"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1E8E5A"/>
                </a:solidFill>
                <a:latin typeface="IRANSans"/>
                <a:cs typeface="IRANSans"/>
                <a:ea typeface="IRANSans"/>
              </a:rPr>
              <a:t>✓  </a:t>
            </a:r>
            <a:r>
              <a:rPr sz="1800" b="1">
                <a:solidFill>
                  <a:srgbClr val="1F2D38"/>
                </a:solidFill>
                <a:latin typeface="IRANSans"/>
                <a:cs typeface="IRANSans"/>
                <a:ea typeface="IRANSans"/>
              </a:rPr>
              <a:t>تعهد به یک اقدام کوچک</a:t>
            </a:r>
          </a:p>
          <a:p>
            <a:pPr rtl="1"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5A6B77"/>
                </a:solidFill>
                <a:latin typeface="IRANSans"/>
                <a:cs typeface="IRANSans"/>
                <a:ea typeface="IRANSans"/>
              </a:rPr>
              <a:t>هر جلسه، یک قدم مشخص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397599" y="4846320"/>
            <a:ext cx="5108295" cy="621792"/>
          </a:xfrm>
          <a:prstGeom prst="roundRect">
            <a:avLst>
              <a:gd name="adj" fmla="val 14000"/>
            </a:avLst>
          </a:prstGeom>
          <a:solidFill>
            <a:srgbClr val="E8F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553047" y="4846320"/>
            <a:ext cx="4797399" cy="621792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pPr rtl="1"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1E8E5A"/>
                </a:solidFill>
                <a:latin typeface="IRANSans"/>
                <a:cs typeface="IRANSans"/>
                <a:ea typeface="IRANSans"/>
              </a:rPr>
              <a:t>✓  </a:t>
            </a:r>
            <a:r>
              <a:rPr sz="1800" b="1">
                <a:solidFill>
                  <a:srgbClr val="1F2D38"/>
                </a:solidFill>
                <a:latin typeface="IRANSans"/>
                <a:cs typeface="IRANSans"/>
                <a:ea typeface="IRANSans"/>
              </a:rPr>
              <a:t>محرمانه و داوطلبانه</a:t>
            </a:r>
          </a:p>
          <a:p>
            <a:pPr rtl="1"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5A6B77"/>
                </a:solidFill>
                <a:latin typeface="IRANSans"/>
                <a:cs typeface="IRANSans"/>
                <a:ea typeface="IRANSans"/>
              </a:rPr>
              <a:t>هیچ‌کس اجباری نیست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1499616"/>
            <a:ext cx="5346039" cy="411480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2700">
            <a:solidFill>
              <a:srgbClr val="D8E2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566928" y="1499616"/>
            <a:ext cx="5346039" cy="548640"/>
          </a:xfrm>
          <a:prstGeom prst="roundRect">
            <a:avLst>
              <a:gd name="adj" fmla="val 12000"/>
            </a:avLst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566928" y="1901952"/>
            <a:ext cx="5346039" cy="146304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66928" y="1499616"/>
            <a:ext cx="5346039" cy="548640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pPr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IRANSans"/>
                <a:cs typeface="IRANSans"/>
                <a:ea typeface="IRANSans"/>
              </a:rPr>
              <a:t>✕   </a:t>
            </a:r>
            <a:r>
              <a:rPr sz="2200" b="1">
                <a:solidFill>
                  <a:srgbClr val="FFFFFF"/>
                </a:solidFill>
                <a:latin typeface="IRANSans"/>
                <a:cs typeface="IRANSans"/>
                <a:ea typeface="IRANSans"/>
              </a:rPr>
              <a:t>نیست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85800" y="2139696"/>
            <a:ext cx="5108295" cy="621792"/>
          </a:xfrm>
          <a:prstGeom prst="roundRect">
            <a:avLst>
              <a:gd name="adj" fmla="val 14000"/>
            </a:avLst>
          </a:prstGeom>
          <a:solidFill>
            <a:srgbClr val="FDEE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41248" y="2139696"/>
            <a:ext cx="4797399" cy="621792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pPr rtl="1"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C0392B"/>
                </a:solidFill>
                <a:latin typeface="IRANSans"/>
                <a:cs typeface="IRANSans"/>
                <a:ea typeface="IRANSans"/>
              </a:rPr>
              <a:t>✕  </a:t>
            </a:r>
            <a:r>
              <a:rPr sz="1800" b="1">
                <a:solidFill>
                  <a:srgbClr val="1F2D38"/>
                </a:solidFill>
                <a:latin typeface="IRANSans"/>
                <a:cs typeface="IRANSans"/>
                <a:ea typeface="IRANSans"/>
              </a:rPr>
              <a:t>کلاس آموزشی</a:t>
            </a:r>
          </a:p>
          <a:p>
            <a:pPr rtl="1"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5A6B77"/>
                </a:solidFill>
                <a:latin typeface="IRANSans"/>
                <a:cs typeface="IRANSans"/>
                <a:ea typeface="IRANSans"/>
              </a:rPr>
              <a:t>کسی قرار نیست تدریس کند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41248" y="2816352"/>
            <a:ext cx="4797399" cy="621792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pPr rtl="1"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C0392B"/>
                </a:solidFill>
                <a:latin typeface="IRANSans"/>
                <a:cs typeface="IRANSans"/>
                <a:ea typeface="IRANSans"/>
              </a:rPr>
              <a:t>✕  </a:t>
            </a:r>
            <a:r>
              <a:rPr sz="1800" b="1">
                <a:solidFill>
                  <a:srgbClr val="1F2D38"/>
                </a:solidFill>
                <a:latin typeface="IRANSans"/>
                <a:cs typeface="IRANSans"/>
                <a:ea typeface="IRANSans"/>
              </a:rPr>
              <a:t>جلسه گزارش‌دهی</a:t>
            </a:r>
          </a:p>
          <a:p>
            <a:pPr rtl="1"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5A6B77"/>
                </a:solidFill>
                <a:latin typeface="IRANSans"/>
                <a:cs typeface="IRANSans"/>
                <a:ea typeface="IRANSans"/>
              </a:rPr>
              <a:t>هیچ صورت‌جلسه‌ای به بالا نمی‌رود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85800" y="3493008"/>
            <a:ext cx="5108295" cy="621792"/>
          </a:xfrm>
          <a:prstGeom prst="roundRect">
            <a:avLst>
              <a:gd name="adj" fmla="val 14000"/>
            </a:avLst>
          </a:prstGeom>
          <a:solidFill>
            <a:srgbClr val="FDEE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41248" y="3493008"/>
            <a:ext cx="4797399" cy="621792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pPr rtl="1"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C0392B"/>
                </a:solidFill>
                <a:latin typeface="IRANSans"/>
                <a:cs typeface="IRANSans"/>
                <a:ea typeface="IRANSans"/>
              </a:rPr>
              <a:t>✕  </a:t>
            </a:r>
            <a:r>
              <a:rPr sz="1800" b="1">
                <a:solidFill>
                  <a:srgbClr val="1F2D38"/>
                </a:solidFill>
                <a:latin typeface="IRANSans"/>
                <a:cs typeface="IRANSans"/>
                <a:ea typeface="IRANSans"/>
              </a:rPr>
              <a:t>ارزیابی عملکرد</a:t>
            </a:r>
          </a:p>
          <a:p>
            <a:pPr rtl="1"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5A6B77"/>
                </a:solidFill>
                <a:latin typeface="IRANSans"/>
                <a:cs typeface="IRANSans"/>
                <a:ea typeface="IRANSans"/>
              </a:rPr>
              <a:t>روی پرونده پرسنلی شما اثری ندارد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41248" y="4169664"/>
            <a:ext cx="4797399" cy="621792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pPr rtl="1"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C0392B"/>
                </a:solidFill>
                <a:latin typeface="IRANSans"/>
                <a:cs typeface="IRANSans"/>
                <a:ea typeface="IRANSans"/>
              </a:rPr>
              <a:t>✕  </a:t>
            </a:r>
            <a:r>
              <a:rPr sz="1800" b="1">
                <a:solidFill>
                  <a:srgbClr val="1F2D38"/>
                </a:solidFill>
                <a:latin typeface="IRANSans"/>
                <a:cs typeface="IRANSans"/>
                <a:ea typeface="IRANSans"/>
              </a:rPr>
              <a:t>جلسه شکایت</a:t>
            </a:r>
          </a:p>
          <a:p>
            <a:pPr rtl="1"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5A6B77"/>
                </a:solidFill>
                <a:latin typeface="IRANSans"/>
                <a:cs typeface="IRANSans"/>
                <a:ea typeface="IRANSans"/>
              </a:rPr>
              <a:t>درباره مسئله حرف می‌زنیم، نه درباره آدم‌ها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85800" y="4846320"/>
            <a:ext cx="5108295" cy="621792"/>
          </a:xfrm>
          <a:prstGeom prst="roundRect">
            <a:avLst>
              <a:gd name="adj" fmla="val 14000"/>
            </a:avLst>
          </a:prstGeom>
          <a:solidFill>
            <a:srgbClr val="FDEE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41248" y="4846320"/>
            <a:ext cx="4797399" cy="621792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pPr rtl="1"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C0392B"/>
                </a:solidFill>
                <a:latin typeface="IRANSans"/>
                <a:cs typeface="IRANSans"/>
                <a:ea typeface="IRANSans"/>
              </a:rPr>
              <a:t>✕  </a:t>
            </a:r>
            <a:r>
              <a:rPr sz="1800" b="1">
                <a:solidFill>
                  <a:srgbClr val="1F2D38"/>
                </a:solidFill>
                <a:latin typeface="IRANSans"/>
                <a:cs typeface="IRANSans"/>
                <a:ea typeface="IRANSans"/>
              </a:rPr>
              <a:t>جای نصیحت کردن</a:t>
            </a:r>
          </a:p>
          <a:p>
            <a:pPr rtl="1"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5A6B77"/>
                </a:solidFill>
                <a:latin typeface="IRANSans"/>
                <a:cs typeface="IRANSans"/>
                <a:ea typeface="IRANSans"/>
              </a:rPr>
              <a:t>قدیمی‌ترها هم اینجا فقط می‌پرسند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66928" y="6382512"/>
            <a:ext cx="3657600" cy="274320"/>
          </a:xfrm>
          <a:prstGeom prst="rect">
            <a:avLst/>
          </a:prstGeom>
          <a:noFill/>
        </p:spPr>
        <p:txBody>
          <a:bodyPr wrap="square" lIns="36576" rIns="36576" tIns="0" bIns="0" anchor="t">
            <a:spAutoFit/>
          </a:bodyPr>
          <a:lstStyle/>
          <a:p>
            <a:pPr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5A6B77"/>
                </a:solidFill>
                <a:latin typeface="IRANSans"/>
                <a:cs typeface="IRANSans"/>
                <a:ea typeface="IRANSans"/>
              </a:rPr>
              <a:t>منتورینگ گروهی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161727" y="6382512"/>
            <a:ext cx="1463040" cy="274320"/>
          </a:xfrm>
          <a:prstGeom prst="rect">
            <a:avLst/>
          </a:prstGeom>
          <a:noFill/>
        </p:spPr>
        <p:txBody>
          <a:bodyPr wrap="square" lIns="36576" rIns="36576" tIns="0" bIns="0" anchor="t">
            <a:spAutoFit/>
          </a:bodyPr>
          <a:lstStyle/>
          <a:p>
            <a:pPr rt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5A6B77"/>
                </a:solidFill>
                <a:latin typeface="IRANSans"/>
                <a:cs typeface="IRANSans"/>
                <a:ea typeface="IRANSans"/>
              </a:rPr>
              <a:t>۱۹ / ۳۰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66928" y="420624"/>
            <a:ext cx="868680" cy="292608"/>
          </a:xfrm>
          <a:prstGeom prst="roundRect">
            <a:avLst>
              <a:gd name="adj" fmla="val 44000"/>
            </a:avLst>
          </a:prstGeom>
          <a:solidFill>
            <a:srgbClr val="E4EC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420624"/>
            <a:ext cx="868680" cy="292608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pPr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5A6B77"/>
                </a:solidFill>
                <a:latin typeface="IRANSans"/>
                <a:cs typeface="IRANSans"/>
                <a:ea typeface="IRANSans"/>
              </a:rPr>
              <a:t>چرا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508760" y="420624"/>
            <a:ext cx="868680" cy="292608"/>
          </a:xfrm>
          <a:prstGeom prst="roundRect">
            <a:avLst>
              <a:gd name="adj" fmla="val 44000"/>
            </a:avLst>
          </a:prstGeom>
          <a:solidFill>
            <a:srgbClr val="1B49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508760" y="420624"/>
            <a:ext cx="868680" cy="292608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pPr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FFFFFF"/>
                </a:solidFill>
                <a:latin typeface="IRANSans"/>
                <a:cs typeface="IRANSans"/>
                <a:ea typeface="IRANSans"/>
              </a:rPr>
              <a:t>چیست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450592" y="420624"/>
            <a:ext cx="868680" cy="292608"/>
          </a:xfrm>
          <a:prstGeom prst="roundRect">
            <a:avLst>
              <a:gd name="adj" fmla="val 44000"/>
            </a:avLst>
          </a:prstGeom>
          <a:solidFill>
            <a:srgbClr val="E4EC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450592" y="420624"/>
            <a:ext cx="868680" cy="292608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pPr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5A6B77"/>
                </a:solidFill>
                <a:latin typeface="IRANSans"/>
                <a:cs typeface="IRANSans"/>
                <a:ea typeface="IRANSans"/>
              </a:rPr>
              <a:t>چطور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392424" y="420624"/>
            <a:ext cx="868680" cy="292608"/>
          </a:xfrm>
          <a:prstGeom prst="roundRect">
            <a:avLst>
              <a:gd name="adj" fmla="val 44000"/>
            </a:avLst>
          </a:prstGeom>
          <a:solidFill>
            <a:srgbClr val="E4EC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392424" y="420624"/>
            <a:ext cx="868680" cy="292608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pPr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5A6B77"/>
                </a:solidFill>
                <a:latin typeface="IRANSans"/>
                <a:cs typeface="IRANSans"/>
                <a:ea typeface="IRANSans"/>
              </a:rPr>
              <a:t>چه می‌شود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34256" y="420624"/>
            <a:ext cx="868680" cy="292608"/>
          </a:xfrm>
          <a:prstGeom prst="roundRect">
            <a:avLst>
              <a:gd name="adj" fmla="val 44000"/>
            </a:avLst>
          </a:prstGeom>
          <a:solidFill>
            <a:srgbClr val="E4EC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334256" y="420624"/>
            <a:ext cx="868680" cy="292608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pPr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5A6B77"/>
                </a:solidFill>
                <a:latin typeface="IRANSans"/>
                <a:cs typeface="IRANSans"/>
                <a:ea typeface="IRANSans"/>
              </a:rPr>
              <a:t>شروع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310896"/>
            <a:ext cx="11057839" cy="310896"/>
          </a:xfrm>
          <a:prstGeom prst="rect">
            <a:avLst/>
          </a:prstGeom>
          <a:noFill/>
        </p:spPr>
        <p:txBody>
          <a:bodyPr wrap="square" lIns="36576" rIns="36576" tIns="0" bIns="0" anchor="t">
            <a:spAutoFit/>
          </a:bodyPr>
          <a:lstStyle/>
          <a:p>
            <a:pPr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>
                <a:solidFill>
                  <a:srgbClr val="FF6B35"/>
                </a:solidFill>
                <a:latin typeface="IRANSans"/>
                <a:cs typeface="IRANSans"/>
                <a:ea typeface="IRANSans"/>
              </a:rPr>
              <a:t>نقش‌ها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621792"/>
            <a:ext cx="11057839" cy="640080"/>
          </a:xfrm>
          <a:prstGeom prst="rect">
            <a:avLst/>
          </a:prstGeom>
          <a:noFill/>
        </p:spPr>
        <p:txBody>
          <a:bodyPr wrap="square" lIns="36576" rIns="36576" tIns="0" bIns="0" anchor="t">
            <a:spAutoFit/>
          </a:bodyPr>
          <a:lstStyle/>
          <a:p>
            <a:pPr rtl="1"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100" b="1">
                <a:solidFill>
                  <a:srgbClr val="1B4965"/>
                </a:solidFill>
                <a:latin typeface="IRANSans"/>
                <a:cs typeface="IRANSans"/>
                <a:ea typeface="IRANSans"/>
              </a:rPr>
              <a:t>در اتاق، سه نقش وجود دارد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0527487" y="1243584"/>
            <a:ext cx="1097280" cy="57150"/>
          </a:xfrm>
          <a:prstGeom prst="rect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133892" y="1499616"/>
            <a:ext cx="3490874" cy="3182112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2700">
            <a:solidFill>
              <a:srgbClr val="D8E2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133892" y="1499616"/>
            <a:ext cx="3490874" cy="950976"/>
          </a:xfrm>
          <a:prstGeom prst="roundRect">
            <a:avLst>
              <a:gd name="adj" fmla="val 10000"/>
            </a:avLst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33892" y="2304288"/>
            <a:ext cx="3490874" cy="146304"/>
          </a:xfrm>
          <a:prstGeom prst="rect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984687" y="1764792"/>
            <a:ext cx="384048" cy="38404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6B35"/>
                </a:solidFill>
                <a:latin typeface="IRANSans"/>
                <a:cs typeface="IRANSans"/>
                <a:ea typeface="IRANSans"/>
              </a:rPr>
              <a:t>۱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35060" y="1609344"/>
            <a:ext cx="2558186" cy="731520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pPr rtl="1"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050" b="1">
                <a:solidFill>
                  <a:srgbClr val="FFFFFF"/>
                </a:solidFill>
                <a:latin typeface="IRANSans"/>
                <a:cs typeface="IRANSans"/>
                <a:ea typeface="IRANSans"/>
              </a:rPr>
              <a:t>صاحب چالش</a:t>
            </a:r>
          </a:p>
          <a:p>
            <a:pPr rtl="1"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FFFFFF"/>
                </a:solidFill>
                <a:latin typeface="IRANSans"/>
                <a:cs typeface="IRANSans"/>
                <a:ea typeface="IRANSans"/>
              </a:rPr>
              <a:t>یک نفر، داوطلب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53348" y="2615184"/>
            <a:ext cx="3051962" cy="640080"/>
          </a:xfrm>
          <a:prstGeom prst="rect">
            <a:avLst/>
          </a:prstGeom>
          <a:noFill/>
        </p:spPr>
        <p:txBody>
          <a:bodyPr wrap="square" lIns="36576" rIns="36576" tIns="0" bIns="0" anchor="t">
            <a:spAutoFit/>
          </a:bodyPr>
          <a:lstStyle/>
          <a:p>
            <a:pPr rtl="1"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FF6B35"/>
                </a:solidFill>
                <a:latin typeface="IRANSans"/>
                <a:cs typeface="IRANSans"/>
                <a:ea typeface="IRANSans"/>
              </a:rPr>
              <a:t>◂  </a:t>
            </a:r>
            <a:r>
              <a:rPr sz="1550" b="0">
                <a:solidFill>
                  <a:srgbClr val="1F2D38"/>
                </a:solidFill>
                <a:latin typeface="IRANSans"/>
                <a:cs typeface="IRANSans"/>
                <a:ea typeface="IRANSans"/>
              </a:rPr>
              <a:t>مسئله واقعی‌اش را روایت می‌کند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53348" y="3273552"/>
            <a:ext cx="3051962" cy="640080"/>
          </a:xfrm>
          <a:prstGeom prst="rect">
            <a:avLst/>
          </a:prstGeom>
          <a:noFill/>
        </p:spPr>
        <p:txBody>
          <a:bodyPr wrap="square" lIns="36576" rIns="36576" tIns="0" bIns="0" anchor="t">
            <a:spAutoFit/>
          </a:bodyPr>
          <a:lstStyle/>
          <a:p>
            <a:pPr rtl="1"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FF6B35"/>
                </a:solidFill>
                <a:latin typeface="IRANSans"/>
                <a:cs typeface="IRANSans"/>
                <a:ea typeface="IRANSans"/>
              </a:rPr>
              <a:t>◂  </a:t>
            </a:r>
            <a:r>
              <a:rPr sz="1550" b="0">
                <a:solidFill>
                  <a:srgbClr val="1F2D38"/>
                </a:solidFill>
                <a:latin typeface="IRANSans"/>
                <a:cs typeface="IRANSans"/>
                <a:ea typeface="IRANSans"/>
              </a:rPr>
              <a:t>فقط گوش می‌دهد و یادداشت برمی‌دارد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53348" y="3931920"/>
            <a:ext cx="3051962" cy="640080"/>
          </a:xfrm>
          <a:prstGeom prst="rect">
            <a:avLst/>
          </a:prstGeom>
          <a:noFill/>
        </p:spPr>
        <p:txBody>
          <a:bodyPr wrap="square" lIns="36576" rIns="36576" tIns="0" bIns="0" anchor="t">
            <a:spAutoFit/>
          </a:bodyPr>
          <a:lstStyle/>
          <a:p>
            <a:pPr rtl="1"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FF6B35"/>
                </a:solidFill>
                <a:latin typeface="IRANSans"/>
                <a:cs typeface="IRANSans"/>
                <a:ea typeface="IRANSans"/>
              </a:rPr>
              <a:t>◂  </a:t>
            </a:r>
            <a:r>
              <a:rPr sz="1550" b="0">
                <a:solidFill>
                  <a:srgbClr val="1F2D38"/>
                </a:solidFill>
                <a:latin typeface="IRANSans"/>
                <a:cs typeface="IRANSans"/>
                <a:ea typeface="IRANSans"/>
              </a:rPr>
              <a:t>در پایان تصمیم می‌گیرد چه کند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350410" y="1499616"/>
            <a:ext cx="3490874" cy="3182112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2700">
            <a:solidFill>
              <a:srgbClr val="D8E2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4350410" y="1499616"/>
            <a:ext cx="3490874" cy="950976"/>
          </a:xfrm>
          <a:prstGeom prst="roundRect">
            <a:avLst>
              <a:gd name="adj" fmla="val 10000"/>
            </a:avLst>
          </a:prstGeom>
          <a:solidFill>
            <a:srgbClr val="1B49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350410" y="2304288"/>
            <a:ext cx="3490874" cy="146304"/>
          </a:xfrm>
          <a:prstGeom prst="rect">
            <a:avLst/>
          </a:prstGeom>
          <a:solidFill>
            <a:srgbClr val="1B49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7201204" y="1764792"/>
            <a:ext cx="384048" cy="38404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B4965"/>
                </a:solidFill>
                <a:latin typeface="IRANSans"/>
                <a:cs typeface="IRANSans"/>
                <a:ea typeface="IRANSans"/>
              </a:rPr>
              <a:t>۲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51578" y="1609344"/>
            <a:ext cx="2558186" cy="731520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pPr rtl="1"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050" b="1">
                <a:solidFill>
                  <a:srgbClr val="FFFFFF"/>
                </a:solidFill>
                <a:latin typeface="IRANSans"/>
                <a:cs typeface="IRANSans"/>
                <a:ea typeface="IRANSans"/>
              </a:rPr>
              <a:t>گروه همتا</a:t>
            </a:r>
          </a:p>
          <a:p>
            <a:pPr rtl="1"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FFFFFF"/>
                </a:solidFill>
                <a:latin typeface="IRANSans"/>
                <a:cs typeface="IRANSans"/>
                <a:ea typeface="IRANSans"/>
              </a:rPr>
              <a:t>۷ تا ۱۱ نفر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69866" y="2615184"/>
            <a:ext cx="3051962" cy="640080"/>
          </a:xfrm>
          <a:prstGeom prst="rect">
            <a:avLst/>
          </a:prstGeom>
          <a:noFill/>
        </p:spPr>
        <p:txBody>
          <a:bodyPr wrap="square" lIns="36576" rIns="36576" tIns="0" bIns="0" anchor="t">
            <a:spAutoFit/>
          </a:bodyPr>
          <a:lstStyle/>
          <a:p>
            <a:pPr rtl="1"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1B4965"/>
                </a:solidFill>
                <a:latin typeface="IRANSans"/>
                <a:cs typeface="IRANSans"/>
                <a:ea typeface="IRANSans"/>
              </a:rPr>
              <a:t>◂  </a:t>
            </a:r>
            <a:r>
              <a:rPr sz="1550" b="0">
                <a:solidFill>
                  <a:srgbClr val="1F2D38"/>
                </a:solidFill>
                <a:latin typeface="IRANSans"/>
                <a:cs typeface="IRANSans"/>
                <a:ea typeface="IRANSans"/>
              </a:rPr>
              <a:t>سؤال می‌پرسند، راه‌حل نمی‌دهند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69866" y="3273552"/>
            <a:ext cx="3051962" cy="640080"/>
          </a:xfrm>
          <a:prstGeom prst="rect">
            <a:avLst/>
          </a:prstGeom>
          <a:noFill/>
        </p:spPr>
        <p:txBody>
          <a:bodyPr wrap="square" lIns="36576" rIns="36576" tIns="0" bIns="0" anchor="t">
            <a:spAutoFit/>
          </a:bodyPr>
          <a:lstStyle/>
          <a:p>
            <a:pPr rtl="1"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1B4965"/>
                </a:solidFill>
                <a:latin typeface="IRANSans"/>
                <a:cs typeface="IRANSans"/>
                <a:ea typeface="IRANSans"/>
              </a:rPr>
              <a:t>◂  </a:t>
            </a:r>
            <a:r>
              <a:rPr sz="1550" b="0">
                <a:solidFill>
                  <a:srgbClr val="1F2D38"/>
                </a:solidFill>
                <a:latin typeface="IRANSans"/>
                <a:cs typeface="IRANSans"/>
                <a:ea typeface="IRANSans"/>
              </a:rPr>
              <a:t>تجربه مشابه خود را روایت می‌کنند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69866" y="3931920"/>
            <a:ext cx="3051962" cy="640080"/>
          </a:xfrm>
          <a:prstGeom prst="rect">
            <a:avLst/>
          </a:prstGeom>
          <a:noFill/>
        </p:spPr>
        <p:txBody>
          <a:bodyPr wrap="square" lIns="36576" rIns="36576" tIns="0" bIns="0" anchor="t">
            <a:spAutoFit/>
          </a:bodyPr>
          <a:lstStyle/>
          <a:p>
            <a:pPr rtl="1"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1B4965"/>
                </a:solidFill>
                <a:latin typeface="IRANSans"/>
                <a:cs typeface="IRANSans"/>
                <a:ea typeface="IRANSans"/>
              </a:rPr>
              <a:t>◂  </a:t>
            </a:r>
            <a:r>
              <a:rPr sz="1550" b="0">
                <a:solidFill>
                  <a:srgbClr val="1F2D38"/>
                </a:solidFill>
                <a:latin typeface="IRANSans"/>
                <a:cs typeface="IRANSans"/>
                <a:ea typeface="IRANSans"/>
              </a:rPr>
              <a:t>قضاوت نمی‌کنند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66927" y="1499616"/>
            <a:ext cx="3490874" cy="3182112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2700">
            <a:solidFill>
              <a:srgbClr val="D8E2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566927" y="1499616"/>
            <a:ext cx="3490874" cy="950976"/>
          </a:xfrm>
          <a:prstGeom prst="roundRect">
            <a:avLst>
              <a:gd name="adj" fmla="val 10000"/>
            </a:avLst>
          </a:prstGeom>
          <a:solidFill>
            <a:srgbClr val="1E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566927" y="2304288"/>
            <a:ext cx="3490874" cy="146304"/>
          </a:xfrm>
          <a:prstGeom prst="rect">
            <a:avLst/>
          </a:prstGeom>
          <a:solidFill>
            <a:srgbClr val="1E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3417722" y="1764792"/>
            <a:ext cx="384048" cy="38404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E8E5A"/>
                </a:solidFill>
                <a:latin typeface="IRANSans"/>
                <a:cs typeface="IRANSans"/>
                <a:ea typeface="IRANSans"/>
              </a:rPr>
              <a:t>۳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68095" y="1609344"/>
            <a:ext cx="2558186" cy="731520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pPr rtl="1"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050" b="1">
                <a:solidFill>
                  <a:srgbClr val="FFFFFF"/>
                </a:solidFill>
                <a:latin typeface="IRANSans"/>
                <a:cs typeface="IRANSans"/>
                <a:ea typeface="IRANSans"/>
              </a:rPr>
              <a:t>تسهیل‌گر</a:t>
            </a:r>
          </a:p>
          <a:p>
            <a:pPr rtl="1"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FFFFFF"/>
                </a:solidFill>
                <a:latin typeface="IRANSans"/>
                <a:cs typeface="IRANSans"/>
                <a:ea typeface="IRANSans"/>
              </a:rPr>
              <a:t>چرخشی، هر جلسه یک نفر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86383" y="2615184"/>
            <a:ext cx="3051962" cy="640080"/>
          </a:xfrm>
          <a:prstGeom prst="rect">
            <a:avLst/>
          </a:prstGeom>
          <a:noFill/>
        </p:spPr>
        <p:txBody>
          <a:bodyPr wrap="square" lIns="36576" rIns="36576" tIns="0" bIns="0" anchor="t">
            <a:spAutoFit/>
          </a:bodyPr>
          <a:lstStyle/>
          <a:p>
            <a:pPr rtl="1"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1E8E5A"/>
                </a:solidFill>
                <a:latin typeface="IRANSans"/>
                <a:cs typeface="IRANSans"/>
                <a:ea typeface="IRANSans"/>
              </a:rPr>
              <a:t>◂  </a:t>
            </a:r>
            <a:r>
              <a:rPr sz="1550" b="0">
                <a:solidFill>
                  <a:srgbClr val="1F2D38"/>
                </a:solidFill>
                <a:latin typeface="IRANSans"/>
                <a:cs typeface="IRANSans"/>
                <a:ea typeface="IRANSans"/>
              </a:rPr>
              <a:t>زمان را نگه می‌دارد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86383" y="3273552"/>
            <a:ext cx="3051962" cy="640080"/>
          </a:xfrm>
          <a:prstGeom prst="rect">
            <a:avLst/>
          </a:prstGeom>
          <a:noFill/>
        </p:spPr>
        <p:txBody>
          <a:bodyPr wrap="square" lIns="36576" rIns="36576" tIns="0" bIns="0" anchor="t">
            <a:spAutoFit/>
          </a:bodyPr>
          <a:lstStyle/>
          <a:p>
            <a:pPr rtl="1"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1E8E5A"/>
                </a:solidFill>
                <a:latin typeface="IRANSans"/>
                <a:cs typeface="IRANSans"/>
                <a:ea typeface="IRANSans"/>
              </a:rPr>
              <a:t>◂  </a:t>
            </a:r>
            <a:r>
              <a:rPr sz="1550" b="0">
                <a:solidFill>
                  <a:srgbClr val="1F2D38"/>
                </a:solidFill>
                <a:latin typeface="IRANSans"/>
                <a:cs typeface="IRANSans"/>
                <a:ea typeface="IRANSans"/>
              </a:rPr>
              <a:t>قواعد را یادآوری می‌کند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86383" y="3931920"/>
            <a:ext cx="3051962" cy="640080"/>
          </a:xfrm>
          <a:prstGeom prst="rect">
            <a:avLst/>
          </a:prstGeom>
          <a:noFill/>
        </p:spPr>
        <p:txBody>
          <a:bodyPr wrap="square" lIns="36576" rIns="36576" tIns="0" bIns="0" anchor="t">
            <a:spAutoFit/>
          </a:bodyPr>
          <a:lstStyle/>
          <a:p>
            <a:pPr rtl="1"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1E8E5A"/>
                </a:solidFill>
                <a:latin typeface="IRANSans"/>
                <a:cs typeface="IRANSans"/>
                <a:ea typeface="IRANSans"/>
              </a:rPr>
              <a:t>◂  </a:t>
            </a:r>
            <a:r>
              <a:rPr sz="1550" b="0">
                <a:solidFill>
                  <a:srgbClr val="1F2D38"/>
                </a:solidFill>
                <a:latin typeface="IRANSans"/>
                <a:cs typeface="IRANSans"/>
                <a:ea typeface="IRANSans"/>
              </a:rPr>
              <a:t>خودش کمترین حرف را می‌زند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566928" y="4956048"/>
            <a:ext cx="11057839" cy="932688"/>
          </a:xfrm>
          <a:prstGeom prst="roundRect">
            <a:avLst>
              <a:gd name="adj" fmla="val 10000"/>
            </a:avLst>
          </a:prstGeom>
          <a:solidFill>
            <a:srgbClr val="1B49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11542471" y="4956048"/>
            <a:ext cx="82296" cy="932688"/>
          </a:xfrm>
          <a:prstGeom prst="rect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77824" y="4956048"/>
            <a:ext cx="10436047" cy="932688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pPr rtl="1"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650" b="1">
                <a:solidFill>
                  <a:srgbClr val="FF6B35"/>
                </a:solidFill>
                <a:latin typeface="IRANSans"/>
                <a:cs typeface="IRANSans"/>
                <a:ea typeface="IRANSans"/>
              </a:rPr>
              <a:t>نکته‌ای که همه‌چیز را عوض می‌کند:   </a:t>
            </a:r>
            <a:r>
              <a:rPr sz="1950" b="0">
                <a:solidFill>
                  <a:srgbClr val="FFFFFF"/>
                </a:solidFill>
                <a:latin typeface="IRANSans"/>
                <a:cs typeface="IRANSans"/>
                <a:ea typeface="IRANSans"/>
              </a:rPr>
              <a:t>هفته بعد، صاحب چالش یک نفر دیگر است. امروز کمک می‌گیرید، دفعه بعد کمک می‌کنید.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66928" y="6382512"/>
            <a:ext cx="3657600" cy="274320"/>
          </a:xfrm>
          <a:prstGeom prst="rect">
            <a:avLst/>
          </a:prstGeom>
          <a:noFill/>
        </p:spPr>
        <p:txBody>
          <a:bodyPr wrap="square" lIns="36576" rIns="36576" tIns="0" bIns="0" anchor="t">
            <a:spAutoFit/>
          </a:bodyPr>
          <a:lstStyle/>
          <a:p>
            <a:pPr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5A6B77"/>
                </a:solidFill>
                <a:latin typeface="IRANSans"/>
                <a:cs typeface="IRANSans"/>
                <a:ea typeface="IRANSans"/>
              </a:rPr>
              <a:t>منتورینگ گروهی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161727" y="6382512"/>
            <a:ext cx="1463040" cy="274320"/>
          </a:xfrm>
          <a:prstGeom prst="rect">
            <a:avLst/>
          </a:prstGeom>
          <a:noFill/>
        </p:spPr>
        <p:txBody>
          <a:bodyPr wrap="square" lIns="36576" rIns="36576" tIns="0" bIns="0" anchor="t">
            <a:spAutoFit/>
          </a:bodyPr>
          <a:lstStyle/>
          <a:p>
            <a:pPr rt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5A6B77"/>
                </a:solidFill>
                <a:latin typeface="IRANSans"/>
                <a:cs typeface="IRANSans"/>
                <a:ea typeface="IRANSans"/>
              </a:rPr>
              <a:t>۲۰ / ۳۰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1-kickoff.jpg"/>
          <p:cNvPicPr>
            <a:picLocks noChangeAspect="1"/>
          </p:cNvPicPr>
          <p:nvPr/>
        </p:nvPicPr>
        <p:blipFill>
          <a:blip r:embed="rId2"/>
          <a:srcRect t="7811" b="781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0E2C40">
                  <a:alpha val="10000"/>
                </a:srgbClr>
              </a:gs>
              <a:gs pos="100000">
                <a:srgbClr val="0E2C40">
                  <a:alpha val="94000"/>
                </a:srgbClr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2C40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864047" y="1993392"/>
            <a:ext cx="5760720" cy="566928"/>
          </a:xfrm>
          <a:prstGeom prst="rect">
            <a:avLst/>
          </a:prstGeom>
          <a:noFill/>
        </p:spPr>
        <p:txBody>
          <a:bodyPr wrap="square" lIns="36576" rIns="36576" tIns="0" bIns="0" anchor="t">
            <a:spAutoFit/>
          </a:bodyPr>
          <a:lstStyle/>
          <a:p>
            <a:pPr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FF6B35"/>
                </a:solidFill>
                <a:latin typeface="IRANSans"/>
                <a:cs typeface="IRANSans"/>
                <a:ea typeface="IRANSans"/>
              </a:rPr>
              <a:t>بخش ۳</a:t>
            </a:r>
          </a:p>
        </p:txBody>
      </p:sp>
      <p:sp>
        <p:nvSpPr>
          <p:cNvPr id="6" name="Rectangle 5"/>
          <p:cNvSpPr/>
          <p:nvPr/>
        </p:nvSpPr>
        <p:spPr>
          <a:xfrm>
            <a:off x="10436047" y="2615184"/>
            <a:ext cx="1188720" cy="57150"/>
          </a:xfrm>
          <a:prstGeom prst="rect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864047" y="2852928"/>
            <a:ext cx="5760720" cy="1737360"/>
          </a:xfrm>
          <a:prstGeom prst="rect">
            <a:avLst/>
          </a:prstGeom>
          <a:noFill/>
        </p:spPr>
        <p:txBody>
          <a:bodyPr wrap="square" lIns="36576" rIns="36576" tIns="0" bIns="0" anchor="t">
            <a:spAutoFit/>
          </a:bodyPr>
          <a:lstStyle/>
          <a:p>
            <a:pPr rtl="1" algn="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4400" b="1">
                <a:solidFill>
                  <a:srgbClr val="FFFFFF"/>
                </a:solidFill>
                <a:latin typeface="IRANSans"/>
                <a:cs typeface="IRANSans"/>
                <a:ea typeface="IRANSans"/>
              </a:rPr>
              <a:t>چطور اجرا</a:t>
            </a:r>
          </a:p>
          <a:p>
            <a:pPr rtl="1" algn="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4400" b="1">
                <a:solidFill>
                  <a:srgbClr val="FFFFFF"/>
                </a:solidFill>
                <a:latin typeface="IRANSans"/>
                <a:cs typeface="IRANSans"/>
                <a:ea typeface="IRANSans"/>
              </a:rPr>
              <a:t>می‌شود؟</a:t>
            </a:r>
          </a:p>
          <a:p>
            <a:pPr rtl="1" algn="r">
              <a:lnSpc>
                <a:spcPct val="130000"/>
              </a:lnSpc>
              <a:spcBef>
                <a:spcPts val="1400"/>
              </a:spcBef>
              <a:spcAft>
                <a:spcPts val="0"/>
              </a:spcAft>
            </a:pPr>
            <a:r>
              <a:rPr sz="1900" b="0">
                <a:solidFill>
                  <a:srgbClr val="ECF3F7"/>
                </a:solidFill>
                <a:latin typeface="IRANSans"/>
                <a:cs typeface="IRANSans"/>
                <a:ea typeface="IRANSans"/>
              </a:rPr>
              <a:t>یک جلسه واقعی، دقیقه به دقیقه — و مهارتی که باید یاد بگیریم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756087" y="6035040"/>
            <a:ext cx="868680" cy="292608"/>
          </a:xfrm>
          <a:prstGeom prst="roundRect">
            <a:avLst>
              <a:gd name="adj" fmla="val 44000"/>
            </a:avLst>
          </a:prstGeom>
          <a:solidFill>
            <a:srgbClr val="FFFFFF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756087" y="6035040"/>
            <a:ext cx="868680" cy="292608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pPr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ECF3F7"/>
                </a:solidFill>
                <a:latin typeface="IRANSans"/>
                <a:cs typeface="IRANSans"/>
                <a:ea typeface="IRANSans"/>
              </a:rPr>
              <a:t>چرا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795967" y="6035040"/>
            <a:ext cx="868680" cy="292608"/>
          </a:xfrm>
          <a:prstGeom prst="roundRect">
            <a:avLst>
              <a:gd name="adj" fmla="val 44000"/>
            </a:avLst>
          </a:prstGeom>
          <a:solidFill>
            <a:srgbClr val="FFFFFF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795967" y="6035040"/>
            <a:ext cx="868680" cy="292608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pPr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ECF3F7"/>
                </a:solidFill>
                <a:latin typeface="IRANSans"/>
                <a:cs typeface="IRANSans"/>
                <a:ea typeface="IRANSans"/>
              </a:rPr>
              <a:t>چیست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835847" y="6035040"/>
            <a:ext cx="868680" cy="292608"/>
          </a:xfrm>
          <a:prstGeom prst="roundRect">
            <a:avLst>
              <a:gd name="adj" fmla="val 44000"/>
            </a:avLst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835847" y="6035040"/>
            <a:ext cx="868680" cy="292608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pPr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FFFFFF"/>
                </a:solidFill>
                <a:latin typeface="IRANSans"/>
                <a:cs typeface="IRANSans"/>
                <a:ea typeface="IRANSans"/>
              </a:rPr>
              <a:t>چطور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875727" y="6035040"/>
            <a:ext cx="868680" cy="292608"/>
          </a:xfrm>
          <a:prstGeom prst="roundRect">
            <a:avLst>
              <a:gd name="adj" fmla="val 44000"/>
            </a:avLst>
          </a:prstGeom>
          <a:solidFill>
            <a:srgbClr val="FFFFFF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875727" y="6035040"/>
            <a:ext cx="868680" cy="292608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pPr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ECF3F7"/>
                </a:solidFill>
                <a:latin typeface="IRANSans"/>
                <a:cs typeface="IRANSans"/>
                <a:ea typeface="IRANSans"/>
              </a:rPr>
              <a:t>چه می‌شود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915607" y="6035040"/>
            <a:ext cx="868680" cy="292608"/>
          </a:xfrm>
          <a:prstGeom prst="roundRect">
            <a:avLst>
              <a:gd name="adj" fmla="val 44000"/>
            </a:avLst>
          </a:prstGeom>
          <a:solidFill>
            <a:srgbClr val="FFFFFF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915607" y="6035040"/>
            <a:ext cx="868680" cy="292608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pPr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ECF3F7"/>
                </a:solidFill>
                <a:latin typeface="IRANSans"/>
                <a:cs typeface="IRANSans"/>
                <a:ea typeface="IRANSans"/>
              </a:rPr>
              <a:t>شروع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66928" y="420624"/>
            <a:ext cx="868680" cy="292608"/>
          </a:xfrm>
          <a:prstGeom prst="roundRect">
            <a:avLst>
              <a:gd name="adj" fmla="val 44000"/>
            </a:avLst>
          </a:prstGeom>
          <a:solidFill>
            <a:srgbClr val="E4EC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420624"/>
            <a:ext cx="868680" cy="292608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pPr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5A6B77"/>
                </a:solidFill>
                <a:latin typeface="IRANSans"/>
                <a:cs typeface="IRANSans"/>
                <a:ea typeface="IRANSans"/>
              </a:rPr>
              <a:t>چرا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508760" y="420624"/>
            <a:ext cx="868680" cy="292608"/>
          </a:xfrm>
          <a:prstGeom prst="roundRect">
            <a:avLst>
              <a:gd name="adj" fmla="val 44000"/>
            </a:avLst>
          </a:prstGeom>
          <a:solidFill>
            <a:srgbClr val="E4EC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508760" y="420624"/>
            <a:ext cx="868680" cy="292608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pPr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5A6B77"/>
                </a:solidFill>
                <a:latin typeface="IRANSans"/>
                <a:cs typeface="IRANSans"/>
                <a:ea typeface="IRANSans"/>
              </a:rPr>
              <a:t>چیست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450592" y="420624"/>
            <a:ext cx="868680" cy="292608"/>
          </a:xfrm>
          <a:prstGeom prst="roundRect">
            <a:avLst>
              <a:gd name="adj" fmla="val 44000"/>
            </a:avLst>
          </a:prstGeom>
          <a:solidFill>
            <a:srgbClr val="1B49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450592" y="420624"/>
            <a:ext cx="868680" cy="292608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pPr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FFFFFF"/>
                </a:solidFill>
                <a:latin typeface="IRANSans"/>
                <a:cs typeface="IRANSans"/>
                <a:ea typeface="IRANSans"/>
              </a:rPr>
              <a:t>چطور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392424" y="420624"/>
            <a:ext cx="868680" cy="292608"/>
          </a:xfrm>
          <a:prstGeom prst="roundRect">
            <a:avLst>
              <a:gd name="adj" fmla="val 44000"/>
            </a:avLst>
          </a:prstGeom>
          <a:solidFill>
            <a:srgbClr val="E4EC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392424" y="420624"/>
            <a:ext cx="868680" cy="292608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pPr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5A6B77"/>
                </a:solidFill>
                <a:latin typeface="IRANSans"/>
                <a:cs typeface="IRANSans"/>
                <a:ea typeface="IRANSans"/>
              </a:rPr>
              <a:t>چه می‌شود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34256" y="420624"/>
            <a:ext cx="868680" cy="292608"/>
          </a:xfrm>
          <a:prstGeom prst="roundRect">
            <a:avLst>
              <a:gd name="adj" fmla="val 44000"/>
            </a:avLst>
          </a:prstGeom>
          <a:solidFill>
            <a:srgbClr val="E4EC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334256" y="420624"/>
            <a:ext cx="868680" cy="292608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pPr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5A6B77"/>
                </a:solidFill>
                <a:latin typeface="IRANSans"/>
                <a:cs typeface="IRANSans"/>
                <a:ea typeface="IRANSans"/>
              </a:rPr>
              <a:t>شروع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310896"/>
            <a:ext cx="11057839" cy="310896"/>
          </a:xfrm>
          <a:prstGeom prst="rect">
            <a:avLst/>
          </a:prstGeom>
          <a:noFill/>
        </p:spPr>
        <p:txBody>
          <a:bodyPr wrap="square" lIns="36576" rIns="36576" tIns="0" bIns="0" anchor="t">
            <a:spAutoFit/>
          </a:bodyPr>
          <a:lstStyle/>
          <a:p>
            <a:pPr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>
                <a:solidFill>
                  <a:srgbClr val="FF6B35"/>
                </a:solidFill>
                <a:latin typeface="IRANSans"/>
                <a:cs typeface="IRANSans"/>
                <a:ea typeface="IRANSans"/>
              </a:rPr>
              <a:t>آناتومی ۹۰ دقیقه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621792"/>
            <a:ext cx="11057839" cy="640080"/>
          </a:xfrm>
          <a:prstGeom prst="rect">
            <a:avLst/>
          </a:prstGeom>
          <a:noFill/>
        </p:spPr>
        <p:txBody>
          <a:bodyPr wrap="square" lIns="36576" rIns="36576" tIns="0" bIns="0" anchor="t">
            <a:spAutoFit/>
          </a:bodyPr>
          <a:lstStyle/>
          <a:p>
            <a:pPr rtl="1"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100" b="1">
                <a:solidFill>
                  <a:srgbClr val="1B4965"/>
                </a:solidFill>
                <a:latin typeface="IRANSans"/>
                <a:cs typeface="IRANSans"/>
                <a:ea typeface="IRANSans"/>
              </a:rPr>
              <a:t>یک جلسه واقعی چطور پیش می‌رود؟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0527487" y="1243584"/>
            <a:ext cx="1097280" cy="57150"/>
          </a:xfrm>
          <a:prstGeom prst="rect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0396118" y="1499616"/>
            <a:ext cx="1196644" cy="347472"/>
          </a:xfrm>
          <a:prstGeom prst="rect">
            <a:avLst/>
          </a:prstGeom>
          <a:solidFill>
            <a:srgbClr val="62B6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396118" y="1499616"/>
            <a:ext cx="1228648" cy="347472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pPr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IRANSans"/>
                <a:cs typeface="IRANSans"/>
                <a:ea typeface="IRANSans"/>
              </a:rPr>
              <a:t>۱۰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167469" y="1499616"/>
            <a:ext cx="1196644" cy="347472"/>
          </a:xfrm>
          <a:prstGeom prst="rect">
            <a:avLst/>
          </a:prstGeom>
          <a:solidFill>
            <a:srgbClr val="62B6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67469" y="1499616"/>
            <a:ext cx="1228648" cy="347472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pPr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IRANSans"/>
                <a:cs typeface="IRANSans"/>
                <a:ea typeface="IRANSans"/>
              </a:rPr>
              <a:t>۱۰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938820" y="1499616"/>
            <a:ext cx="1196644" cy="347472"/>
          </a:xfrm>
          <a:prstGeom prst="rect">
            <a:avLst/>
          </a:prstGeom>
          <a:solidFill>
            <a:srgbClr val="2A6F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938820" y="1499616"/>
            <a:ext cx="1228648" cy="347472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pPr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IRANSans"/>
                <a:cs typeface="IRANSans"/>
                <a:ea typeface="IRANSans"/>
              </a:rPr>
              <a:t>۱۰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481523" y="1499616"/>
            <a:ext cx="2425293" cy="347472"/>
          </a:xfrm>
          <a:prstGeom prst="rect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481523" y="1499616"/>
            <a:ext cx="2457297" cy="347472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pPr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IRANSans"/>
                <a:cs typeface="IRANSans"/>
                <a:ea typeface="IRANSans"/>
              </a:rPr>
              <a:t>۲۰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024225" y="1499616"/>
            <a:ext cx="2425293" cy="347472"/>
          </a:xfrm>
          <a:prstGeom prst="rect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024225" y="1499616"/>
            <a:ext cx="2457297" cy="347472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pPr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IRANSans"/>
                <a:cs typeface="IRANSans"/>
                <a:ea typeface="IRANSans"/>
              </a:rPr>
              <a:t>۲۰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81252" y="1499616"/>
            <a:ext cx="1810969" cy="347472"/>
          </a:xfrm>
          <a:prstGeom prst="rect">
            <a:avLst/>
          </a:prstGeom>
          <a:solidFill>
            <a:srgbClr val="1B49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81252" y="1499616"/>
            <a:ext cx="1842973" cy="347472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pPr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IRANSans"/>
                <a:cs typeface="IRANSans"/>
                <a:ea typeface="IRANSans"/>
              </a:rPr>
              <a:t>۱۵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66927" y="1499616"/>
            <a:ext cx="582320" cy="347472"/>
          </a:xfrm>
          <a:prstGeom prst="rect">
            <a:avLst/>
          </a:prstGeom>
          <a:solidFill>
            <a:srgbClr val="1B49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66927" y="1499616"/>
            <a:ext cx="614324" cy="347472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pPr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IRANSans"/>
                <a:cs typeface="IRANSans"/>
                <a:ea typeface="IRANSans"/>
              </a:rPr>
              <a:t>۵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66928" y="2029968"/>
            <a:ext cx="11057839" cy="452628"/>
          </a:xfrm>
          <a:prstGeom prst="roundRect">
            <a:avLst>
              <a:gd name="adj" fmla="val 20000"/>
            </a:avLst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10490911" y="2075688"/>
            <a:ext cx="987552" cy="361188"/>
          </a:xfrm>
          <a:prstGeom prst="roundRect">
            <a:avLst>
              <a:gd name="adj" fmla="val 26000"/>
            </a:avLst>
          </a:prstGeom>
          <a:solidFill>
            <a:srgbClr val="62B6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IRANSans"/>
                <a:cs typeface="IRANSans"/>
                <a:ea typeface="IRANSans"/>
              </a:rPr>
              <a:t>۱۰′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098487" y="2029968"/>
            <a:ext cx="3200400" cy="452628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pPr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50" b="1">
                <a:solidFill>
                  <a:srgbClr val="1B4965"/>
                </a:solidFill>
                <a:latin typeface="IRANSans"/>
                <a:cs typeface="IRANSans"/>
                <a:ea typeface="IRANSans"/>
              </a:rPr>
              <a:t>دایره باز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49808" y="2029968"/>
            <a:ext cx="6949440" cy="452628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pPr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50" b="0">
                <a:solidFill>
                  <a:srgbClr val="5A6B77"/>
                </a:solidFill>
                <a:latin typeface="IRANSans"/>
                <a:cs typeface="IRANSans"/>
                <a:ea typeface="IRANSans"/>
              </a:rPr>
              <a:t>هر نفر یک جمله: این هفته چطور بود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10490911" y="2564892"/>
            <a:ext cx="987552" cy="361188"/>
          </a:xfrm>
          <a:prstGeom prst="roundRect">
            <a:avLst>
              <a:gd name="adj" fmla="val 26000"/>
            </a:avLst>
          </a:prstGeom>
          <a:solidFill>
            <a:srgbClr val="62B6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IRANSans"/>
                <a:cs typeface="IRANSans"/>
                <a:ea typeface="IRANSans"/>
              </a:rPr>
              <a:t>۱۰′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098487" y="2519172"/>
            <a:ext cx="3200400" cy="452628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pPr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50" b="1">
                <a:solidFill>
                  <a:srgbClr val="1B4965"/>
                </a:solidFill>
                <a:latin typeface="IRANSans"/>
                <a:cs typeface="IRANSans"/>
                <a:ea typeface="IRANSans"/>
              </a:rPr>
              <a:t>مرور تعهدها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49808" y="2519172"/>
            <a:ext cx="6949440" cy="452628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pPr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50" b="0">
                <a:solidFill>
                  <a:srgbClr val="5A6B77"/>
                </a:solidFill>
                <a:latin typeface="IRANSans"/>
                <a:cs typeface="IRANSans"/>
                <a:ea typeface="IRANSans"/>
              </a:rPr>
              <a:t>جلسه قبل چه قول دادیم و چه شد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566928" y="3008376"/>
            <a:ext cx="11057839" cy="452628"/>
          </a:xfrm>
          <a:prstGeom prst="roundRect">
            <a:avLst>
              <a:gd name="adj" fmla="val 20000"/>
            </a:avLst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10490911" y="3054096"/>
            <a:ext cx="987552" cy="361188"/>
          </a:xfrm>
          <a:prstGeom prst="roundRect">
            <a:avLst>
              <a:gd name="adj" fmla="val 26000"/>
            </a:avLst>
          </a:prstGeom>
          <a:solidFill>
            <a:srgbClr val="2A6F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IRANSans"/>
                <a:cs typeface="IRANSans"/>
                <a:ea typeface="IRANSans"/>
              </a:rPr>
              <a:t>۱۰′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098487" y="3008376"/>
            <a:ext cx="3200400" cy="452628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pPr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50" b="1">
                <a:solidFill>
                  <a:srgbClr val="1B4965"/>
                </a:solidFill>
                <a:latin typeface="IRANSans"/>
                <a:cs typeface="IRANSans"/>
                <a:ea typeface="IRANSans"/>
              </a:rPr>
              <a:t>روایت چالش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49808" y="3008376"/>
            <a:ext cx="6949440" cy="452628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pPr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50" b="0">
                <a:solidFill>
                  <a:srgbClr val="5A6B77"/>
                </a:solidFill>
                <a:latin typeface="IRANSans"/>
                <a:cs typeface="IRANSans"/>
                <a:ea typeface="IRANSans"/>
              </a:rPr>
              <a:t>داوطلب مسئله‌اش را می‌گوید، بدون قطع شدن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10490911" y="3543300"/>
            <a:ext cx="987552" cy="361188"/>
          </a:xfrm>
          <a:prstGeom prst="roundRect">
            <a:avLst>
              <a:gd name="adj" fmla="val 26000"/>
            </a:avLst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IRANSans"/>
                <a:cs typeface="IRANSans"/>
                <a:ea typeface="IRANSans"/>
              </a:rPr>
              <a:t>۲۰′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098487" y="3497580"/>
            <a:ext cx="3200400" cy="452628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pPr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50" b="1">
                <a:solidFill>
                  <a:srgbClr val="1B4965"/>
                </a:solidFill>
                <a:latin typeface="IRANSans"/>
                <a:cs typeface="IRANSans"/>
                <a:ea typeface="IRANSans"/>
              </a:rPr>
              <a:t>فقط سؤال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49808" y="3497580"/>
            <a:ext cx="6949440" cy="452628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pPr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50" b="0">
                <a:solidFill>
                  <a:srgbClr val="5A6B77"/>
                </a:solidFill>
                <a:latin typeface="IRANSans"/>
                <a:cs typeface="IRANSans"/>
                <a:ea typeface="IRANSans"/>
              </a:rPr>
              <a:t>گروه فقط می‌پرسد — هیچ راه‌حلی ممنوع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566928" y="3986784"/>
            <a:ext cx="11057839" cy="452628"/>
          </a:xfrm>
          <a:prstGeom prst="roundRect">
            <a:avLst>
              <a:gd name="adj" fmla="val 20000"/>
            </a:avLst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Rounded Rectangle 44"/>
          <p:cNvSpPr/>
          <p:nvPr/>
        </p:nvSpPr>
        <p:spPr>
          <a:xfrm>
            <a:off x="10490911" y="4032504"/>
            <a:ext cx="987552" cy="361188"/>
          </a:xfrm>
          <a:prstGeom prst="roundRect">
            <a:avLst>
              <a:gd name="adj" fmla="val 26000"/>
            </a:avLst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IRANSans"/>
                <a:cs typeface="IRANSans"/>
                <a:ea typeface="IRANSans"/>
              </a:rPr>
              <a:t>۲۰′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098487" y="3986784"/>
            <a:ext cx="3200400" cy="452628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pPr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50" b="1">
                <a:solidFill>
                  <a:srgbClr val="1B4965"/>
                </a:solidFill>
                <a:latin typeface="IRANSans"/>
                <a:cs typeface="IRANSans"/>
                <a:ea typeface="IRANSans"/>
              </a:rPr>
              <a:t>تجربه‌های مشابه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49808" y="3986784"/>
            <a:ext cx="6949440" cy="452628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pPr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50" b="0">
                <a:solidFill>
                  <a:srgbClr val="5A6B77"/>
                </a:solidFill>
                <a:latin typeface="IRANSans"/>
                <a:cs typeface="IRANSans"/>
                <a:ea typeface="IRANSans"/>
              </a:rPr>
              <a:t>«من هم یک بار…» — روایت، نه دستور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10490911" y="4521708"/>
            <a:ext cx="987552" cy="361188"/>
          </a:xfrm>
          <a:prstGeom prst="roundRect">
            <a:avLst>
              <a:gd name="adj" fmla="val 26000"/>
            </a:avLst>
          </a:prstGeom>
          <a:solidFill>
            <a:srgbClr val="1B49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IRANSans"/>
                <a:cs typeface="IRANSans"/>
                <a:ea typeface="IRANSans"/>
              </a:rPr>
              <a:t>۱۵′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098487" y="4475988"/>
            <a:ext cx="3200400" cy="452628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pPr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50" b="1">
                <a:solidFill>
                  <a:srgbClr val="1B4965"/>
                </a:solidFill>
                <a:latin typeface="IRANSans"/>
                <a:cs typeface="IRANSans"/>
                <a:ea typeface="IRANSans"/>
              </a:rPr>
              <a:t>انتخاب و تعهد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49808" y="4475988"/>
            <a:ext cx="6949440" cy="452628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pPr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50" b="0">
                <a:solidFill>
                  <a:srgbClr val="5A6B77"/>
                </a:solidFill>
                <a:latin typeface="IRANSans"/>
                <a:cs typeface="IRANSans"/>
                <a:ea typeface="IRANSans"/>
              </a:rPr>
              <a:t>صاحب چالش می‌گوید چه می‌کند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566928" y="4965192"/>
            <a:ext cx="11057839" cy="452628"/>
          </a:xfrm>
          <a:prstGeom prst="roundRect">
            <a:avLst>
              <a:gd name="adj" fmla="val 20000"/>
            </a:avLst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2" name="Rounded Rectangle 51"/>
          <p:cNvSpPr/>
          <p:nvPr/>
        </p:nvSpPr>
        <p:spPr>
          <a:xfrm>
            <a:off x="10490911" y="5010912"/>
            <a:ext cx="987552" cy="361188"/>
          </a:xfrm>
          <a:prstGeom prst="roundRect">
            <a:avLst>
              <a:gd name="adj" fmla="val 26000"/>
            </a:avLst>
          </a:prstGeom>
          <a:solidFill>
            <a:srgbClr val="1B49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IRANSans"/>
                <a:cs typeface="IRANSans"/>
                <a:ea typeface="IRANSans"/>
              </a:rPr>
              <a:t>۵′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098487" y="4965192"/>
            <a:ext cx="3200400" cy="452628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pPr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50" b="1">
                <a:solidFill>
                  <a:srgbClr val="1B4965"/>
                </a:solidFill>
                <a:latin typeface="IRANSans"/>
                <a:cs typeface="IRANSans"/>
                <a:ea typeface="IRANSans"/>
              </a:rPr>
              <a:t>دایره بسته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49808" y="4965192"/>
            <a:ext cx="6949440" cy="452628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pPr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50" b="0">
                <a:solidFill>
                  <a:srgbClr val="5A6B77"/>
                </a:solidFill>
                <a:latin typeface="IRANSans"/>
                <a:cs typeface="IRANSans"/>
                <a:ea typeface="IRANSans"/>
              </a:rPr>
              <a:t>هر نفر یک کلمه: چه چیزی با خود می‌برد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566928" y="5541264"/>
            <a:ext cx="11057839" cy="603504"/>
          </a:xfrm>
          <a:prstGeom prst="roundRect">
            <a:avLst>
              <a:gd name="adj" fmla="val 13000"/>
            </a:avLst>
          </a:prstGeom>
          <a:solidFill>
            <a:srgbClr val="FFF3EC"/>
          </a:solidFill>
          <a:ln w="22225">
            <a:solidFill>
              <a:srgbClr val="FF6B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566928" y="5541264"/>
            <a:ext cx="11057839" cy="603504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pPr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50" b="0">
                <a:solidFill>
                  <a:srgbClr val="1F2D38"/>
                </a:solidFill>
                <a:latin typeface="IRANSans"/>
                <a:cs typeface="IRANSans"/>
                <a:ea typeface="IRANSans"/>
              </a:rPr>
              <a:t>۴۰ دقیقه از ۹۰ دقیقه — یعنی نیمی از جلسه — </a:t>
            </a:r>
            <a:r>
              <a:rPr sz="1850" b="1">
                <a:solidFill>
                  <a:srgbClr val="D94E1F"/>
                </a:solidFill>
                <a:latin typeface="IRANSans"/>
                <a:cs typeface="IRANSans"/>
                <a:ea typeface="IRANSans"/>
              </a:rPr>
              <a:t>فقط سؤال و روایت است</a:t>
            </a:r>
            <a:r>
              <a:rPr sz="1750" b="0">
                <a:solidFill>
                  <a:srgbClr val="1F2D38"/>
                </a:solidFill>
                <a:latin typeface="IRANSans"/>
                <a:cs typeface="IRANSans"/>
                <a:ea typeface="IRANSans"/>
              </a:rPr>
              <a:t>، نه راه‌حل.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66928" y="6382512"/>
            <a:ext cx="3657600" cy="274320"/>
          </a:xfrm>
          <a:prstGeom prst="rect">
            <a:avLst/>
          </a:prstGeom>
          <a:noFill/>
        </p:spPr>
        <p:txBody>
          <a:bodyPr wrap="square" lIns="36576" rIns="36576" tIns="0" bIns="0" anchor="t">
            <a:spAutoFit/>
          </a:bodyPr>
          <a:lstStyle/>
          <a:p>
            <a:pPr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5A6B77"/>
                </a:solidFill>
                <a:latin typeface="IRANSans"/>
                <a:cs typeface="IRANSans"/>
                <a:ea typeface="IRANSans"/>
              </a:rPr>
              <a:t>منتورینگ گروهی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0161727" y="6382512"/>
            <a:ext cx="1463040" cy="274320"/>
          </a:xfrm>
          <a:prstGeom prst="rect">
            <a:avLst/>
          </a:prstGeom>
          <a:noFill/>
        </p:spPr>
        <p:txBody>
          <a:bodyPr wrap="square" lIns="36576" rIns="36576" tIns="0" bIns="0" anchor="t">
            <a:spAutoFit/>
          </a:bodyPr>
          <a:lstStyle/>
          <a:p>
            <a:pPr rt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5A6B77"/>
                </a:solidFill>
                <a:latin typeface="IRANSans"/>
                <a:cs typeface="IRANSans"/>
                <a:ea typeface="IRANSans"/>
              </a:rPr>
              <a:t>۲۲ / ۳۰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66928" y="420624"/>
            <a:ext cx="868680" cy="292608"/>
          </a:xfrm>
          <a:prstGeom prst="roundRect">
            <a:avLst>
              <a:gd name="adj" fmla="val 44000"/>
            </a:avLst>
          </a:prstGeom>
          <a:solidFill>
            <a:srgbClr val="E4EC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420624"/>
            <a:ext cx="868680" cy="292608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pPr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5A6B77"/>
                </a:solidFill>
                <a:latin typeface="IRANSans"/>
                <a:cs typeface="IRANSans"/>
                <a:ea typeface="IRANSans"/>
              </a:rPr>
              <a:t>چرا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508760" y="420624"/>
            <a:ext cx="868680" cy="292608"/>
          </a:xfrm>
          <a:prstGeom prst="roundRect">
            <a:avLst>
              <a:gd name="adj" fmla="val 44000"/>
            </a:avLst>
          </a:prstGeom>
          <a:solidFill>
            <a:srgbClr val="E4EC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508760" y="420624"/>
            <a:ext cx="868680" cy="292608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pPr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5A6B77"/>
                </a:solidFill>
                <a:latin typeface="IRANSans"/>
                <a:cs typeface="IRANSans"/>
                <a:ea typeface="IRANSans"/>
              </a:rPr>
              <a:t>چیست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450592" y="420624"/>
            <a:ext cx="868680" cy="292608"/>
          </a:xfrm>
          <a:prstGeom prst="roundRect">
            <a:avLst>
              <a:gd name="adj" fmla="val 44000"/>
            </a:avLst>
          </a:prstGeom>
          <a:solidFill>
            <a:srgbClr val="1B49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450592" y="420624"/>
            <a:ext cx="868680" cy="292608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pPr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FFFFFF"/>
                </a:solidFill>
                <a:latin typeface="IRANSans"/>
                <a:cs typeface="IRANSans"/>
                <a:ea typeface="IRANSans"/>
              </a:rPr>
              <a:t>چطور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392424" y="420624"/>
            <a:ext cx="868680" cy="292608"/>
          </a:xfrm>
          <a:prstGeom prst="roundRect">
            <a:avLst>
              <a:gd name="adj" fmla="val 44000"/>
            </a:avLst>
          </a:prstGeom>
          <a:solidFill>
            <a:srgbClr val="E4EC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392424" y="420624"/>
            <a:ext cx="868680" cy="292608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pPr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5A6B77"/>
                </a:solidFill>
                <a:latin typeface="IRANSans"/>
                <a:cs typeface="IRANSans"/>
                <a:ea typeface="IRANSans"/>
              </a:rPr>
              <a:t>چه می‌شود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34256" y="420624"/>
            <a:ext cx="868680" cy="292608"/>
          </a:xfrm>
          <a:prstGeom prst="roundRect">
            <a:avLst>
              <a:gd name="adj" fmla="val 44000"/>
            </a:avLst>
          </a:prstGeom>
          <a:solidFill>
            <a:srgbClr val="E4EC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334256" y="420624"/>
            <a:ext cx="868680" cy="292608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pPr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5A6B77"/>
                </a:solidFill>
                <a:latin typeface="IRANSans"/>
                <a:cs typeface="IRANSans"/>
                <a:ea typeface="IRANSans"/>
              </a:rPr>
              <a:t>شروع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310896"/>
            <a:ext cx="11057839" cy="310896"/>
          </a:xfrm>
          <a:prstGeom prst="rect">
            <a:avLst/>
          </a:prstGeom>
          <a:noFill/>
        </p:spPr>
        <p:txBody>
          <a:bodyPr wrap="square" lIns="36576" rIns="36576" tIns="0" bIns="0" anchor="t">
            <a:spAutoFit/>
          </a:bodyPr>
          <a:lstStyle/>
          <a:p>
            <a:pPr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>
                <a:solidFill>
                  <a:srgbClr val="FF6B35"/>
                </a:solidFill>
                <a:latin typeface="IRANSans"/>
                <a:cs typeface="IRANSans"/>
                <a:ea typeface="IRANSans"/>
              </a:rPr>
              <a:t>مهارت کلیدی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621792"/>
            <a:ext cx="11057839" cy="640080"/>
          </a:xfrm>
          <a:prstGeom prst="rect">
            <a:avLst/>
          </a:prstGeom>
          <a:noFill/>
        </p:spPr>
        <p:txBody>
          <a:bodyPr wrap="square" lIns="36576" rIns="36576" tIns="0" bIns="0" anchor="t">
            <a:spAutoFit/>
          </a:bodyPr>
          <a:lstStyle/>
          <a:p>
            <a:pPr rtl="1"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100" b="1">
                <a:solidFill>
                  <a:srgbClr val="1B4965"/>
                </a:solidFill>
                <a:latin typeface="IRANSans"/>
                <a:cs typeface="IRANSans"/>
                <a:ea typeface="IRANSans"/>
              </a:rPr>
              <a:t>قلب روش: به‌جای نصیحت، بپرس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0527487" y="1243584"/>
            <a:ext cx="1097280" cy="57150"/>
          </a:xfrm>
          <a:prstGeom prst="rect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12-listen.jpg"/>
          <p:cNvPicPr>
            <a:picLocks noChangeAspect="1"/>
          </p:cNvPicPr>
          <p:nvPr/>
        </p:nvPicPr>
        <p:blipFill>
          <a:blip r:embed="rId2"/>
          <a:srcRect l="1058" r="1058"/>
          <a:stretch>
            <a:fillRect/>
          </a:stretch>
        </p:blipFill>
        <p:spPr>
          <a:xfrm>
            <a:off x="566928" y="1499616"/>
            <a:ext cx="3383280" cy="2304288"/>
          </a:xfrm>
          <a:prstGeom prst="roundRect">
            <a:avLst/>
          </a:prstGeom>
        </p:spPr>
      </p:pic>
      <p:sp>
        <p:nvSpPr>
          <p:cNvPr id="17" name="Rounded Rectangle 16"/>
          <p:cNvSpPr/>
          <p:nvPr/>
        </p:nvSpPr>
        <p:spPr>
          <a:xfrm>
            <a:off x="566928" y="3950208"/>
            <a:ext cx="3383280" cy="2249424"/>
          </a:xfrm>
          <a:prstGeom prst="roundRect">
            <a:avLst>
              <a:gd name="adj" fmla="val 4500"/>
            </a:avLst>
          </a:prstGeom>
          <a:solidFill>
            <a:srgbClr val="1B49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867912" y="3950208"/>
            <a:ext cx="82296" cy="2249424"/>
          </a:xfrm>
          <a:prstGeom prst="rect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86384" y="4151376"/>
            <a:ext cx="2907792" cy="1874519"/>
          </a:xfrm>
          <a:prstGeom prst="rect">
            <a:avLst/>
          </a:prstGeom>
          <a:noFill/>
        </p:spPr>
        <p:txBody>
          <a:bodyPr wrap="square" lIns="36576" rIns="36576" tIns="0" bIns="0" anchor="t">
            <a:spAutoFit/>
          </a:bodyPr>
          <a:lstStyle/>
          <a:p>
            <a:pPr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>
                <a:solidFill>
                  <a:srgbClr val="FF6B35"/>
                </a:solidFill>
                <a:latin typeface="IRANSans"/>
                <a:cs typeface="IRANSans"/>
                <a:ea typeface="IRANSans"/>
              </a:rPr>
              <a:t>چرا نصیحت جواب نمی‌دهد؟</a:t>
            </a:r>
          </a:p>
          <a:p>
            <a:pPr rtl="1" algn="r">
              <a:lnSpc>
                <a:spcPct val="128000"/>
              </a:lnSpc>
              <a:spcBef>
                <a:spcPts val="900"/>
              </a:spcBef>
              <a:spcAft>
                <a:spcPts val="0"/>
              </a:spcAft>
            </a:pPr>
            <a:r>
              <a:rPr sz="1600" b="0">
                <a:solidFill>
                  <a:srgbClr val="FFFFFF"/>
                </a:solidFill>
                <a:latin typeface="IRANSans"/>
                <a:cs typeface="IRANSans"/>
                <a:ea typeface="IRANSans"/>
              </a:rPr>
              <a:t>چون شما تمام جزئیات مسئله او را نمی‌دانید.</a:t>
            </a:r>
          </a:p>
          <a:p>
            <a:pPr rtl="1" algn="r">
              <a:lnSpc>
                <a:spcPct val="128000"/>
              </a:lnSpc>
              <a:spcBef>
                <a:spcPts val="700"/>
              </a:spcBef>
              <a:spcAft>
                <a:spcPts val="0"/>
              </a:spcAft>
            </a:pPr>
            <a:r>
              <a:rPr sz="1600" b="0">
                <a:solidFill>
                  <a:srgbClr val="ECF3F7"/>
                </a:solidFill>
                <a:latin typeface="IRANSans"/>
                <a:cs typeface="IRANSans"/>
                <a:ea typeface="IRANSans"/>
              </a:rPr>
              <a:t>ولی یک سؤال خوب، خودِ او را به جوابی می‌رساند که خودش اجرایش می‌کند.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125815" y="1499616"/>
            <a:ext cx="3498951" cy="475488"/>
          </a:xfrm>
          <a:prstGeom prst="roundRect">
            <a:avLst>
              <a:gd name="adj" fmla="val 18000"/>
            </a:avLst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125815" y="1499616"/>
            <a:ext cx="3498951" cy="475488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pPr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50" b="1">
                <a:solidFill>
                  <a:srgbClr val="FFFFFF"/>
                </a:solidFill>
                <a:latin typeface="IRANSans"/>
                <a:cs typeface="IRANSans"/>
                <a:ea typeface="IRANSans"/>
              </a:rPr>
              <a:t>به‌جای این…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352544" y="1499616"/>
            <a:ext cx="3498951" cy="475488"/>
          </a:xfrm>
          <a:prstGeom prst="roundRect">
            <a:avLst>
              <a:gd name="adj" fmla="val 18000"/>
            </a:avLst>
          </a:prstGeom>
          <a:solidFill>
            <a:srgbClr val="1E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352544" y="1499616"/>
            <a:ext cx="3498951" cy="475488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pPr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50" b="1">
                <a:solidFill>
                  <a:srgbClr val="FFFFFF"/>
                </a:solidFill>
                <a:latin typeface="IRANSans"/>
                <a:cs typeface="IRANSans"/>
                <a:ea typeface="IRANSans"/>
              </a:rPr>
              <a:t>این را بگویید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125815" y="2121408"/>
            <a:ext cx="3498951" cy="914399"/>
          </a:xfrm>
          <a:prstGeom prst="roundRect">
            <a:avLst>
              <a:gd name="adj" fmla="val 13000"/>
            </a:avLst>
          </a:prstGeom>
          <a:solidFill>
            <a:srgbClr val="FDEE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90407" y="2121408"/>
            <a:ext cx="3169767" cy="914399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pPr rtl="1"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5A6B77"/>
                </a:solidFill>
                <a:latin typeface="IRANSans"/>
                <a:cs typeface="IRANSans"/>
                <a:ea typeface="IRANSans"/>
              </a:rPr>
              <a:t>«جای تو بودم فلان کار را می‌کردم.»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352544" y="2121408"/>
            <a:ext cx="3498951" cy="914399"/>
          </a:xfrm>
          <a:prstGeom prst="roundRect">
            <a:avLst>
              <a:gd name="adj" fmla="val 13000"/>
            </a:avLst>
          </a:prstGeom>
          <a:solidFill>
            <a:srgbClr val="E8F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517136" y="2121408"/>
            <a:ext cx="3169767" cy="914399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pPr rtl="1"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F2D38"/>
                </a:solidFill>
                <a:latin typeface="IRANSans"/>
                <a:cs typeface="IRANSans"/>
                <a:ea typeface="IRANSans"/>
              </a:rPr>
              <a:t>«خودت چه گزینه‌هایی را سنجیدی؟»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125815" y="3163823"/>
            <a:ext cx="3498951" cy="914399"/>
          </a:xfrm>
          <a:prstGeom prst="roundRect">
            <a:avLst>
              <a:gd name="adj" fmla="val 13000"/>
            </a:avLst>
          </a:prstGeom>
          <a:solidFill>
            <a:srgbClr val="FDEE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290407" y="3163823"/>
            <a:ext cx="3169767" cy="914399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pPr rtl="1"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5A6B77"/>
                </a:solidFill>
                <a:latin typeface="IRANSans"/>
                <a:cs typeface="IRANSans"/>
                <a:ea typeface="IRANSans"/>
              </a:rPr>
              <a:t>«این روش اشتباه است.»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52544" y="3163823"/>
            <a:ext cx="3498951" cy="914399"/>
          </a:xfrm>
          <a:prstGeom prst="roundRect">
            <a:avLst>
              <a:gd name="adj" fmla="val 13000"/>
            </a:avLst>
          </a:prstGeom>
          <a:solidFill>
            <a:srgbClr val="E8F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517136" y="3163823"/>
            <a:ext cx="3169767" cy="914399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pPr rtl="1"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F2D38"/>
                </a:solidFill>
                <a:latin typeface="IRANSans"/>
                <a:cs typeface="IRANSans"/>
                <a:ea typeface="IRANSans"/>
              </a:rPr>
              <a:t>«اگر جواب ندهد، بدترین اتفاق چیست؟»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125815" y="4206238"/>
            <a:ext cx="3498951" cy="914399"/>
          </a:xfrm>
          <a:prstGeom prst="roundRect">
            <a:avLst>
              <a:gd name="adj" fmla="val 13000"/>
            </a:avLst>
          </a:prstGeom>
          <a:solidFill>
            <a:srgbClr val="FDEE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290407" y="4206238"/>
            <a:ext cx="3169767" cy="914399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pPr rtl="1"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5A6B77"/>
                </a:solidFill>
                <a:latin typeface="IRANSans"/>
                <a:cs typeface="IRANSans"/>
                <a:ea typeface="IRANSans"/>
              </a:rPr>
              <a:t>«ما همیشه اینجوری کردیم.»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352544" y="4206238"/>
            <a:ext cx="3498951" cy="914399"/>
          </a:xfrm>
          <a:prstGeom prst="roundRect">
            <a:avLst>
              <a:gd name="adj" fmla="val 13000"/>
            </a:avLst>
          </a:prstGeom>
          <a:solidFill>
            <a:srgbClr val="E8F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517136" y="4206238"/>
            <a:ext cx="3169767" cy="914399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pPr rtl="1"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F2D38"/>
                </a:solidFill>
                <a:latin typeface="IRANSans"/>
                <a:cs typeface="IRANSans"/>
                <a:ea typeface="IRANSans"/>
              </a:rPr>
              <a:t>«چه چیزی این مسئله را برایت سخت کرده؟»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125815" y="5248653"/>
            <a:ext cx="3498951" cy="914399"/>
          </a:xfrm>
          <a:prstGeom prst="roundRect">
            <a:avLst>
              <a:gd name="adj" fmla="val 13000"/>
            </a:avLst>
          </a:prstGeom>
          <a:solidFill>
            <a:srgbClr val="FDEE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290407" y="5248653"/>
            <a:ext cx="3169767" cy="914399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pPr rtl="1"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5A6B77"/>
                </a:solidFill>
                <a:latin typeface="IRANSans"/>
                <a:cs typeface="IRANSans"/>
                <a:ea typeface="IRANSans"/>
              </a:rPr>
              <a:t>«نگران نباش، درست می‌شود.»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4352544" y="5248653"/>
            <a:ext cx="3498951" cy="914399"/>
          </a:xfrm>
          <a:prstGeom prst="roundRect">
            <a:avLst>
              <a:gd name="adj" fmla="val 13000"/>
            </a:avLst>
          </a:prstGeom>
          <a:solidFill>
            <a:srgbClr val="E8F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517136" y="5248653"/>
            <a:ext cx="3169767" cy="914399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pPr rtl="1"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F2D38"/>
                </a:solidFill>
                <a:latin typeface="IRANSans"/>
                <a:cs typeface="IRANSans"/>
                <a:ea typeface="IRANSans"/>
              </a:rPr>
              <a:t>«موفقیت در این مسئله برایت یعنی چه؟»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66928" y="6382512"/>
            <a:ext cx="3657600" cy="274320"/>
          </a:xfrm>
          <a:prstGeom prst="rect">
            <a:avLst/>
          </a:prstGeom>
          <a:noFill/>
        </p:spPr>
        <p:txBody>
          <a:bodyPr wrap="square" lIns="36576" rIns="36576" tIns="0" bIns="0" anchor="t">
            <a:spAutoFit/>
          </a:bodyPr>
          <a:lstStyle/>
          <a:p>
            <a:pPr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5A6B77"/>
                </a:solidFill>
                <a:latin typeface="IRANSans"/>
                <a:cs typeface="IRANSans"/>
                <a:ea typeface="IRANSans"/>
              </a:rPr>
              <a:t>منتورینگ گروهی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161727" y="6382512"/>
            <a:ext cx="1463040" cy="274320"/>
          </a:xfrm>
          <a:prstGeom prst="rect">
            <a:avLst/>
          </a:prstGeom>
          <a:noFill/>
        </p:spPr>
        <p:txBody>
          <a:bodyPr wrap="square" lIns="36576" rIns="36576" tIns="0" bIns="0" anchor="t">
            <a:spAutoFit/>
          </a:bodyPr>
          <a:lstStyle/>
          <a:p>
            <a:pPr rt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5A6B77"/>
                </a:solidFill>
                <a:latin typeface="IRANSans"/>
                <a:cs typeface="IRANSans"/>
                <a:ea typeface="IRANSans"/>
              </a:rPr>
              <a:t>۲۳ / ۳۰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66928" y="420624"/>
            <a:ext cx="868680" cy="292608"/>
          </a:xfrm>
          <a:prstGeom prst="roundRect">
            <a:avLst>
              <a:gd name="adj" fmla="val 44000"/>
            </a:avLst>
          </a:prstGeom>
          <a:solidFill>
            <a:srgbClr val="E4EC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420624"/>
            <a:ext cx="868680" cy="292608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pPr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5A6B77"/>
                </a:solidFill>
                <a:latin typeface="IRANSans"/>
                <a:cs typeface="IRANSans"/>
                <a:ea typeface="IRANSans"/>
              </a:rPr>
              <a:t>چرا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508760" y="420624"/>
            <a:ext cx="868680" cy="292608"/>
          </a:xfrm>
          <a:prstGeom prst="roundRect">
            <a:avLst>
              <a:gd name="adj" fmla="val 44000"/>
            </a:avLst>
          </a:prstGeom>
          <a:solidFill>
            <a:srgbClr val="E4EC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508760" y="420624"/>
            <a:ext cx="868680" cy="292608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pPr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5A6B77"/>
                </a:solidFill>
                <a:latin typeface="IRANSans"/>
                <a:cs typeface="IRANSans"/>
                <a:ea typeface="IRANSans"/>
              </a:rPr>
              <a:t>چیست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450592" y="420624"/>
            <a:ext cx="868680" cy="292608"/>
          </a:xfrm>
          <a:prstGeom prst="roundRect">
            <a:avLst>
              <a:gd name="adj" fmla="val 44000"/>
            </a:avLst>
          </a:prstGeom>
          <a:solidFill>
            <a:srgbClr val="1B49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450592" y="420624"/>
            <a:ext cx="868680" cy="292608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pPr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FFFFFF"/>
                </a:solidFill>
                <a:latin typeface="IRANSans"/>
                <a:cs typeface="IRANSans"/>
                <a:ea typeface="IRANSans"/>
              </a:rPr>
              <a:t>چطور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392424" y="420624"/>
            <a:ext cx="868680" cy="292608"/>
          </a:xfrm>
          <a:prstGeom prst="roundRect">
            <a:avLst>
              <a:gd name="adj" fmla="val 44000"/>
            </a:avLst>
          </a:prstGeom>
          <a:solidFill>
            <a:srgbClr val="E4EC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392424" y="420624"/>
            <a:ext cx="868680" cy="292608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pPr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5A6B77"/>
                </a:solidFill>
                <a:latin typeface="IRANSans"/>
                <a:cs typeface="IRANSans"/>
                <a:ea typeface="IRANSans"/>
              </a:rPr>
              <a:t>چه می‌شود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34256" y="420624"/>
            <a:ext cx="868680" cy="292608"/>
          </a:xfrm>
          <a:prstGeom prst="roundRect">
            <a:avLst>
              <a:gd name="adj" fmla="val 44000"/>
            </a:avLst>
          </a:prstGeom>
          <a:solidFill>
            <a:srgbClr val="E4EC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334256" y="420624"/>
            <a:ext cx="868680" cy="292608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pPr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5A6B77"/>
                </a:solidFill>
                <a:latin typeface="IRANSans"/>
                <a:cs typeface="IRANSans"/>
                <a:ea typeface="IRANSans"/>
              </a:rPr>
              <a:t>شروع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310896"/>
            <a:ext cx="11057839" cy="310896"/>
          </a:xfrm>
          <a:prstGeom prst="rect">
            <a:avLst/>
          </a:prstGeom>
          <a:noFill/>
        </p:spPr>
        <p:txBody>
          <a:bodyPr wrap="square" lIns="36576" rIns="36576" tIns="0" bIns="0" anchor="t">
            <a:spAutoFit/>
          </a:bodyPr>
          <a:lstStyle/>
          <a:p>
            <a:pPr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>
                <a:solidFill>
                  <a:srgbClr val="FF6B35"/>
                </a:solidFill>
                <a:latin typeface="IRANSans"/>
                <a:cs typeface="IRANSans"/>
                <a:ea typeface="IRANSans"/>
              </a:rPr>
              <a:t>پیمان گروه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621792"/>
            <a:ext cx="11057839" cy="640080"/>
          </a:xfrm>
          <a:prstGeom prst="rect">
            <a:avLst/>
          </a:prstGeom>
          <a:noFill/>
        </p:spPr>
        <p:txBody>
          <a:bodyPr wrap="square" lIns="36576" rIns="36576" tIns="0" bIns="0" anchor="t">
            <a:spAutoFit/>
          </a:bodyPr>
          <a:lstStyle/>
          <a:p>
            <a:pPr rtl="1"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100" b="1">
                <a:solidFill>
                  <a:srgbClr val="1B4965"/>
                </a:solidFill>
                <a:latin typeface="IRANSans"/>
                <a:cs typeface="IRANSans"/>
                <a:ea typeface="IRANSans"/>
              </a:rPr>
              <a:t>پنج قاعده‌ای که فضا را امن می‌کند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0527487" y="1243584"/>
            <a:ext cx="1097280" cy="57150"/>
          </a:xfrm>
          <a:prstGeom prst="rect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4263847" y="1499616"/>
            <a:ext cx="7360920" cy="822960"/>
          </a:xfrm>
          <a:prstGeom prst="roundRect">
            <a:avLst>
              <a:gd name="adj" fmla="val 11000"/>
            </a:avLst>
          </a:prstGeom>
          <a:solidFill>
            <a:srgbClr val="FFF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533327" y="1499616"/>
            <a:ext cx="91440" cy="822960"/>
          </a:xfrm>
          <a:prstGeom prst="rect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783519" y="1700784"/>
            <a:ext cx="420624" cy="420624"/>
          </a:xfrm>
          <a:prstGeom prst="ellipse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50" b="1">
                <a:solidFill>
                  <a:srgbClr val="FFFFFF"/>
                </a:solidFill>
                <a:latin typeface="IRANSans"/>
                <a:cs typeface="IRANSans"/>
                <a:ea typeface="IRANSans"/>
              </a:rPr>
              <a:t>۱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19879" y="1499616"/>
            <a:ext cx="6172200" cy="822960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pPr rtl="1"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150" b="1">
                <a:solidFill>
                  <a:srgbClr val="FF6B35"/>
                </a:solidFill>
                <a:latin typeface="IRANSans"/>
                <a:cs typeface="IRANSans"/>
                <a:ea typeface="IRANSans"/>
              </a:rPr>
              <a:t>اینجا سِمَت نداریم</a:t>
            </a:r>
          </a:p>
          <a:p>
            <a:pPr rtl="1"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50" b="0">
                <a:solidFill>
                  <a:srgbClr val="5A6B77"/>
                </a:solidFill>
                <a:latin typeface="IRANSans"/>
                <a:cs typeface="IRANSans"/>
                <a:ea typeface="IRANSans"/>
              </a:rPr>
              <a:t>در این ۹۰ دقیقه هیچ‌کس رئیس کسی نیست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263847" y="2404872"/>
            <a:ext cx="7360920" cy="822960"/>
          </a:xfrm>
          <a:prstGeom prst="roundRect">
            <a:avLst>
              <a:gd name="adj" fmla="val 11000"/>
            </a:avLst>
          </a:prstGeom>
          <a:solidFill>
            <a:srgbClr val="ECF3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1533327" y="2404872"/>
            <a:ext cx="91440" cy="822960"/>
          </a:xfrm>
          <a:prstGeom prst="rect">
            <a:avLst/>
          </a:prstGeom>
          <a:solidFill>
            <a:srgbClr val="1B49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10783519" y="2606040"/>
            <a:ext cx="420624" cy="420624"/>
          </a:xfrm>
          <a:prstGeom prst="ellipse">
            <a:avLst/>
          </a:prstGeom>
          <a:solidFill>
            <a:srgbClr val="1B49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50" b="1">
                <a:solidFill>
                  <a:srgbClr val="FFFFFF"/>
                </a:solidFill>
                <a:latin typeface="IRANSans"/>
                <a:cs typeface="IRANSans"/>
                <a:ea typeface="IRANSans"/>
              </a:rPr>
              <a:t>۲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19879" y="2404872"/>
            <a:ext cx="6172200" cy="822960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pPr rtl="1"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150" b="1">
                <a:solidFill>
                  <a:srgbClr val="1B4965"/>
                </a:solidFill>
                <a:latin typeface="IRANSans"/>
                <a:cs typeface="IRANSans"/>
                <a:ea typeface="IRANSans"/>
              </a:rPr>
              <a:t>هرچه گفته شد، همین‌جا می‌ماند</a:t>
            </a:r>
          </a:p>
          <a:p>
            <a:pPr rtl="1"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50" b="0">
                <a:solidFill>
                  <a:srgbClr val="5A6B77"/>
                </a:solidFill>
                <a:latin typeface="IRANSans"/>
                <a:cs typeface="IRANSans"/>
                <a:ea typeface="IRANSans"/>
              </a:rPr>
              <a:t>بدون استثنا، بدون صورت‌جلسه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263847" y="3310128"/>
            <a:ext cx="7360920" cy="822960"/>
          </a:xfrm>
          <a:prstGeom prst="roundRect">
            <a:avLst>
              <a:gd name="adj" fmla="val 11000"/>
            </a:avLst>
          </a:prstGeom>
          <a:solidFill>
            <a:srgbClr val="E8F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11533327" y="3310128"/>
            <a:ext cx="91440" cy="822960"/>
          </a:xfrm>
          <a:prstGeom prst="rect">
            <a:avLst/>
          </a:prstGeom>
          <a:solidFill>
            <a:srgbClr val="1E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10783519" y="3511296"/>
            <a:ext cx="420624" cy="420624"/>
          </a:xfrm>
          <a:prstGeom prst="ellipse">
            <a:avLst/>
          </a:prstGeom>
          <a:solidFill>
            <a:srgbClr val="1E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50" b="1">
                <a:solidFill>
                  <a:srgbClr val="FFFFFF"/>
                </a:solidFill>
                <a:latin typeface="IRANSans"/>
                <a:cs typeface="IRANSans"/>
                <a:ea typeface="IRANSans"/>
              </a:rPr>
              <a:t>۳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19879" y="3310128"/>
            <a:ext cx="6172200" cy="822960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pPr rtl="1"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150" b="1">
                <a:solidFill>
                  <a:srgbClr val="1E8E5A"/>
                </a:solidFill>
                <a:latin typeface="IRANSans"/>
                <a:cs typeface="IRANSans"/>
                <a:ea typeface="IRANSans"/>
              </a:rPr>
              <a:t>سؤال بپرس، نسخه نپیچ</a:t>
            </a:r>
          </a:p>
          <a:p>
            <a:pPr rtl="1"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50" b="0">
                <a:solidFill>
                  <a:srgbClr val="5A6B77"/>
                </a:solidFill>
                <a:latin typeface="IRANSans"/>
                <a:cs typeface="IRANSans"/>
                <a:ea typeface="IRANSans"/>
              </a:rPr>
              <a:t>کنجکاوی به‌جای نصیحت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263847" y="4215384"/>
            <a:ext cx="7360920" cy="822960"/>
          </a:xfrm>
          <a:prstGeom prst="roundRect">
            <a:avLst>
              <a:gd name="adj" fmla="val 11000"/>
            </a:avLst>
          </a:prstGeom>
          <a:solidFill>
            <a:srgbClr val="F6EF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1533327" y="4215384"/>
            <a:ext cx="91440" cy="822960"/>
          </a:xfrm>
          <a:prstGeom prst="rect">
            <a:avLst/>
          </a:prstGeom>
          <a:solidFill>
            <a:srgbClr val="8E44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10783519" y="4416552"/>
            <a:ext cx="420624" cy="420624"/>
          </a:xfrm>
          <a:prstGeom prst="ellipse">
            <a:avLst/>
          </a:prstGeom>
          <a:solidFill>
            <a:srgbClr val="8E44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50" b="1">
                <a:solidFill>
                  <a:srgbClr val="FFFFFF"/>
                </a:solidFill>
                <a:latin typeface="IRANSans"/>
                <a:cs typeface="IRANSans"/>
                <a:ea typeface="IRANSans"/>
              </a:rPr>
              <a:t>۴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19879" y="4215384"/>
            <a:ext cx="6172200" cy="822960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pPr rtl="1"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150" b="1">
                <a:solidFill>
                  <a:srgbClr val="8E44AD"/>
                </a:solidFill>
                <a:latin typeface="IRANSans"/>
                <a:cs typeface="IRANSans"/>
                <a:ea typeface="IRANSans"/>
              </a:rPr>
              <a:t>هیچ سؤالی احمقانه نیست</a:t>
            </a:r>
          </a:p>
          <a:p>
            <a:pPr rtl="1"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50" b="0">
                <a:solidFill>
                  <a:srgbClr val="5A6B77"/>
                </a:solidFill>
                <a:latin typeface="IRANSans"/>
                <a:cs typeface="IRANSans"/>
                <a:ea typeface="IRANSans"/>
              </a:rPr>
              <a:t>و هیچ تجربه‌ای بی‌ارزش نیست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263847" y="5120640"/>
            <a:ext cx="7360920" cy="822960"/>
          </a:xfrm>
          <a:prstGeom prst="roundRect">
            <a:avLst>
              <a:gd name="adj" fmla="val 11000"/>
            </a:avLst>
          </a:prstGeom>
          <a:solidFill>
            <a:srgbClr val="FDEE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11533327" y="5120640"/>
            <a:ext cx="91440" cy="82296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10783519" y="5321808"/>
            <a:ext cx="420624" cy="420624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50" b="1">
                <a:solidFill>
                  <a:srgbClr val="FFFFFF"/>
                </a:solidFill>
                <a:latin typeface="IRANSans"/>
                <a:cs typeface="IRANSans"/>
                <a:ea typeface="IRANSans"/>
              </a:rPr>
              <a:t>۵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519879" y="5120640"/>
            <a:ext cx="6172200" cy="822960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pPr rtl="1"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150" b="1">
                <a:solidFill>
                  <a:srgbClr val="C0392B"/>
                </a:solidFill>
                <a:latin typeface="IRANSans"/>
                <a:cs typeface="IRANSans"/>
                <a:ea typeface="IRANSans"/>
              </a:rPr>
              <a:t>گوش بده تا بفهمی</a:t>
            </a:r>
          </a:p>
          <a:p>
            <a:pPr rtl="1"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50" b="0">
                <a:solidFill>
                  <a:srgbClr val="5A6B77"/>
                </a:solidFill>
                <a:latin typeface="IRANSans"/>
                <a:cs typeface="IRANSans"/>
                <a:ea typeface="IRANSans"/>
              </a:rPr>
              <a:t>نه اینکه منتظر نوبت حرف زدنت باشی</a:t>
            </a:r>
          </a:p>
        </p:txBody>
      </p:sp>
      <p:pic>
        <p:nvPicPr>
          <p:cNvPr id="36" name="Picture 35" descr="13-safe.jpg"/>
          <p:cNvPicPr>
            <a:picLocks noChangeAspect="1"/>
          </p:cNvPicPr>
          <p:nvPr/>
        </p:nvPicPr>
        <p:blipFill>
          <a:blip r:embed="rId2"/>
          <a:srcRect l="10316" r="10316"/>
          <a:stretch>
            <a:fillRect/>
          </a:stretch>
        </p:blipFill>
        <p:spPr>
          <a:xfrm>
            <a:off x="566928" y="1499616"/>
            <a:ext cx="3331159" cy="2798064"/>
          </a:xfrm>
          <a:prstGeom prst="roundRect">
            <a:avLst/>
          </a:prstGeom>
        </p:spPr>
      </p:pic>
      <p:sp>
        <p:nvSpPr>
          <p:cNvPr id="37" name="Rounded Rectangle 36"/>
          <p:cNvSpPr/>
          <p:nvPr/>
        </p:nvSpPr>
        <p:spPr>
          <a:xfrm>
            <a:off x="566928" y="4443984"/>
            <a:ext cx="3331159" cy="1755648"/>
          </a:xfrm>
          <a:prstGeom prst="roundRect">
            <a:avLst>
              <a:gd name="adj" fmla="val 4500"/>
            </a:avLst>
          </a:prstGeom>
          <a:solidFill>
            <a:srgbClr val="1B49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3815791" y="4443984"/>
            <a:ext cx="82296" cy="1755648"/>
          </a:xfrm>
          <a:prstGeom prst="rect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86384" y="4626864"/>
            <a:ext cx="2855671" cy="1417320"/>
          </a:xfrm>
          <a:prstGeom prst="rect">
            <a:avLst/>
          </a:prstGeom>
          <a:noFill/>
        </p:spPr>
        <p:txBody>
          <a:bodyPr wrap="square" lIns="36576" rIns="36576" tIns="0" bIns="0" anchor="t">
            <a:spAutoFit/>
          </a:bodyPr>
          <a:lstStyle/>
          <a:p>
            <a:pPr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FF6B35"/>
                </a:solidFill>
                <a:latin typeface="IRANSans"/>
                <a:cs typeface="IRANSans"/>
                <a:ea typeface="IRANSans"/>
              </a:rPr>
              <a:t>چرا این پنج تا؟</a:t>
            </a:r>
          </a:p>
          <a:p>
            <a:pPr rtl="1" algn="r">
              <a:lnSpc>
                <a:spcPct val="126000"/>
              </a:lnSpc>
              <a:spcBef>
                <a:spcPts val="800"/>
              </a:spcBef>
              <a:spcAft>
                <a:spcPts val="0"/>
              </a:spcAft>
            </a:pPr>
            <a:r>
              <a:rPr sz="1550" b="0">
                <a:solidFill>
                  <a:srgbClr val="FFFFFF"/>
                </a:solidFill>
                <a:latin typeface="IRANSans"/>
                <a:cs typeface="IRANSans"/>
                <a:ea typeface="IRANSans"/>
              </a:rPr>
              <a:t>تا وقتی کسی نترسد از گفتنِ «بلد نیستم»، هیچ یادگیری‌ای شروع نمی‌شود.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66928" y="6382512"/>
            <a:ext cx="3657600" cy="274320"/>
          </a:xfrm>
          <a:prstGeom prst="rect">
            <a:avLst/>
          </a:prstGeom>
          <a:noFill/>
        </p:spPr>
        <p:txBody>
          <a:bodyPr wrap="square" lIns="36576" rIns="36576" tIns="0" bIns="0" anchor="t">
            <a:spAutoFit/>
          </a:bodyPr>
          <a:lstStyle/>
          <a:p>
            <a:pPr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5A6B77"/>
                </a:solidFill>
                <a:latin typeface="IRANSans"/>
                <a:cs typeface="IRANSans"/>
                <a:ea typeface="IRANSans"/>
              </a:rPr>
              <a:t>منتورینگ گروهی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161727" y="6382512"/>
            <a:ext cx="1463040" cy="274320"/>
          </a:xfrm>
          <a:prstGeom prst="rect">
            <a:avLst/>
          </a:prstGeom>
          <a:noFill/>
        </p:spPr>
        <p:txBody>
          <a:bodyPr wrap="square" lIns="36576" rIns="36576" tIns="0" bIns="0" anchor="t">
            <a:spAutoFit/>
          </a:bodyPr>
          <a:lstStyle/>
          <a:p>
            <a:pPr rt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5A6B77"/>
                </a:solidFill>
                <a:latin typeface="IRANSans"/>
                <a:cs typeface="IRANSans"/>
                <a:ea typeface="IRANSans"/>
              </a:rPr>
              <a:t>۲۴ / ۳۰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66928" y="420624"/>
            <a:ext cx="868680" cy="292608"/>
          </a:xfrm>
          <a:prstGeom prst="roundRect">
            <a:avLst>
              <a:gd name="adj" fmla="val 44000"/>
            </a:avLst>
          </a:prstGeom>
          <a:solidFill>
            <a:srgbClr val="E4EC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420624"/>
            <a:ext cx="868680" cy="292608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pPr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5A6B77"/>
                </a:solidFill>
                <a:latin typeface="IRANSans"/>
                <a:cs typeface="IRANSans"/>
                <a:ea typeface="IRANSans"/>
              </a:rPr>
              <a:t>چرا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508760" y="420624"/>
            <a:ext cx="868680" cy="292608"/>
          </a:xfrm>
          <a:prstGeom prst="roundRect">
            <a:avLst>
              <a:gd name="adj" fmla="val 44000"/>
            </a:avLst>
          </a:prstGeom>
          <a:solidFill>
            <a:srgbClr val="E4EC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508760" y="420624"/>
            <a:ext cx="868680" cy="292608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pPr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5A6B77"/>
                </a:solidFill>
                <a:latin typeface="IRANSans"/>
                <a:cs typeface="IRANSans"/>
                <a:ea typeface="IRANSans"/>
              </a:rPr>
              <a:t>چیست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450592" y="420624"/>
            <a:ext cx="868680" cy="292608"/>
          </a:xfrm>
          <a:prstGeom prst="roundRect">
            <a:avLst>
              <a:gd name="adj" fmla="val 44000"/>
            </a:avLst>
          </a:prstGeom>
          <a:solidFill>
            <a:srgbClr val="1B49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450592" y="420624"/>
            <a:ext cx="868680" cy="292608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pPr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FFFFFF"/>
                </a:solidFill>
                <a:latin typeface="IRANSans"/>
                <a:cs typeface="IRANSans"/>
                <a:ea typeface="IRANSans"/>
              </a:rPr>
              <a:t>چطور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392424" y="420624"/>
            <a:ext cx="868680" cy="292608"/>
          </a:xfrm>
          <a:prstGeom prst="roundRect">
            <a:avLst>
              <a:gd name="adj" fmla="val 44000"/>
            </a:avLst>
          </a:prstGeom>
          <a:solidFill>
            <a:srgbClr val="E4EC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392424" y="420624"/>
            <a:ext cx="868680" cy="292608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pPr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5A6B77"/>
                </a:solidFill>
                <a:latin typeface="IRANSans"/>
                <a:cs typeface="IRANSans"/>
                <a:ea typeface="IRANSans"/>
              </a:rPr>
              <a:t>چه می‌شود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34256" y="420624"/>
            <a:ext cx="868680" cy="292608"/>
          </a:xfrm>
          <a:prstGeom prst="roundRect">
            <a:avLst>
              <a:gd name="adj" fmla="val 44000"/>
            </a:avLst>
          </a:prstGeom>
          <a:solidFill>
            <a:srgbClr val="E4EC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334256" y="420624"/>
            <a:ext cx="868680" cy="292608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pPr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5A6B77"/>
                </a:solidFill>
                <a:latin typeface="IRANSans"/>
                <a:cs typeface="IRANSans"/>
                <a:ea typeface="IRANSans"/>
              </a:rPr>
              <a:t>شروع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310896"/>
            <a:ext cx="11057839" cy="310896"/>
          </a:xfrm>
          <a:prstGeom prst="rect">
            <a:avLst/>
          </a:prstGeom>
          <a:noFill/>
        </p:spPr>
        <p:txBody>
          <a:bodyPr wrap="square" lIns="36576" rIns="36576" tIns="0" bIns="0" anchor="t">
            <a:spAutoFit/>
          </a:bodyPr>
          <a:lstStyle/>
          <a:p>
            <a:pPr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>
                <a:solidFill>
                  <a:srgbClr val="FF6B35"/>
                </a:solidFill>
                <a:latin typeface="IRANSans"/>
                <a:cs typeface="IRANSans"/>
                <a:ea typeface="IRANSans"/>
              </a:rPr>
              <a:t>مسیر پیشِ رو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621792"/>
            <a:ext cx="11057839" cy="640080"/>
          </a:xfrm>
          <a:prstGeom prst="rect">
            <a:avLst/>
          </a:prstGeom>
          <a:noFill/>
        </p:spPr>
        <p:txBody>
          <a:bodyPr wrap="square" lIns="36576" rIns="36576" tIns="0" bIns="0" anchor="t">
            <a:spAutoFit/>
          </a:bodyPr>
          <a:lstStyle/>
          <a:p>
            <a:pPr rtl="1"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100" b="1">
                <a:solidFill>
                  <a:srgbClr val="1B4965"/>
                </a:solidFill>
                <a:latin typeface="IRANSans"/>
                <a:cs typeface="IRANSans"/>
                <a:ea typeface="IRANSans"/>
              </a:rPr>
              <a:t>شش ماه، دوازده جلسه، یک گروه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0527487" y="1243584"/>
            <a:ext cx="1097280" cy="57150"/>
          </a:xfrm>
          <a:prstGeom prst="rect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4446727" y="1499616"/>
            <a:ext cx="7178040" cy="950976"/>
          </a:xfrm>
          <a:prstGeom prst="roundRect">
            <a:avLst>
              <a:gd name="adj" fmla="val 11000"/>
            </a:avLst>
          </a:prstGeom>
          <a:solidFill>
            <a:srgbClr val="FFFFFF"/>
          </a:solidFill>
          <a:ln w="12700">
            <a:solidFill>
              <a:srgbClr val="D8E2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542471" y="1499616"/>
            <a:ext cx="82296" cy="950976"/>
          </a:xfrm>
          <a:prstGeom prst="rect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9869119" y="1737360"/>
            <a:ext cx="1499616" cy="475488"/>
          </a:xfrm>
          <a:prstGeom prst="roundRect">
            <a:avLst>
              <a:gd name="adj" fmla="val 26000"/>
            </a:avLst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IRANSans"/>
                <a:cs typeface="IRANSans"/>
                <a:ea typeface="IRANSans"/>
              </a:rPr>
              <a:t>جلسه ۱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702759" y="1499616"/>
            <a:ext cx="5074920" cy="950976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pPr rtl="1"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950" b="1">
                <a:solidFill>
                  <a:srgbClr val="FF6B35"/>
                </a:solidFill>
                <a:latin typeface="IRANSans"/>
                <a:cs typeface="IRANSans"/>
                <a:ea typeface="IRANSans"/>
              </a:rPr>
              <a:t>شکل‌گیری</a:t>
            </a:r>
          </a:p>
          <a:p>
            <a:pPr rtl="1"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>
                <a:solidFill>
                  <a:srgbClr val="5A6B77"/>
                </a:solidFill>
                <a:latin typeface="IRANSans"/>
                <a:cs typeface="IRANSans"/>
                <a:ea typeface="IRANSans"/>
              </a:rPr>
              <a:t>آشنایی، بستن پیمان گروه، انتخاب اولین داوطلب</a:t>
            </a:r>
          </a:p>
        </p:txBody>
      </p:sp>
      <p:sp>
        <p:nvSpPr>
          <p:cNvPr id="20" name="Down Arrow 19"/>
          <p:cNvSpPr/>
          <p:nvPr/>
        </p:nvSpPr>
        <p:spPr>
          <a:xfrm>
            <a:off x="10545775" y="2459736"/>
            <a:ext cx="201168" cy="137160"/>
          </a:xfrm>
          <a:prstGeom prst="downArrow">
            <a:avLst/>
          </a:prstGeom>
          <a:solidFill>
            <a:srgbClr val="D8E2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4446727" y="2606040"/>
            <a:ext cx="7178040" cy="950976"/>
          </a:xfrm>
          <a:prstGeom prst="roundRect">
            <a:avLst>
              <a:gd name="adj" fmla="val 11000"/>
            </a:avLst>
          </a:prstGeom>
          <a:solidFill>
            <a:srgbClr val="FFFFFF"/>
          </a:solidFill>
          <a:ln w="12700">
            <a:solidFill>
              <a:srgbClr val="D8E2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1542471" y="2606040"/>
            <a:ext cx="82296" cy="950976"/>
          </a:xfrm>
          <a:prstGeom prst="rect">
            <a:avLst/>
          </a:prstGeom>
          <a:solidFill>
            <a:srgbClr val="2A6F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9869119" y="2843784"/>
            <a:ext cx="1499616" cy="475488"/>
          </a:xfrm>
          <a:prstGeom prst="roundRect">
            <a:avLst>
              <a:gd name="adj" fmla="val 26000"/>
            </a:avLst>
          </a:prstGeom>
          <a:solidFill>
            <a:srgbClr val="2A6F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IRANSans"/>
                <a:cs typeface="IRANSans"/>
                <a:ea typeface="IRANSans"/>
              </a:rPr>
              <a:t>جلسه ۲ تا ۴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702759" y="2606040"/>
            <a:ext cx="5074920" cy="950976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pPr rtl="1"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950" b="1">
                <a:solidFill>
                  <a:srgbClr val="2A6F97"/>
                </a:solidFill>
                <a:latin typeface="IRANSans"/>
                <a:cs typeface="IRANSans"/>
                <a:ea typeface="IRANSans"/>
              </a:rPr>
              <a:t>تمرین</a:t>
            </a:r>
          </a:p>
          <a:p>
            <a:pPr rtl="1"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>
                <a:solidFill>
                  <a:srgbClr val="5A6B77"/>
                </a:solidFill>
                <a:latin typeface="IRANSans"/>
                <a:cs typeface="IRANSans"/>
                <a:ea typeface="IRANSans"/>
              </a:rPr>
              <a:t>قواعد هنوز سخت است؛ تسهیل‌گر بیشتر دخالت می‌کند</a:t>
            </a:r>
          </a:p>
        </p:txBody>
      </p:sp>
      <p:sp>
        <p:nvSpPr>
          <p:cNvPr id="25" name="Down Arrow 24"/>
          <p:cNvSpPr/>
          <p:nvPr/>
        </p:nvSpPr>
        <p:spPr>
          <a:xfrm>
            <a:off x="10545775" y="3566160"/>
            <a:ext cx="201168" cy="137160"/>
          </a:xfrm>
          <a:prstGeom prst="downArrow">
            <a:avLst/>
          </a:prstGeom>
          <a:solidFill>
            <a:srgbClr val="D8E2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4446727" y="3712464"/>
            <a:ext cx="7178040" cy="950976"/>
          </a:xfrm>
          <a:prstGeom prst="roundRect">
            <a:avLst>
              <a:gd name="adj" fmla="val 11000"/>
            </a:avLst>
          </a:prstGeom>
          <a:solidFill>
            <a:srgbClr val="FFFFFF"/>
          </a:solidFill>
          <a:ln w="12700">
            <a:solidFill>
              <a:srgbClr val="D8E2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1542471" y="3712464"/>
            <a:ext cx="82296" cy="950976"/>
          </a:xfrm>
          <a:prstGeom prst="rect">
            <a:avLst/>
          </a:prstGeom>
          <a:solidFill>
            <a:srgbClr val="1B49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9869119" y="3950208"/>
            <a:ext cx="1499616" cy="475488"/>
          </a:xfrm>
          <a:prstGeom prst="roundRect">
            <a:avLst>
              <a:gd name="adj" fmla="val 26000"/>
            </a:avLst>
          </a:prstGeom>
          <a:solidFill>
            <a:srgbClr val="1B49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IRANSans"/>
                <a:cs typeface="IRANSans"/>
                <a:ea typeface="IRANSans"/>
              </a:rPr>
              <a:t>جلسه ۵ تا ۱۰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702759" y="3712464"/>
            <a:ext cx="5074920" cy="950976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pPr rtl="1"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950" b="1">
                <a:solidFill>
                  <a:srgbClr val="1B4965"/>
                </a:solidFill>
                <a:latin typeface="IRANSans"/>
                <a:cs typeface="IRANSans"/>
                <a:ea typeface="IRANSans"/>
              </a:rPr>
              <a:t>اوج‌گیری</a:t>
            </a:r>
          </a:p>
          <a:p>
            <a:pPr rtl="1"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>
                <a:solidFill>
                  <a:srgbClr val="5A6B77"/>
                </a:solidFill>
                <a:latin typeface="IRANSans"/>
                <a:cs typeface="IRANSans"/>
                <a:ea typeface="IRANSans"/>
              </a:rPr>
              <a:t>گروه روان می‌شود؛ تسهیل‌گری چرخشی آغاز می‌شود</a:t>
            </a:r>
          </a:p>
        </p:txBody>
      </p:sp>
      <p:sp>
        <p:nvSpPr>
          <p:cNvPr id="30" name="Down Arrow 29"/>
          <p:cNvSpPr/>
          <p:nvPr/>
        </p:nvSpPr>
        <p:spPr>
          <a:xfrm>
            <a:off x="10545775" y="4672584"/>
            <a:ext cx="201168" cy="137160"/>
          </a:xfrm>
          <a:prstGeom prst="downArrow">
            <a:avLst/>
          </a:prstGeom>
          <a:solidFill>
            <a:srgbClr val="D8E2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4446727" y="4818888"/>
            <a:ext cx="7178040" cy="950976"/>
          </a:xfrm>
          <a:prstGeom prst="roundRect">
            <a:avLst>
              <a:gd name="adj" fmla="val 11000"/>
            </a:avLst>
          </a:prstGeom>
          <a:solidFill>
            <a:srgbClr val="FFFFFF"/>
          </a:solidFill>
          <a:ln w="12700">
            <a:solidFill>
              <a:srgbClr val="D8E2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11542471" y="4818888"/>
            <a:ext cx="82296" cy="950976"/>
          </a:xfrm>
          <a:prstGeom prst="rect">
            <a:avLst/>
          </a:prstGeom>
          <a:solidFill>
            <a:srgbClr val="1E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9869119" y="5056632"/>
            <a:ext cx="1499616" cy="475488"/>
          </a:xfrm>
          <a:prstGeom prst="roundRect">
            <a:avLst>
              <a:gd name="adj" fmla="val 26000"/>
            </a:avLst>
          </a:prstGeom>
          <a:solidFill>
            <a:srgbClr val="1E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IRANSans"/>
                <a:cs typeface="IRANSans"/>
                <a:ea typeface="IRANSans"/>
              </a:rPr>
              <a:t>جلسه ۱۱ و ۱۲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702759" y="4818888"/>
            <a:ext cx="5074920" cy="950976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pPr rtl="1"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950" b="1">
                <a:solidFill>
                  <a:srgbClr val="1E8E5A"/>
                </a:solidFill>
                <a:latin typeface="IRANSans"/>
                <a:cs typeface="IRANSans"/>
                <a:ea typeface="IRANSans"/>
              </a:rPr>
              <a:t>جمع‌بندی</a:t>
            </a:r>
          </a:p>
          <a:p>
            <a:pPr rtl="1"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>
                <a:solidFill>
                  <a:srgbClr val="5A6B77"/>
                </a:solidFill>
                <a:latin typeface="IRANSans"/>
                <a:cs typeface="IRANSans"/>
                <a:ea typeface="IRANSans"/>
              </a:rPr>
              <a:t>مرور دستاوردها و تصمیم برای دوره بعد</a:t>
            </a:r>
          </a:p>
        </p:txBody>
      </p:sp>
      <p:pic>
        <p:nvPicPr>
          <p:cNvPr id="35" name="Picture 34" descr="04-climb.jpg"/>
          <p:cNvPicPr>
            <a:picLocks noChangeAspect="1"/>
          </p:cNvPicPr>
          <p:nvPr/>
        </p:nvPicPr>
        <p:blipFill>
          <a:blip r:embed="rId2"/>
          <a:srcRect t="9992" b="9992"/>
          <a:stretch>
            <a:fillRect/>
          </a:stretch>
        </p:blipFill>
        <p:spPr>
          <a:xfrm>
            <a:off x="566928" y="1499616"/>
            <a:ext cx="3514039" cy="1874519"/>
          </a:xfrm>
          <a:prstGeom prst="roundRect">
            <a:avLst/>
          </a:prstGeom>
        </p:spPr>
      </p:pic>
      <p:sp>
        <p:nvSpPr>
          <p:cNvPr id="36" name="Rounded Rectangle 35"/>
          <p:cNvSpPr/>
          <p:nvPr/>
        </p:nvSpPr>
        <p:spPr>
          <a:xfrm>
            <a:off x="566928" y="3493008"/>
            <a:ext cx="3514039" cy="146304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2700">
            <a:solidFill>
              <a:srgbClr val="D8E2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566928" y="3493008"/>
            <a:ext cx="3514039" cy="493776"/>
          </a:xfrm>
          <a:prstGeom prst="roundRect">
            <a:avLst>
              <a:gd name="adj" fmla="val 14000"/>
            </a:avLst>
          </a:prstGeom>
          <a:solidFill>
            <a:srgbClr val="1B49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566928" y="3858768"/>
            <a:ext cx="3514039" cy="128016"/>
          </a:xfrm>
          <a:prstGeom prst="rect">
            <a:avLst/>
          </a:prstGeom>
          <a:solidFill>
            <a:srgbClr val="1B49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66928" y="3493008"/>
            <a:ext cx="3514039" cy="493776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pPr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IRANSans"/>
                <a:cs typeface="IRANSans"/>
                <a:ea typeface="IRANSans"/>
              </a:rPr>
              <a:t>تعهد شما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49808" y="4078224"/>
            <a:ext cx="3148279" cy="219456"/>
          </a:xfrm>
          <a:prstGeom prst="rect">
            <a:avLst/>
          </a:prstGeom>
          <a:noFill/>
        </p:spPr>
        <p:txBody>
          <a:bodyPr wrap="square" lIns="36576" rIns="36576" tIns="0" bIns="0" anchor="t">
            <a:spAutoFit/>
          </a:bodyPr>
          <a:lstStyle/>
          <a:p>
            <a:pPr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FF6B35"/>
                </a:solidFill>
                <a:latin typeface="IRANSans"/>
                <a:cs typeface="IRANSans"/>
                <a:ea typeface="IRANSans"/>
              </a:rPr>
              <a:t>◂  </a:t>
            </a:r>
            <a:r>
              <a:rPr sz="1350" b="0">
                <a:solidFill>
                  <a:srgbClr val="1F2D38"/>
                </a:solidFill>
                <a:latin typeface="IRANSans"/>
                <a:cs typeface="IRANSans"/>
                <a:ea typeface="IRANSans"/>
              </a:rPr>
              <a:t>حضور منظم در ۱۲ جلسه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49808" y="4306824"/>
            <a:ext cx="3148279" cy="219456"/>
          </a:xfrm>
          <a:prstGeom prst="rect">
            <a:avLst/>
          </a:prstGeom>
          <a:noFill/>
        </p:spPr>
        <p:txBody>
          <a:bodyPr wrap="square" lIns="36576" rIns="36576" tIns="0" bIns="0" anchor="t">
            <a:spAutoFit/>
          </a:bodyPr>
          <a:lstStyle/>
          <a:p>
            <a:pPr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FF6B35"/>
                </a:solidFill>
                <a:latin typeface="IRANSans"/>
                <a:cs typeface="IRANSans"/>
                <a:ea typeface="IRANSans"/>
              </a:rPr>
              <a:t>◂  </a:t>
            </a:r>
            <a:r>
              <a:rPr sz="1350" b="0">
                <a:solidFill>
                  <a:srgbClr val="1F2D38"/>
                </a:solidFill>
                <a:latin typeface="IRANSans"/>
                <a:cs typeface="IRANSans"/>
                <a:ea typeface="IRANSans"/>
              </a:rPr>
              <a:t>آوردن یک چالش واقعی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49808" y="4535424"/>
            <a:ext cx="3148279" cy="219456"/>
          </a:xfrm>
          <a:prstGeom prst="rect">
            <a:avLst/>
          </a:prstGeom>
          <a:noFill/>
        </p:spPr>
        <p:txBody>
          <a:bodyPr wrap="square" lIns="36576" rIns="36576" tIns="0" bIns="0" anchor="t">
            <a:spAutoFit/>
          </a:bodyPr>
          <a:lstStyle/>
          <a:p>
            <a:pPr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FF6B35"/>
                </a:solidFill>
                <a:latin typeface="IRANSans"/>
                <a:cs typeface="IRANSans"/>
                <a:ea typeface="IRANSans"/>
              </a:rPr>
              <a:t>◂  </a:t>
            </a:r>
            <a:r>
              <a:rPr sz="1350" b="0">
                <a:solidFill>
                  <a:srgbClr val="1F2D38"/>
                </a:solidFill>
                <a:latin typeface="IRANSans"/>
                <a:cs typeface="IRANSans"/>
                <a:ea typeface="IRANSans"/>
              </a:rPr>
              <a:t>رعایت محرمانگی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49808" y="4764024"/>
            <a:ext cx="3148279" cy="219456"/>
          </a:xfrm>
          <a:prstGeom prst="rect">
            <a:avLst/>
          </a:prstGeom>
          <a:noFill/>
        </p:spPr>
        <p:txBody>
          <a:bodyPr wrap="square" lIns="36576" rIns="36576" tIns="0" bIns="0" anchor="t">
            <a:spAutoFit/>
          </a:bodyPr>
          <a:lstStyle/>
          <a:p>
            <a:pPr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FF6B35"/>
                </a:solidFill>
                <a:latin typeface="IRANSans"/>
                <a:cs typeface="IRANSans"/>
                <a:ea typeface="IRANSans"/>
              </a:rPr>
              <a:t>◂  </a:t>
            </a:r>
            <a:r>
              <a:rPr sz="1350" b="0">
                <a:solidFill>
                  <a:srgbClr val="1F2D38"/>
                </a:solidFill>
                <a:latin typeface="IRANSans"/>
                <a:cs typeface="IRANSans"/>
                <a:ea typeface="IRANSans"/>
              </a:rPr>
              <a:t>یک اقدام کوچک بین دو جلسه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566928" y="5102352"/>
            <a:ext cx="3514039" cy="1097280"/>
          </a:xfrm>
          <a:prstGeom prst="roundRect">
            <a:avLst>
              <a:gd name="adj" fmla="val 4500"/>
            </a:avLst>
          </a:prstGeom>
          <a:solidFill>
            <a:srgbClr val="FFF3EC"/>
          </a:solidFill>
          <a:ln w="12700">
            <a:solidFill>
              <a:srgbClr val="FF6B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68096" y="5102352"/>
            <a:ext cx="3111703" cy="1097280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pPr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D94E1F"/>
                </a:solidFill>
                <a:latin typeface="IRANSans"/>
                <a:cs typeface="IRANSans"/>
                <a:ea typeface="IRANSans"/>
              </a:rPr>
              <a:t>و اگر نشد؟</a:t>
            </a:r>
          </a:p>
          <a:p>
            <a:pPr rtl="1" algn="r">
              <a:lnSpc>
                <a:spcPct val="124000"/>
              </a:lnSpc>
              <a:spcBef>
                <a:spcPts val="600"/>
              </a:spcBef>
              <a:spcAft>
                <a:spcPts val="0"/>
              </a:spcAft>
            </a:pPr>
            <a:r>
              <a:rPr sz="1450" b="0">
                <a:solidFill>
                  <a:srgbClr val="1B4965"/>
                </a:solidFill>
                <a:latin typeface="IRANSans"/>
                <a:cs typeface="IRANSans"/>
                <a:ea typeface="IRANSans"/>
              </a:rPr>
              <a:t>بعد از جلسه سوم، هر کس خواست می‌تواند کنار بکشد — بدون توضیح.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66928" y="6382512"/>
            <a:ext cx="3657600" cy="274320"/>
          </a:xfrm>
          <a:prstGeom prst="rect">
            <a:avLst/>
          </a:prstGeom>
          <a:noFill/>
        </p:spPr>
        <p:txBody>
          <a:bodyPr wrap="square" lIns="36576" rIns="36576" tIns="0" bIns="0" anchor="t">
            <a:spAutoFit/>
          </a:bodyPr>
          <a:lstStyle/>
          <a:p>
            <a:pPr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5A6B77"/>
                </a:solidFill>
                <a:latin typeface="IRANSans"/>
                <a:cs typeface="IRANSans"/>
                <a:ea typeface="IRANSans"/>
              </a:rPr>
              <a:t>منتورینگ گروهی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161727" y="6382512"/>
            <a:ext cx="1463040" cy="274320"/>
          </a:xfrm>
          <a:prstGeom prst="rect">
            <a:avLst/>
          </a:prstGeom>
          <a:noFill/>
        </p:spPr>
        <p:txBody>
          <a:bodyPr wrap="square" lIns="36576" rIns="36576" tIns="0" bIns="0" anchor="t">
            <a:spAutoFit/>
          </a:bodyPr>
          <a:lstStyle/>
          <a:p>
            <a:pPr rt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5A6B77"/>
                </a:solidFill>
                <a:latin typeface="IRANSans"/>
                <a:cs typeface="IRANSans"/>
                <a:ea typeface="IRANSans"/>
              </a:rPr>
              <a:t>۲۵ / ۳۰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8-growth.jpg"/>
          <p:cNvPicPr>
            <a:picLocks noChangeAspect="1"/>
          </p:cNvPicPr>
          <p:nvPr/>
        </p:nvPicPr>
        <p:blipFill>
          <a:blip r:embed="rId2"/>
          <a:srcRect t="7811" b="781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0E2C40">
                  <a:alpha val="10000"/>
                </a:srgbClr>
              </a:gs>
              <a:gs pos="100000">
                <a:srgbClr val="0E2C40">
                  <a:alpha val="94000"/>
                </a:srgbClr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2C40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864047" y="1993392"/>
            <a:ext cx="5760720" cy="566928"/>
          </a:xfrm>
          <a:prstGeom prst="rect">
            <a:avLst/>
          </a:prstGeom>
          <a:noFill/>
        </p:spPr>
        <p:txBody>
          <a:bodyPr wrap="square" lIns="36576" rIns="36576" tIns="0" bIns="0" anchor="t">
            <a:spAutoFit/>
          </a:bodyPr>
          <a:lstStyle/>
          <a:p>
            <a:pPr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FF6B35"/>
                </a:solidFill>
                <a:latin typeface="IRANSans"/>
                <a:cs typeface="IRANSans"/>
                <a:ea typeface="IRANSans"/>
              </a:rPr>
              <a:t>بخش ۴</a:t>
            </a:r>
          </a:p>
        </p:txBody>
      </p:sp>
      <p:sp>
        <p:nvSpPr>
          <p:cNvPr id="6" name="Rectangle 5"/>
          <p:cNvSpPr/>
          <p:nvPr/>
        </p:nvSpPr>
        <p:spPr>
          <a:xfrm>
            <a:off x="10436047" y="2615184"/>
            <a:ext cx="1188720" cy="57150"/>
          </a:xfrm>
          <a:prstGeom prst="rect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864047" y="2852928"/>
            <a:ext cx="5760720" cy="1737360"/>
          </a:xfrm>
          <a:prstGeom prst="rect">
            <a:avLst/>
          </a:prstGeom>
          <a:noFill/>
        </p:spPr>
        <p:txBody>
          <a:bodyPr wrap="square" lIns="36576" rIns="36576" tIns="0" bIns="0" anchor="t">
            <a:spAutoFit/>
          </a:bodyPr>
          <a:lstStyle/>
          <a:p>
            <a:pPr rtl="1" algn="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4400" b="1">
                <a:solidFill>
                  <a:srgbClr val="FFFFFF"/>
                </a:solidFill>
                <a:latin typeface="IRANSans"/>
                <a:cs typeface="IRANSans"/>
                <a:ea typeface="IRANSans"/>
              </a:rPr>
              <a:t>چه چیزی</a:t>
            </a:r>
          </a:p>
          <a:p>
            <a:pPr rtl="1" algn="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4400" b="1">
                <a:solidFill>
                  <a:srgbClr val="FFFFFF"/>
                </a:solidFill>
                <a:latin typeface="IRANSans"/>
                <a:cs typeface="IRANSans"/>
                <a:ea typeface="IRANSans"/>
              </a:rPr>
              <a:t>عوض می‌شود؟</a:t>
            </a:r>
          </a:p>
          <a:p>
            <a:pPr rtl="1" algn="r">
              <a:lnSpc>
                <a:spcPct val="130000"/>
              </a:lnSpc>
              <a:spcBef>
                <a:spcPts val="1400"/>
              </a:spcBef>
              <a:spcAft>
                <a:spcPts val="0"/>
              </a:spcAft>
            </a:pPr>
            <a:r>
              <a:rPr sz="1900" b="0">
                <a:solidFill>
                  <a:srgbClr val="ECF3F7"/>
                </a:solidFill>
                <a:latin typeface="IRANSans"/>
                <a:cs typeface="IRANSans"/>
                <a:ea typeface="IRANSans"/>
              </a:rPr>
              <a:t>برای شما، برای تیم، و برای سازمان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756087" y="6035040"/>
            <a:ext cx="868680" cy="292608"/>
          </a:xfrm>
          <a:prstGeom prst="roundRect">
            <a:avLst>
              <a:gd name="adj" fmla="val 44000"/>
            </a:avLst>
          </a:prstGeom>
          <a:solidFill>
            <a:srgbClr val="FFFFFF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756087" y="6035040"/>
            <a:ext cx="868680" cy="292608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pPr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ECF3F7"/>
                </a:solidFill>
                <a:latin typeface="IRANSans"/>
                <a:cs typeface="IRANSans"/>
                <a:ea typeface="IRANSans"/>
              </a:rPr>
              <a:t>چرا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795967" y="6035040"/>
            <a:ext cx="868680" cy="292608"/>
          </a:xfrm>
          <a:prstGeom prst="roundRect">
            <a:avLst>
              <a:gd name="adj" fmla="val 44000"/>
            </a:avLst>
          </a:prstGeom>
          <a:solidFill>
            <a:srgbClr val="FFFFFF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795967" y="6035040"/>
            <a:ext cx="868680" cy="292608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pPr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ECF3F7"/>
                </a:solidFill>
                <a:latin typeface="IRANSans"/>
                <a:cs typeface="IRANSans"/>
                <a:ea typeface="IRANSans"/>
              </a:rPr>
              <a:t>چیست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835847" y="6035040"/>
            <a:ext cx="868680" cy="292608"/>
          </a:xfrm>
          <a:prstGeom prst="roundRect">
            <a:avLst>
              <a:gd name="adj" fmla="val 44000"/>
            </a:avLst>
          </a:prstGeom>
          <a:solidFill>
            <a:srgbClr val="FFFFFF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835847" y="6035040"/>
            <a:ext cx="868680" cy="292608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pPr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ECF3F7"/>
                </a:solidFill>
                <a:latin typeface="IRANSans"/>
                <a:cs typeface="IRANSans"/>
                <a:ea typeface="IRANSans"/>
              </a:rPr>
              <a:t>چطور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875727" y="6035040"/>
            <a:ext cx="868680" cy="292608"/>
          </a:xfrm>
          <a:prstGeom prst="roundRect">
            <a:avLst>
              <a:gd name="adj" fmla="val 44000"/>
            </a:avLst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875727" y="6035040"/>
            <a:ext cx="868680" cy="292608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pPr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FFFFFF"/>
                </a:solidFill>
                <a:latin typeface="IRANSans"/>
                <a:cs typeface="IRANSans"/>
                <a:ea typeface="IRANSans"/>
              </a:rPr>
              <a:t>چه می‌شود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915607" y="6035040"/>
            <a:ext cx="868680" cy="292608"/>
          </a:xfrm>
          <a:prstGeom prst="roundRect">
            <a:avLst>
              <a:gd name="adj" fmla="val 44000"/>
            </a:avLst>
          </a:prstGeom>
          <a:solidFill>
            <a:srgbClr val="FFFFFF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915607" y="6035040"/>
            <a:ext cx="868680" cy="292608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pPr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ECF3F7"/>
                </a:solidFill>
                <a:latin typeface="IRANSans"/>
                <a:cs typeface="IRANSans"/>
                <a:ea typeface="IRANSans"/>
              </a:rPr>
              <a:t>شروع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66928" y="420624"/>
            <a:ext cx="868680" cy="292608"/>
          </a:xfrm>
          <a:prstGeom prst="roundRect">
            <a:avLst>
              <a:gd name="adj" fmla="val 44000"/>
            </a:avLst>
          </a:prstGeom>
          <a:solidFill>
            <a:srgbClr val="E4EC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420624"/>
            <a:ext cx="868680" cy="292608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pPr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5A6B77"/>
                </a:solidFill>
                <a:latin typeface="IRANSans"/>
                <a:cs typeface="IRANSans"/>
                <a:ea typeface="IRANSans"/>
              </a:rPr>
              <a:t>چرا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508760" y="420624"/>
            <a:ext cx="868680" cy="292608"/>
          </a:xfrm>
          <a:prstGeom prst="roundRect">
            <a:avLst>
              <a:gd name="adj" fmla="val 44000"/>
            </a:avLst>
          </a:prstGeom>
          <a:solidFill>
            <a:srgbClr val="E4EC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508760" y="420624"/>
            <a:ext cx="868680" cy="292608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pPr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5A6B77"/>
                </a:solidFill>
                <a:latin typeface="IRANSans"/>
                <a:cs typeface="IRANSans"/>
                <a:ea typeface="IRANSans"/>
              </a:rPr>
              <a:t>چیست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450592" y="420624"/>
            <a:ext cx="868680" cy="292608"/>
          </a:xfrm>
          <a:prstGeom prst="roundRect">
            <a:avLst>
              <a:gd name="adj" fmla="val 44000"/>
            </a:avLst>
          </a:prstGeom>
          <a:solidFill>
            <a:srgbClr val="E4EC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450592" y="420624"/>
            <a:ext cx="868680" cy="292608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pPr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5A6B77"/>
                </a:solidFill>
                <a:latin typeface="IRANSans"/>
                <a:cs typeface="IRANSans"/>
                <a:ea typeface="IRANSans"/>
              </a:rPr>
              <a:t>چطور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392424" y="420624"/>
            <a:ext cx="868680" cy="292608"/>
          </a:xfrm>
          <a:prstGeom prst="roundRect">
            <a:avLst>
              <a:gd name="adj" fmla="val 44000"/>
            </a:avLst>
          </a:prstGeom>
          <a:solidFill>
            <a:srgbClr val="1B49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392424" y="420624"/>
            <a:ext cx="868680" cy="292608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pPr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FFFFFF"/>
                </a:solidFill>
                <a:latin typeface="IRANSans"/>
                <a:cs typeface="IRANSans"/>
                <a:ea typeface="IRANSans"/>
              </a:rPr>
              <a:t>چه می‌شود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34256" y="420624"/>
            <a:ext cx="868680" cy="292608"/>
          </a:xfrm>
          <a:prstGeom prst="roundRect">
            <a:avLst>
              <a:gd name="adj" fmla="val 44000"/>
            </a:avLst>
          </a:prstGeom>
          <a:solidFill>
            <a:srgbClr val="E4EC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334256" y="420624"/>
            <a:ext cx="868680" cy="292608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pPr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5A6B77"/>
                </a:solidFill>
                <a:latin typeface="IRANSans"/>
                <a:cs typeface="IRANSans"/>
                <a:ea typeface="IRANSans"/>
              </a:rPr>
              <a:t>شروع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310896"/>
            <a:ext cx="11057839" cy="310896"/>
          </a:xfrm>
          <a:prstGeom prst="rect">
            <a:avLst/>
          </a:prstGeom>
          <a:noFill/>
        </p:spPr>
        <p:txBody>
          <a:bodyPr wrap="square" lIns="36576" rIns="36576" tIns="0" bIns="0" anchor="t">
            <a:spAutoFit/>
          </a:bodyPr>
          <a:lstStyle/>
          <a:p>
            <a:pPr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>
                <a:solidFill>
                  <a:srgbClr val="FF6B35"/>
                </a:solidFill>
                <a:latin typeface="IRANSans"/>
                <a:cs typeface="IRANSans"/>
                <a:ea typeface="IRANSans"/>
              </a:rPr>
              <a:t>دستاورد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621792"/>
            <a:ext cx="11057839" cy="640080"/>
          </a:xfrm>
          <a:prstGeom prst="rect">
            <a:avLst/>
          </a:prstGeom>
          <a:noFill/>
        </p:spPr>
        <p:txBody>
          <a:bodyPr wrap="square" lIns="36576" rIns="36576" tIns="0" bIns="0" anchor="t">
            <a:spAutoFit/>
          </a:bodyPr>
          <a:lstStyle/>
          <a:p>
            <a:pPr rtl="1"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100" b="1">
                <a:solidFill>
                  <a:srgbClr val="1B4965"/>
                </a:solidFill>
                <a:latin typeface="IRANSans"/>
                <a:cs typeface="IRANSans"/>
                <a:ea typeface="IRANSans"/>
              </a:rPr>
              <a:t>چه چیزی عاید چه کسی می‌شود؟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0527487" y="1243584"/>
            <a:ext cx="1097280" cy="57150"/>
          </a:xfrm>
          <a:prstGeom prst="rect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269583" y="1499616"/>
            <a:ext cx="5355183" cy="3236976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2700">
            <a:solidFill>
              <a:srgbClr val="D8E2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269583" y="1499616"/>
            <a:ext cx="5355183" cy="566928"/>
          </a:xfrm>
          <a:prstGeom prst="roundRect">
            <a:avLst>
              <a:gd name="adj" fmla="val 11000"/>
            </a:avLst>
          </a:prstGeom>
          <a:solidFill>
            <a:srgbClr val="1B49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269583" y="1920240"/>
            <a:ext cx="5355183" cy="146304"/>
          </a:xfrm>
          <a:prstGeom prst="rect">
            <a:avLst/>
          </a:prstGeom>
          <a:solidFill>
            <a:srgbClr val="1B49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269583" y="1499616"/>
            <a:ext cx="5355183" cy="566928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pPr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50" b="1">
                <a:solidFill>
                  <a:srgbClr val="FFFFFF"/>
                </a:solidFill>
                <a:latin typeface="IRANSans"/>
                <a:cs typeface="IRANSans"/>
                <a:ea typeface="IRANSans"/>
              </a:rPr>
              <a:t>برای شما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388455" y="2157984"/>
            <a:ext cx="5117439" cy="576072"/>
          </a:xfrm>
          <a:prstGeom prst="roundRect">
            <a:avLst>
              <a:gd name="adj" fmla="val 14000"/>
            </a:avLst>
          </a:prstGeom>
          <a:solidFill>
            <a:srgbClr val="ECF3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43903" y="2157984"/>
            <a:ext cx="4806543" cy="576072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pPr rtl="1"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1B4965"/>
                </a:solidFill>
                <a:latin typeface="IRANSans"/>
                <a:cs typeface="IRANSans"/>
                <a:ea typeface="IRANSans"/>
              </a:rPr>
              <a:t>✓  </a:t>
            </a:r>
            <a:r>
              <a:rPr sz="1750" b="1">
                <a:solidFill>
                  <a:srgbClr val="1F2D38"/>
                </a:solidFill>
                <a:latin typeface="IRANSans"/>
                <a:cs typeface="IRANSans"/>
                <a:ea typeface="IRANSans"/>
              </a:rPr>
              <a:t>مسئله‌تان زودتر حل می‌شود</a:t>
            </a:r>
          </a:p>
          <a:p>
            <a:pPr rtl="1"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5A6B77"/>
                </a:solidFill>
                <a:latin typeface="IRANSans"/>
                <a:cs typeface="IRANSans"/>
                <a:ea typeface="IRANSans"/>
              </a:rPr>
              <a:t>به‌جای هفته‌ها کلنجار، ۹۰ دقیقه با ۱۰ ذهن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43903" y="2779776"/>
            <a:ext cx="4806543" cy="576072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pPr rtl="1"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1B4965"/>
                </a:solidFill>
                <a:latin typeface="IRANSans"/>
                <a:cs typeface="IRANSans"/>
                <a:ea typeface="IRANSans"/>
              </a:rPr>
              <a:t>✓  </a:t>
            </a:r>
            <a:r>
              <a:rPr sz="1750" b="1">
                <a:solidFill>
                  <a:srgbClr val="1F2D38"/>
                </a:solidFill>
                <a:latin typeface="IRANSans"/>
                <a:cs typeface="IRANSans"/>
                <a:ea typeface="IRANSans"/>
              </a:rPr>
              <a:t>مهارت پرسیدن یاد می‌گیرید</a:t>
            </a:r>
          </a:p>
          <a:p>
            <a:pPr rtl="1"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5A6B77"/>
                </a:solidFill>
                <a:latin typeface="IRANSans"/>
                <a:cs typeface="IRANSans"/>
                <a:ea typeface="IRANSans"/>
              </a:rPr>
              <a:t>در جلسات و مذاکرات کاری هم به کارتان می‌آید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388455" y="3401568"/>
            <a:ext cx="5117439" cy="576072"/>
          </a:xfrm>
          <a:prstGeom prst="roundRect">
            <a:avLst>
              <a:gd name="adj" fmla="val 14000"/>
            </a:avLst>
          </a:prstGeom>
          <a:solidFill>
            <a:srgbClr val="ECF3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43903" y="3401568"/>
            <a:ext cx="4806543" cy="576072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pPr rtl="1"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1B4965"/>
                </a:solidFill>
                <a:latin typeface="IRANSans"/>
                <a:cs typeface="IRANSans"/>
                <a:ea typeface="IRANSans"/>
              </a:rPr>
              <a:t>✓  </a:t>
            </a:r>
            <a:r>
              <a:rPr sz="1750" b="1">
                <a:solidFill>
                  <a:srgbClr val="1F2D38"/>
                </a:solidFill>
                <a:latin typeface="IRANSans"/>
                <a:cs typeface="IRANSans"/>
                <a:ea typeface="IRANSans"/>
              </a:rPr>
              <a:t>شبکه‌تان گسترده می‌شود</a:t>
            </a:r>
          </a:p>
          <a:p>
            <a:pPr rtl="1"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5A6B77"/>
                </a:solidFill>
                <a:latin typeface="IRANSans"/>
                <a:cs typeface="IRANSans"/>
                <a:ea typeface="IRANSans"/>
              </a:rPr>
              <a:t>می‌دانید برای هر مسئله سراغ چه کسی بروید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43903" y="4023360"/>
            <a:ext cx="4806543" cy="576072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pPr rtl="1"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1B4965"/>
                </a:solidFill>
                <a:latin typeface="IRANSans"/>
                <a:cs typeface="IRANSans"/>
                <a:ea typeface="IRANSans"/>
              </a:rPr>
              <a:t>✓  </a:t>
            </a:r>
            <a:r>
              <a:rPr sz="1750" b="1">
                <a:solidFill>
                  <a:srgbClr val="1F2D38"/>
                </a:solidFill>
                <a:latin typeface="IRANSans"/>
                <a:cs typeface="IRANSans"/>
                <a:ea typeface="IRANSans"/>
              </a:rPr>
              <a:t>کمتر احساس تنهایی می‌کنید</a:t>
            </a:r>
          </a:p>
          <a:p>
            <a:pPr rtl="1"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5A6B77"/>
                </a:solidFill>
                <a:latin typeface="IRANSans"/>
                <a:cs typeface="IRANSans"/>
                <a:ea typeface="IRANSans"/>
              </a:rPr>
              <a:t>می‌فهمید دیگران هم همین را تجربه کرده‌اند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66928" y="1499616"/>
            <a:ext cx="5355183" cy="3236976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2700">
            <a:solidFill>
              <a:srgbClr val="D8E2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566928" y="1499616"/>
            <a:ext cx="5355183" cy="566928"/>
          </a:xfrm>
          <a:prstGeom prst="roundRect">
            <a:avLst>
              <a:gd name="adj" fmla="val 11000"/>
            </a:avLst>
          </a:prstGeom>
          <a:solidFill>
            <a:srgbClr val="D94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566928" y="1920240"/>
            <a:ext cx="5355183" cy="146304"/>
          </a:xfrm>
          <a:prstGeom prst="rect">
            <a:avLst/>
          </a:prstGeom>
          <a:solidFill>
            <a:srgbClr val="D94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66928" y="1499616"/>
            <a:ext cx="5355183" cy="566928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pPr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50" b="1">
                <a:solidFill>
                  <a:srgbClr val="FFFFFF"/>
                </a:solidFill>
                <a:latin typeface="IRANSans"/>
                <a:cs typeface="IRANSans"/>
                <a:ea typeface="IRANSans"/>
              </a:rPr>
              <a:t>برای سازمان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85800" y="2157984"/>
            <a:ext cx="5117439" cy="576072"/>
          </a:xfrm>
          <a:prstGeom prst="roundRect">
            <a:avLst>
              <a:gd name="adj" fmla="val 14000"/>
            </a:avLst>
          </a:prstGeom>
          <a:solidFill>
            <a:srgbClr val="FFF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41248" y="2157984"/>
            <a:ext cx="4806543" cy="576072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pPr rtl="1"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D94E1F"/>
                </a:solidFill>
                <a:latin typeface="IRANSans"/>
                <a:cs typeface="IRANSans"/>
                <a:ea typeface="IRANSans"/>
              </a:rPr>
              <a:t>✓  </a:t>
            </a:r>
            <a:r>
              <a:rPr sz="1750" b="1">
                <a:solidFill>
                  <a:srgbClr val="1F2D38"/>
                </a:solidFill>
                <a:latin typeface="IRANSans"/>
                <a:cs typeface="IRANSans"/>
                <a:ea typeface="IRANSans"/>
              </a:rPr>
              <a:t>تکرار اشتباهات کم می‌شود</a:t>
            </a:r>
          </a:p>
          <a:p>
            <a:pPr rtl="1"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5A6B77"/>
                </a:solidFill>
                <a:latin typeface="IRANSans"/>
                <a:cs typeface="IRANSans"/>
                <a:ea typeface="IRANSans"/>
              </a:rPr>
              <a:t>تجربه شکست یک واحد، درسِ واحد دیگر می‌شود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41248" y="2779776"/>
            <a:ext cx="4806543" cy="576072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pPr rtl="1"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D94E1F"/>
                </a:solidFill>
                <a:latin typeface="IRANSans"/>
                <a:cs typeface="IRANSans"/>
                <a:ea typeface="IRANSans"/>
              </a:rPr>
              <a:t>✓  </a:t>
            </a:r>
            <a:r>
              <a:rPr sz="1750" b="1">
                <a:solidFill>
                  <a:srgbClr val="1F2D38"/>
                </a:solidFill>
                <a:latin typeface="IRANSans"/>
                <a:cs typeface="IRANSans"/>
                <a:ea typeface="IRANSans"/>
              </a:rPr>
              <a:t>دانش ماندگار می‌شود</a:t>
            </a:r>
          </a:p>
          <a:p>
            <a:pPr rtl="1"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5A6B77"/>
                </a:solidFill>
                <a:latin typeface="IRANSans"/>
                <a:cs typeface="IRANSans"/>
                <a:ea typeface="IRANSans"/>
              </a:rPr>
              <a:t>تجربه از سرِ افراد به حافظه جمعی منتقل می‌شود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85800" y="3401568"/>
            <a:ext cx="5117439" cy="576072"/>
          </a:xfrm>
          <a:prstGeom prst="roundRect">
            <a:avLst>
              <a:gd name="adj" fmla="val 14000"/>
            </a:avLst>
          </a:prstGeom>
          <a:solidFill>
            <a:srgbClr val="FFF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41248" y="3401568"/>
            <a:ext cx="4806543" cy="576072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pPr rtl="1"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D94E1F"/>
                </a:solidFill>
                <a:latin typeface="IRANSans"/>
                <a:cs typeface="IRANSans"/>
                <a:ea typeface="IRANSans"/>
              </a:rPr>
              <a:t>✓  </a:t>
            </a:r>
            <a:r>
              <a:rPr sz="1750" b="1">
                <a:solidFill>
                  <a:srgbClr val="1F2D38"/>
                </a:solidFill>
                <a:latin typeface="IRANSans"/>
                <a:cs typeface="IRANSans"/>
                <a:ea typeface="IRANSans"/>
              </a:rPr>
              <a:t>تازه‌واردها زودتر جا می‌افتند</a:t>
            </a:r>
          </a:p>
          <a:p>
            <a:pPr rtl="1"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5A6B77"/>
                </a:solidFill>
                <a:latin typeface="IRANSans"/>
                <a:cs typeface="IRANSans"/>
                <a:ea typeface="IRANSans"/>
              </a:rPr>
              <a:t>مسیر شش‌ماهه، چندهفته‌ای طی می‌شود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41248" y="4023360"/>
            <a:ext cx="4806543" cy="576072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pPr rtl="1"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D94E1F"/>
                </a:solidFill>
                <a:latin typeface="IRANSans"/>
                <a:cs typeface="IRANSans"/>
                <a:ea typeface="IRANSans"/>
              </a:rPr>
              <a:t>✓  </a:t>
            </a:r>
            <a:r>
              <a:rPr sz="1750" b="1">
                <a:solidFill>
                  <a:srgbClr val="1F2D38"/>
                </a:solidFill>
                <a:latin typeface="IRANSans"/>
                <a:cs typeface="IRANSans"/>
                <a:ea typeface="IRANSans"/>
              </a:rPr>
              <a:t>افراد می‌مانند</a:t>
            </a:r>
          </a:p>
          <a:p>
            <a:pPr rtl="1"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5A6B77"/>
                </a:solidFill>
                <a:latin typeface="IRANSans"/>
                <a:cs typeface="IRANSans"/>
                <a:ea typeface="IRANSans"/>
              </a:rPr>
              <a:t>آدم‌ها جایی که رشد می‌کنند را ترک نمی‌کنند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66928" y="4754880"/>
            <a:ext cx="11057839" cy="841248"/>
          </a:xfrm>
          <a:prstGeom prst="roundRect">
            <a:avLst>
              <a:gd name="adj" fmla="val 10000"/>
            </a:avLst>
          </a:prstGeom>
          <a:solidFill>
            <a:srgbClr val="1B49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11542471" y="4754880"/>
            <a:ext cx="82296" cy="841248"/>
          </a:xfrm>
          <a:prstGeom prst="rect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77824" y="4754880"/>
            <a:ext cx="10436047" cy="841248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pPr rtl="1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FF6B35"/>
                </a:solidFill>
                <a:latin typeface="IRANSans"/>
                <a:cs typeface="IRANSans"/>
                <a:ea typeface="IRANSans"/>
              </a:rPr>
              <a:t>هزینه‌اش؟  </a:t>
            </a:r>
            <a:r>
              <a:rPr sz="2000" b="0">
                <a:solidFill>
                  <a:srgbClr val="FFFFFF"/>
                </a:solidFill>
                <a:latin typeface="IRANSans"/>
                <a:cs typeface="IRANSans"/>
                <a:ea typeface="IRANSans"/>
              </a:rPr>
              <a:t>۹۰ دقیقه، هر دو هفته یک بار — یعنی حدود </a:t>
            </a:r>
            <a:r>
              <a:rPr sz="2000" b="1">
                <a:solidFill>
                  <a:srgbClr val="FF6B35"/>
                </a:solidFill>
                <a:latin typeface="IRANSans"/>
                <a:cs typeface="IRANSans"/>
                <a:ea typeface="IRANSans"/>
              </a:rPr>
              <a:t>یک درصد</a:t>
            </a:r>
            <a:r>
              <a:rPr sz="2000" b="0">
                <a:solidFill>
                  <a:srgbClr val="FFFFFF"/>
                </a:solidFill>
                <a:latin typeface="IRANSans"/>
                <a:cs typeface="IRANSans"/>
                <a:ea typeface="IRANSans"/>
              </a:rPr>
              <a:t> وقت کاری شما.</a:t>
            </a:r>
          </a:p>
        </p:txBody>
      </p:sp>
      <p:pic>
        <p:nvPicPr>
          <p:cNvPr id="39" name="Picture 38" descr="11-commit.jpg"/>
          <p:cNvPicPr>
            <a:picLocks noChangeAspect="1"/>
          </p:cNvPicPr>
          <p:nvPr/>
        </p:nvPicPr>
        <p:blipFill>
          <a:blip r:embed="rId2"/>
          <a:srcRect t="38070" b="38070"/>
          <a:stretch>
            <a:fillRect/>
          </a:stretch>
        </p:blipFill>
        <p:spPr>
          <a:xfrm>
            <a:off x="8060740" y="5705856"/>
            <a:ext cx="3564026" cy="566928"/>
          </a:xfrm>
          <a:prstGeom prst="roundRect">
            <a:avLst/>
          </a:prstGeom>
        </p:spPr>
      </p:pic>
      <p:sp>
        <p:nvSpPr>
          <p:cNvPr id="40" name="Rectangle 39"/>
          <p:cNvSpPr/>
          <p:nvPr/>
        </p:nvSpPr>
        <p:spPr>
          <a:xfrm>
            <a:off x="8060740" y="5705856"/>
            <a:ext cx="3564026" cy="566928"/>
          </a:xfrm>
          <a:prstGeom prst="rect">
            <a:avLst/>
          </a:prstGeom>
          <a:solidFill>
            <a:srgbClr val="0E2C40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060740" y="5705856"/>
            <a:ext cx="3564026" cy="566928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pPr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IRANSans"/>
                <a:cs typeface="IRANSans"/>
                <a:ea typeface="IRANSans"/>
              </a:rPr>
              <a:t>تعهد فردی</a:t>
            </a:r>
          </a:p>
        </p:txBody>
      </p:sp>
      <p:pic>
        <p:nvPicPr>
          <p:cNvPr id="42" name="Picture 41" descr="10-safe.jpg"/>
          <p:cNvPicPr>
            <a:picLocks noChangeAspect="1"/>
          </p:cNvPicPr>
          <p:nvPr/>
        </p:nvPicPr>
        <p:blipFill>
          <a:blip r:embed="rId3"/>
          <a:srcRect t="38070" b="38070"/>
          <a:stretch>
            <a:fillRect/>
          </a:stretch>
        </p:blipFill>
        <p:spPr>
          <a:xfrm>
            <a:off x="4313834" y="5705856"/>
            <a:ext cx="3564026" cy="566928"/>
          </a:xfrm>
          <a:prstGeom prst="roundRect">
            <a:avLst/>
          </a:prstGeom>
        </p:spPr>
      </p:pic>
      <p:sp>
        <p:nvSpPr>
          <p:cNvPr id="43" name="Rectangle 42"/>
          <p:cNvSpPr/>
          <p:nvPr/>
        </p:nvSpPr>
        <p:spPr>
          <a:xfrm>
            <a:off x="4313834" y="5705856"/>
            <a:ext cx="3564026" cy="566928"/>
          </a:xfrm>
          <a:prstGeom prst="rect">
            <a:avLst/>
          </a:prstGeom>
          <a:solidFill>
            <a:srgbClr val="0E2C40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313834" y="5705856"/>
            <a:ext cx="3564026" cy="566928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pPr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IRANSans"/>
                <a:cs typeface="IRANSans"/>
                <a:ea typeface="IRANSans"/>
              </a:rPr>
              <a:t>فضای امن</a:t>
            </a:r>
          </a:p>
        </p:txBody>
      </p:sp>
      <p:pic>
        <p:nvPicPr>
          <p:cNvPr id="45" name="Picture 44" descr="05-circle.jpg"/>
          <p:cNvPicPr>
            <a:picLocks noChangeAspect="1"/>
          </p:cNvPicPr>
          <p:nvPr/>
        </p:nvPicPr>
        <p:blipFill>
          <a:blip r:embed="rId4"/>
          <a:srcRect t="38070" b="38070"/>
          <a:stretch>
            <a:fillRect/>
          </a:stretch>
        </p:blipFill>
        <p:spPr>
          <a:xfrm>
            <a:off x="566927" y="5705856"/>
            <a:ext cx="3564026" cy="566928"/>
          </a:xfrm>
          <a:prstGeom prst="roundRect">
            <a:avLst/>
          </a:prstGeom>
        </p:spPr>
      </p:pic>
      <p:sp>
        <p:nvSpPr>
          <p:cNvPr id="46" name="Rectangle 45"/>
          <p:cNvSpPr/>
          <p:nvPr/>
        </p:nvSpPr>
        <p:spPr>
          <a:xfrm>
            <a:off x="566927" y="5705856"/>
            <a:ext cx="3564026" cy="566928"/>
          </a:xfrm>
          <a:prstGeom prst="rect">
            <a:avLst/>
          </a:prstGeom>
          <a:solidFill>
            <a:srgbClr val="0E2C40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66927" y="5705856"/>
            <a:ext cx="3564026" cy="566928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pPr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IRANSans"/>
                <a:cs typeface="IRANSans"/>
                <a:ea typeface="IRANSans"/>
              </a:rPr>
              <a:t>گفتگوی گروهی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66928" y="6382512"/>
            <a:ext cx="3657600" cy="274320"/>
          </a:xfrm>
          <a:prstGeom prst="rect">
            <a:avLst/>
          </a:prstGeom>
          <a:noFill/>
        </p:spPr>
        <p:txBody>
          <a:bodyPr wrap="square" lIns="36576" rIns="36576" tIns="0" bIns="0" anchor="t">
            <a:spAutoFit/>
          </a:bodyPr>
          <a:lstStyle/>
          <a:p>
            <a:pPr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5A6B77"/>
                </a:solidFill>
                <a:latin typeface="IRANSans"/>
                <a:cs typeface="IRANSans"/>
                <a:ea typeface="IRANSans"/>
              </a:rPr>
              <a:t>منتورینگ گروهی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161727" y="6382512"/>
            <a:ext cx="1463040" cy="274320"/>
          </a:xfrm>
          <a:prstGeom prst="rect">
            <a:avLst/>
          </a:prstGeom>
          <a:noFill/>
        </p:spPr>
        <p:txBody>
          <a:bodyPr wrap="square" lIns="36576" rIns="36576" tIns="0" bIns="0" anchor="t">
            <a:spAutoFit/>
          </a:bodyPr>
          <a:lstStyle/>
          <a:p>
            <a:pPr rt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5A6B77"/>
                </a:solidFill>
                <a:latin typeface="IRANSans"/>
                <a:cs typeface="IRANSans"/>
                <a:ea typeface="IRANSans"/>
              </a:rPr>
              <a:t>۲۷ / ۳۰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5-start.jpg"/>
          <p:cNvPicPr>
            <a:picLocks noChangeAspect="1"/>
          </p:cNvPicPr>
          <p:nvPr/>
        </p:nvPicPr>
        <p:blipFill>
          <a:blip r:embed="rId2"/>
          <a:srcRect t="7811" b="781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0E2C40">
                  <a:alpha val="10000"/>
                </a:srgbClr>
              </a:gs>
              <a:gs pos="100000">
                <a:srgbClr val="0E2C40">
                  <a:alpha val="94000"/>
                </a:srgbClr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2C40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864047" y="1993392"/>
            <a:ext cx="5760720" cy="566928"/>
          </a:xfrm>
          <a:prstGeom prst="rect">
            <a:avLst/>
          </a:prstGeom>
          <a:noFill/>
        </p:spPr>
        <p:txBody>
          <a:bodyPr wrap="square" lIns="36576" rIns="36576" tIns="0" bIns="0" anchor="t">
            <a:spAutoFit/>
          </a:bodyPr>
          <a:lstStyle/>
          <a:p>
            <a:pPr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FF6B35"/>
                </a:solidFill>
                <a:latin typeface="IRANSans"/>
                <a:cs typeface="IRANSans"/>
                <a:ea typeface="IRANSans"/>
              </a:rPr>
              <a:t>بخش ۵</a:t>
            </a:r>
          </a:p>
        </p:txBody>
      </p:sp>
      <p:sp>
        <p:nvSpPr>
          <p:cNvPr id="6" name="Rectangle 5"/>
          <p:cNvSpPr/>
          <p:nvPr/>
        </p:nvSpPr>
        <p:spPr>
          <a:xfrm>
            <a:off x="10436047" y="2615184"/>
            <a:ext cx="1188720" cy="57150"/>
          </a:xfrm>
          <a:prstGeom prst="rect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864047" y="2852928"/>
            <a:ext cx="5760720" cy="1737360"/>
          </a:xfrm>
          <a:prstGeom prst="rect">
            <a:avLst/>
          </a:prstGeom>
          <a:noFill/>
        </p:spPr>
        <p:txBody>
          <a:bodyPr wrap="square" lIns="36576" rIns="36576" tIns="0" bIns="0" anchor="t">
            <a:spAutoFit/>
          </a:bodyPr>
          <a:lstStyle/>
          <a:p>
            <a:pPr rtl="1" algn="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4400" b="1">
                <a:solidFill>
                  <a:srgbClr val="FFFFFF"/>
                </a:solidFill>
                <a:latin typeface="IRANSans"/>
                <a:cs typeface="IRANSans"/>
                <a:ea typeface="IRANSans"/>
              </a:rPr>
              <a:t>حالا خودمان</a:t>
            </a:r>
          </a:p>
          <a:p>
            <a:pPr rtl="1" algn="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4400" b="1">
                <a:solidFill>
                  <a:srgbClr val="FFFFFF"/>
                </a:solidFill>
                <a:latin typeface="IRANSans"/>
                <a:cs typeface="IRANSans"/>
                <a:ea typeface="IRANSans"/>
              </a:rPr>
              <a:t>انجامش می‌دهیم</a:t>
            </a:r>
          </a:p>
          <a:p>
            <a:pPr rtl="1" algn="r">
              <a:lnSpc>
                <a:spcPct val="130000"/>
              </a:lnSpc>
              <a:spcBef>
                <a:spcPts val="1400"/>
              </a:spcBef>
              <a:spcAft>
                <a:spcPts val="0"/>
              </a:spcAft>
            </a:pPr>
            <a:r>
              <a:rPr sz="1900" b="0">
                <a:solidFill>
                  <a:srgbClr val="ECF3F7"/>
                </a:solidFill>
                <a:latin typeface="IRANSans"/>
                <a:cs typeface="IRANSans"/>
                <a:ea typeface="IRANSans"/>
              </a:rPr>
              <a:t>یک دور واقعی، همین امروز، ۳۰ دقیقه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756087" y="6035040"/>
            <a:ext cx="868680" cy="292608"/>
          </a:xfrm>
          <a:prstGeom prst="roundRect">
            <a:avLst>
              <a:gd name="adj" fmla="val 44000"/>
            </a:avLst>
          </a:prstGeom>
          <a:solidFill>
            <a:srgbClr val="FFFFFF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756087" y="6035040"/>
            <a:ext cx="868680" cy="292608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pPr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ECF3F7"/>
                </a:solidFill>
                <a:latin typeface="IRANSans"/>
                <a:cs typeface="IRANSans"/>
                <a:ea typeface="IRANSans"/>
              </a:rPr>
              <a:t>چرا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795967" y="6035040"/>
            <a:ext cx="868680" cy="292608"/>
          </a:xfrm>
          <a:prstGeom prst="roundRect">
            <a:avLst>
              <a:gd name="adj" fmla="val 44000"/>
            </a:avLst>
          </a:prstGeom>
          <a:solidFill>
            <a:srgbClr val="FFFFFF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795967" y="6035040"/>
            <a:ext cx="868680" cy="292608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pPr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ECF3F7"/>
                </a:solidFill>
                <a:latin typeface="IRANSans"/>
                <a:cs typeface="IRANSans"/>
                <a:ea typeface="IRANSans"/>
              </a:rPr>
              <a:t>چیست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835847" y="6035040"/>
            <a:ext cx="868680" cy="292608"/>
          </a:xfrm>
          <a:prstGeom prst="roundRect">
            <a:avLst>
              <a:gd name="adj" fmla="val 44000"/>
            </a:avLst>
          </a:prstGeom>
          <a:solidFill>
            <a:srgbClr val="FFFFFF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835847" y="6035040"/>
            <a:ext cx="868680" cy="292608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pPr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ECF3F7"/>
                </a:solidFill>
                <a:latin typeface="IRANSans"/>
                <a:cs typeface="IRANSans"/>
                <a:ea typeface="IRANSans"/>
              </a:rPr>
              <a:t>چطور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875727" y="6035040"/>
            <a:ext cx="868680" cy="292608"/>
          </a:xfrm>
          <a:prstGeom prst="roundRect">
            <a:avLst>
              <a:gd name="adj" fmla="val 44000"/>
            </a:avLst>
          </a:prstGeom>
          <a:solidFill>
            <a:srgbClr val="FFFFFF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875727" y="6035040"/>
            <a:ext cx="868680" cy="292608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pPr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ECF3F7"/>
                </a:solidFill>
                <a:latin typeface="IRANSans"/>
                <a:cs typeface="IRANSans"/>
                <a:ea typeface="IRANSans"/>
              </a:rPr>
              <a:t>چه می‌شود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915607" y="6035040"/>
            <a:ext cx="868680" cy="292608"/>
          </a:xfrm>
          <a:prstGeom prst="roundRect">
            <a:avLst>
              <a:gd name="adj" fmla="val 44000"/>
            </a:avLst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915607" y="6035040"/>
            <a:ext cx="868680" cy="292608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pPr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FFFFFF"/>
                </a:solidFill>
                <a:latin typeface="IRANSans"/>
                <a:cs typeface="IRANSans"/>
                <a:ea typeface="IRANSans"/>
              </a:rPr>
              <a:t>شروع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0E2C40"/>
              </a:gs>
              <a:gs pos="100000">
                <a:srgbClr val="1B4965"/>
              </a:gs>
            </a:gsLst>
            <a:lin scaled="0" ang="27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75488"/>
            <a:ext cx="11057839" cy="347472"/>
          </a:xfrm>
          <a:prstGeom prst="rect">
            <a:avLst/>
          </a:prstGeom>
          <a:noFill/>
        </p:spPr>
        <p:txBody>
          <a:bodyPr wrap="square" lIns="36576" rIns="36576" tIns="0" bIns="0" anchor="t">
            <a:spAutoFit/>
          </a:bodyPr>
          <a:lstStyle/>
          <a:p>
            <a:pPr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>
                <a:solidFill>
                  <a:srgbClr val="FF6B35"/>
                </a:solidFill>
                <a:latin typeface="IRANSans"/>
                <a:cs typeface="IRANSans"/>
                <a:ea typeface="IRANSans"/>
              </a:rPr>
              <a:t>تجربه زنده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859536"/>
            <a:ext cx="11057839" cy="603504"/>
          </a:xfrm>
          <a:prstGeom prst="rect">
            <a:avLst/>
          </a:prstGeom>
          <a:noFill/>
        </p:spPr>
        <p:txBody>
          <a:bodyPr wrap="square" lIns="36576" rIns="36576" tIns="0" bIns="0" anchor="t">
            <a:spAutoFit/>
          </a:bodyPr>
          <a:lstStyle/>
          <a:p>
            <a:pPr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FFFFFF"/>
                </a:solidFill>
                <a:latin typeface="IRANSans"/>
                <a:cs typeface="IRANSans"/>
                <a:ea typeface="IRANSans"/>
              </a:rPr>
              <a:t>یک دور کوتاه — ۳۰ دقیقه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052331" y="1773936"/>
            <a:ext cx="2572435" cy="1828800"/>
          </a:xfrm>
          <a:prstGeom prst="roundRect">
            <a:avLst>
              <a:gd name="adj" fmla="val 9000"/>
            </a:avLst>
          </a:prstGeom>
          <a:solidFill>
            <a:srgbClr val="FFFFFF">
              <a:alpha val="10000"/>
            </a:srgbClr>
          </a:solidFill>
          <a:ln w="12700">
            <a:solidFill>
              <a:srgbClr val="62B6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9744189" y="1975104"/>
            <a:ext cx="1188720" cy="438912"/>
          </a:xfrm>
          <a:prstGeom prst="roundRect">
            <a:avLst>
              <a:gd name="adj" fmla="val 26000"/>
            </a:avLst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IRANSans"/>
                <a:cs typeface="IRANSans"/>
                <a:ea typeface="IRANSans"/>
              </a:rPr>
              <a:t>۵ دقیقه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98635" y="2542032"/>
            <a:ext cx="2279827" cy="914400"/>
          </a:xfrm>
          <a:prstGeom prst="rect">
            <a:avLst/>
          </a:prstGeom>
          <a:noFill/>
        </p:spPr>
        <p:txBody>
          <a:bodyPr wrap="square" lIns="36576" rIns="36576" tIns="0" bIns="0" anchor="t">
            <a:spAutoFit/>
          </a:bodyPr>
          <a:lstStyle/>
          <a:p>
            <a:pPr rtl="1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50" b="1">
                <a:solidFill>
                  <a:srgbClr val="FFFFFF"/>
                </a:solidFill>
                <a:latin typeface="IRANSans"/>
                <a:cs typeface="IRANSans"/>
                <a:ea typeface="IRANSans"/>
              </a:rPr>
              <a:t>یک داوطلب</a:t>
            </a:r>
          </a:p>
          <a:p>
            <a:pPr rtl="1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ECF3F7"/>
                </a:solidFill>
                <a:latin typeface="IRANSans"/>
                <a:cs typeface="IRANSans"/>
                <a:ea typeface="IRANSans"/>
              </a:rPr>
              <a:t>چالشش را در سه جمله می‌گوید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23863" y="1773936"/>
            <a:ext cx="2572435" cy="1828800"/>
          </a:xfrm>
          <a:prstGeom prst="roundRect">
            <a:avLst>
              <a:gd name="adj" fmla="val 9000"/>
            </a:avLst>
          </a:prstGeom>
          <a:solidFill>
            <a:srgbClr val="FFFFFF">
              <a:alpha val="10000"/>
            </a:srgbClr>
          </a:solidFill>
          <a:ln w="12700">
            <a:solidFill>
              <a:srgbClr val="62B6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915721" y="1975104"/>
            <a:ext cx="1188720" cy="438912"/>
          </a:xfrm>
          <a:prstGeom prst="roundRect">
            <a:avLst>
              <a:gd name="adj" fmla="val 26000"/>
            </a:avLst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IRANSans"/>
                <a:cs typeface="IRANSans"/>
                <a:ea typeface="IRANSans"/>
              </a:rPr>
              <a:t>۱۰ دقیقه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70167" y="2542032"/>
            <a:ext cx="2279827" cy="914400"/>
          </a:xfrm>
          <a:prstGeom prst="rect">
            <a:avLst/>
          </a:prstGeom>
          <a:noFill/>
        </p:spPr>
        <p:txBody>
          <a:bodyPr wrap="square" lIns="36576" rIns="36576" tIns="0" bIns="0" anchor="t">
            <a:spAutoFit/>
          </a:bodyPr>
          <a:lstStyle/>
          <a:p>
            <a:pPr rtl="1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50" b="1">
                <a:solidFill>
                  <a:srgbClr val="FFFFFF"/>
                </a:solidFill>
                <a:latin typeface="IRANSans"/>
                <a:cs typeface="IRANSans"/>
                <a:ea typeface="IRANSans"/>
              </a:rPr>
              <a:t>فقط سؤال</a:t>
            </a:r>
          </a:p>
          <a:p>
            <a:pPr rtl="1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ECF3F7"/>
                </a:solidFill>
                <a:latin typeface="IRANSans"/>
                <a:cs typeface="IRANSans"/>
                <a:ea typeface="IRANSans"/>
              </a:rPr>
              <a:t>هر کس یک سؤال — راه‌حل ممنوع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95395" y="1773936"/>
            <a:ext cx="2572435" cy="1828800"/>
          </a:xfrm>
          <a:prstGeom prst="roundRect">
            <a:avLst>
              <a:gd name="adj" fmla="val 9000"/>
            </a:avLst>
          </a:prstGeom>
          <a:solidFill>
            <a:srgbClr val="FFFFFF">
              <a:alpha val="10000"/>
            </a:srgbClr>
          </a:solidFill>
          <a:ln w="12700">
            <a:solidFill>
              <a:srgbClr val="62B6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087253" y="1975104"/>
            <a:ext cx="1188720" cy="438912"/>
          </a:xfrm>
          <a:prstGeom prst="roundRect">
            <a:avLst>
              <a:gd name="adj" fmla="val 26000"/>
            </a:avLst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IRANSans"/>
                <a:cs typeface="IRANSans"/>
                <a:ea typeface="IRANSans"/>
              </a:rPr>
              <a:t>۱۰ دقیقه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41699" y="2542032"/>
            <a:ext cx="2279827" cy="914400"/>
          </a:xfrm>
          <a:prstGeom prst="rect">
            <a:avLst/>
          </a:prstGeom>
          <a:noFill/>
        </p:spPr>
        <p:txBody>
          <a:bodyPr wrap="square" lIns="36576" rIns="36576" tIns="0" bIns="0" anchor="t">
            <a:spAutoFit/>
          </a:bodyPr>
          <a:lstStyle/>
          <a:p>
            <a:pPr rtl="1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50" b="1">
                <a:solidFill>
                  <a:srgbClr val="FFFFFF"/>
                </a:solidFill>
                <a:latin typeface="IRANSans"/>
                <a:cs typeface="IRANSans"/>
                <a:ea typeface="IRANSans"/>
              </a:rPr>
              <a:t>تجربه مشابه</a:t>
            </a:r>
          </a:p>
          <a:p>
            <a:pPr rtl="1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ECF3F7"/>
                </a:solidFill>
                <a:latin typeface="IRANSans"/>
                <a:cs typeface="IRANSans"/>
                <a:ea typeface="IRANSans"/>
              </a:rPr>
              <a:t>«من هم یک بار…» در یک دقیقه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1773936"/>
            <a:ext cx="2572435" cy="1828800"/>
          </a:xfrm>
          <a:prstGeom prst="roundRect">
            <a:avLst>
              <a:gd name="adj" fmla="val 9000"/>
            </a:avLst>
          </a:prstGeom>
          <a:solidFill>
            <a:srgbClr val="FFFFFF">
              <a:alpha val="10000"/>
            </a:srgbClr>
          </a:solidFill>
          <a:ln w="12700">
            <a:solidFill>
              <a:srgbClr val="62B6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1258785" y="1975104"/>
            <a:ext cx="1188720" cy="438912"/>
          </a:xfrm>
          <a:prstGeom prst="roundRect">
            <a:avLst>
              <a:gd name="adj" fmla="val 26000"/>
            </a:avLst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IRANSans"/>
                <a:cs typeface="IRANSans"/>
                <a:ea typeface="IRANSans"/>
              </a:rPr>
              <a:t>۵ دقیقه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3232" y="2542032"/>
            <a:ext cx="2279827" cy="914400"/>
          </a:xfrm>
          <a:prstGeom prst="rect">
            <a:avLst/>
          </a:prstGeom>
          <a:noFill/>
        </p:spPr>
        <p:txBody>
          <a:bodyPr wrap="square" lIns="36576" rIns="36576" tIns="0" bIns="0" anchor="t">
            <a:spAutoFit/>
          </a:bodyPr>
          <a:lstStyle/>
          <a:p>
            <a:pPr rtl="1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50" b="1">
                <a:solidFill>
                  <a:srgbClr val="FFFFFF"/>
                </a:solidFill>
                <a:latin typeface="IRANSans"/>
                <a:cs typeface="IRANSans"/>
                <a:ea typeface="IRANSans"/>
              </a:rPr>
              <a:t>یک تصمیم</a:t>
            </a:r>
          </a:p>
          <a:p>
            <a:pPr rtl="1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ECF3F7"/>
                </a:solidFill>
                <a:latin typeface="IRANSans"/>
                <a:cs typeface="IRANSans"/>
                <a:ea typeface="IRANSans"/>
              </a:rPr>
              <a:t>داوطلب می‌گوید چه می‌کند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6928" y="3913632"/>
            <a:ext cx="11057839" cy="768096"/>
          </a:xfrm>
          <a:prstGeom prst="roundRect">
            <a:avLst>
              <a:gd name="adj" fmla="val 11000"/>
            </a:avLst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66928" y="3913632"/>
            <a:ext cx="11057839" cy="768096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pPr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50" b="1">
                <a:solidFill>
                  <a:srgbClr val="FFFFFF"/>
                </a:solidFill>
                <a:latin typeface="IRANSans"/>
                <a:cs typeface="IRANSans"/>
                <a:ea typeface="IRANSans"/>
              </a:rPr>
              <a:t>تنها قاعده امروز:  </a:t>
            </a:r>
            <a:r>
              <a:rPr sz="2000" b="1">
                <a:solidFill>
                  <a:srgbClr val="FFFFFF"/>
                </a:solidFill>
                <a:latin typeface="IRANSans"/>
                <a:cs typeface="IRANSans"/>
                <a:ea typeface="IRANSans"/>
              </a:rPr>
              <a:t>در ده دقیقه دوم، هیچ‌کس حق ندارد جمله‌ای بگوید که علامت سؤال ندارد.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919472"/>
            <a:ext cx="11057839" cy="1298448"/>
          </a:xfrm>
          <a:prstGeom prst="roundRect">
            <a:avLst>
              <a:gd name="adj" fmla="val 9000"/>
            </a:avLst>
          </a:prstGeom>
          <a:solidFill>
            <a:srgbClr val="FFFFFF">
              <a:alpha val="10000"/>
            </a:srgbClr>
          </a:solidFill>
          <a:ln w="12700">
            <a:solidFill>
              <a:srgbClr val="62B6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32688" y="4919472"/>
            <a:ext cx="10326319" cy="1298448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pPr rtl="1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300" b="1">
                <a:solidFill>
                  <a:srgbClr val="FF6B35"/>
                </a:solidFill>
                <a:latin typeface="IRANSans"/>
                <a:cs typeface="IRANSans"/>
                <a:ea typeface="IRANSans"/>
              </a:rPr>
              <a:t>چه کسی چالشش را می‌آورد؟</a:t>
            </a:r>
          </a:p>
          <a:p>
            <a:pPr rtl="1"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ECF3F7"/>
                </a:solidFill>
                <a:latin typeface="IRANSans"/>
                <a:cs typeface="IRANSans"/>
                <a:ea typeface="IRANSans"/>
              </a:rPr>
              <a:t>لازم نیست مسئله بزرگی باشد — همان چیزی که اول جلسه در ذهن نگه داشتید کافی است.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2-road.jpg"/>
          <p:cNvPicPr>
            <a:picLocks noChangeAspect="1"/>
          </p:cNvPicPr>
          <p:nvPr/>
        </p:nvPicPr>
        <p:blipFill>
          <a:blip r:embed="rId2"/>
          <a:srcRect t="7811" b="781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0E2C40">
                  <a:alpha val="88000"/>
                </a:srgbClr>
              </a:gs>
              <a:gs pos="100000">
                <a:srgbClr val="D94E1F">
                  <a:alpha val="34000"/>
                </a:srgbClr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2C40">
              <a:alpha val="2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512064"/>
            <a:ext cx="11057839" cy="365760"/>
          </a:xfrm>
          <a:prstGeom prst="rect">
            <a:avLst/>
          </a:prstGeom>
          <a:noFill/>
        </p:spPr>
        <p:txBody>
          <a:bodyPr wrap="square" lIns="36576" rIns="36576" tIns="0" bIns="0" anchor="t">
            <a:spAutoFit/>
          </a:bodyPr>
          <a:lstStyle/>
          <a:p>
            <a:pPr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6B35"/>
                </a:solidFill>
                <a:latin typeface="IRANSans"/>
                <a:cs typeface="IRANSans"/>
                <a:ea typeface="IRANSans"/>
              </a:rPr>
              <a:t>قدم بعدی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914400"/>
            <a:ext cx="11057839" cy="694944"/>
          </a:xfrm>
          <a:prstGeom prst="rect">
            <a:avLst/>
          </a:prstGeom>
          <a:noFill/>
        </p:spPr>
        <p:txBody>
          <a:bodyPr wrap="square" lIns="36576" rIns="36576" tIns="0" bIns="0" anchor="t">
            <a:spAutoFit/>
          </a:bodyPr>
          <a:lstStyle/>
          <a:p>
            <a:pPr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800" b="1">
                <a:solidFill>
                  <a:srgbClr val="FFFFFF"/>
                </a:solidFill>
                <a:latin typeface="IRANSans"/>
                <a:cs typeface="IRANSans"/>
                <a:ea typeface="IRANSans"/>
              </a:rPr>
              <a:t>چه کسی می‌خواهد نفر اول باشد؟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54480" y="1810512"/>
            <a:ext cx="9082735" cy="1371600"/>
          </a:xfrm>
          <a:prstGeom prst="rect">
            <a:avLst/>
          </a:prstGeom>
          <a:noFill/>
        </p:spPr>
        <p:txBody>
          <a:bodyPr wrap="square" lIns="36576" rIns="36576" tIns="0" bIns="0" anchor="t">
            <a:spAutoFit/>
          </a:bodyPr>
          <a:lstStyle/>
          <a:p>
            <a:pPr rtl="1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2100" b="0">
                <a:solidFill>
                  <a:srgbClr val="FFFFFF"/>
                </a:solidFill>
                <a:latin typeface="IRANSans"/>
                <a:cs typeface="IRANSans"/>
                <a:ea typeface="IRANSans"/>
              </a:rPr>
              <a:t>ما آدم‌های باتجربه‌ای را استخدام کردیم و کنار هم نشاندیم.</a:t>
            </a:r>
          </a:p>
          <a:p>
            <a:pPr rtl="1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2100" b="0">
                <a:solidFill>
                  <a:srgbClr val="FFFFFF"/>
                </a:solidFill>
                <a:latin typeface="IRANSans"/>
                <a:cs typeface="IRANSans"/>
                <a:ea typeface="IRANSans"/>
              </a:rPr>
              <a:t>فقط یادمان رفت فرصتی بسازیم که با هم حرف بزنند.</a:t>
            </a:r>
          </a:p>
          <a:p>
            <a:pPr rtl="1" algn="ctr">
              <a:lnSpc>
                <a:spcPct val="130000"/>
              </a:lnSpc>
              <a:spcBef>
                <a:spcPts val="800"/>
              </a:spcBef>
              <a:spcAft>
                <a:spcPts val="0"/>
              </a:spcAft>
            </a:pPr>
            <a:r>
              <a:rPr sz="2500" b="1">
                <a:solidFill>
                  <a:srgbClr val="FF6B35"/>
                </a:solidFill>
                <a:latin typeface="IRANSans"/>
                <a:cs typeface="IRANSans"/>
                <a:ea typeface="IRANSans"/>
              </a:rPr>
              <a:t>این طرح، همان فرصت است.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574133" y="3566160"/>
            <a:ext cx="2050633" cy="1060704"/>
          </a:xfrm>
          <a:prstGeom prst="roundRect">
            <a:avLst>
              <a:gd name="adj" fmla="val 10000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83861" y="3566160"/>
            <a:ext cx="1831177" cy="1060704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pPr rtl="1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FF6B35"/>
                </a:solidFill>
                <a:latin typeface="IRANSans"/>
                <a:cs typeface="IRANSans"/>
                <a:ea typeface="IRANSans"/>
              </a:rPr>
              <a:t>اولین جلسه</a:t>
            </a:r>
          </a:p>
          <a:p>
            <a:pPr rtl="1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IRANSans"/>
                <a:cs typeface="IRANSans"/>
                <a:ea typeface="IRANSans"/>
              </a:rPr>
              <a:t>[تاریخ]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22332" y="3566160"/>
            <a:ext cx="2050633" cy="1060704"/>
          </a:xfrm>
          <a:prstGeom prst="roundRect">
            <a:avLst>
              <a:gd name="adj" fmla="val 10000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432060" y="3566160"/>
            <a:ext cx="1831177" cy="1060704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pPr rtl="1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FF6B35"/>
                </a:solidFill>
                <a:latin typeface="IRANSans"/>
                <a:cs typeface="IRANSans"/>
                <a:ea typeface="IRANSans"/>
              </a:rPr>
              <a:t>ساعت</a:t>
            </a:r>
          </a:p>
          <a:p>
            <a:pPr rtl="1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IRANSans"/>
                <a:cs typeface="IRANSans"/>
                <a:ea typeface="IRANSans"/>
              </a:rPr>
              <a:t>[ساعت]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70530" y="3566160"/>
            <a:ext cx="2050633" cy="1060704"/>
          </a:xfrm>
          <a:prstGeom prst="roundRect">
            <a:avLst>
              <a:gd name="adj" fmla="val 10000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80258" y="3566160"/>
            <a:ext cx="1831177" cy="1060704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pPr rtl="1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FF6B35"/>
                </a:solidFill>
                <a:latin typeface="IRANSans"/>
                <a:cs typeface="IRANSans"/>
                <a:ea typeface="IRANSans"/>
              </a:rPr>
              <a:t>مکان</a:t>
            </a:r>
          </a:p>
          <a:p>
            <a:pPr rtl="1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IRANSans"/>
                <a:cs typeface="IRANSans"/>
                <a:ea typeface="IRANSans"/>
              </a:rPr>
              <a:t>[مکان]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818729" y="3566160"/>
            <a:ext cx="2050633" cy="1060704"/>
          </a:xfrm>
          <a:prstGeom prst="roundRect">
            <a:avLst>
              <a:gd name="adj" fmla="val 10000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928457" y="3566160"/>
            <a:ext cx="1831177" cy="1060704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pPr rtl="1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FF6B35"/>
                </a:solidFill>
                <a:latin typeface="IRANSans"/>
                <a:cs typeface="IRANSans"/>
                <a:ea typeface="IRANSans"/>
              </a:rPr>
              <a:t>ظرفیت</a:t>
            </a:r>
          </a:p>
          <a:p>
            <a:pPr rtl="1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IRANSans"/>
                <a:cs typeface="IRANSans"/>
                <a:ea typeface="IRANSans"/>
              </a:rPr>
              <a:t>۱۲ نفر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66160"/>
            <a:ext cx="2050633" cy="1060704"/>
          </a:xfrm>
          <a:prstGeom prst="roundRect">
            <a:avLst>
              <a:gd name="adj" fmla="val 10000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76656" y="3566160"/>
            <a:ext cx="1831177" cy="1060704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pPr rtl="1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FF6B35"/>
                </a:solidFill>
                <a:latin typeface="IRANSans"/>
                <a:cs typeface="IRANSans"/>
                <a:ea typeface="IRANSans"/>
              </a:rPr>
              <a:t>تماس</a:t>
            </a:r>
          </a:p>
          <a:p>
            <a:pPr rtl="1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IRANSans"/>
                <a:cs typeface="IRANSans"/>
                <a:ea typeface="IRANSans"/>
              </a:rPr>
              <a:t>[داخلی]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724247" y="4956048"/>
            <a:ext cx="2743200" cy="31750"/>
          </a:xfrm>
          <a:prstGeom prst="rect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6928" y="5175504"/>
            <a:ext cx="11057839" cy="1005840"/>
          </a:xfrm>
          <a:prstGeom prst="rect">
            <a:avLst/>
          </a:prstGeom>
          <a:noFill/>
        </p:spPr>
        <p:txBody>
          <a:bodyPr wrap="square" lIns="36576" rIns="36576" tIns="0" bIns="0" anchor="t">
            <a:spAutoFit/>
          </a:bodyPr>
          <a:lstStyle/>
          <a:p>
            <a:pPr rtl="1"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2300" b="1">
                <a:solidFill>
                  <a:srgbClr val="FFFFFF"/>
                </a:solidFill>
                <a:latin typeface="IRANSans"/>
                <a:cs typeface="IRANSans"/>
                <a:ea typeface="IRANSans"/>
              </a:rPr>
              <a:t>برگه ثبت‌نام همین حالا دست به دست می‌شود.</a:t>
            </a:r>
          </a:p>
          <a:p>
            <a:pPr rtl="1"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FF6B35"/>
                </a:solidFill>
                <a:latin typeface="IRANSans"/>
                <a:cs typeface="IRANSans"/>
                <a:ea typeface="IRANSans"/>
              </a:rPr>
              <a:t>بهترین زمان برای شروع، الان است.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6928" y="6272784"/>
            <a:ext cx="11057839" cy="365760"/>
          </a:xfrm>
          <a:prstGeom prst="rect">
            <a:avLst/>
          </a:prstGeom>
          <a:noFill/>
        </p:spPr>
        <p:txBody>
          <a:bodyPr wrap="square" lIns="36576" rIns="36576" tIns="0" bIns="0" anchor="t">
            <a:spAutoFit/>
          </a:bodyPr>
          <a:lstStyle/>
          <a:p>
            <a:pPr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IRANSans"/>
                <a:cs typeface="IRANSans"/>
                <a:ea typeface="IRANSans"/>
              </a:rPr>
              <a:t>وحید مجیدی</a:t>
            </a:r>
            <a:r>
              <a:rPr sz="1400" b="0">
                <a:solidFill>
                  <a:srgbClr val="FF6B35"/>
                </a:solidFill>
                <a:latin typeface="IRANSans"/>
                <a:cs typeface="IRANSans"/>
                <a:ea typeface="IRANSans"/>
              </a:rPr>
              <a:t>     |     </a:t>
            </a:r>
            <a:r>
              <a:rPr sz="1400" b="1">
                <a:solidFill>
                  <a:srgbClr val="FF6B35"/>
                </a:solidFill>
                <a:latin typeface="IRANSans"/>
                <a:cs typeface="IRANSans"/>
                <a:ea typeface="IRANSans"/>
              </a:rPr>
              <a:t>www.coachroom.ir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